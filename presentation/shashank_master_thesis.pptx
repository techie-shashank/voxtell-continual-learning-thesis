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4"/>
  </p:sldMasterIdLst>
  <p:notesMasterIdLst>
    <p:notesMasterId r:id="rId44"/>
  </p:notesMasterIdLst>
  <p:handoutMasterIdLst>
    <p:handoutMasterId r:id="rId45"/>
  </p:handoutMasterIdLst>
  <p:sldIdLst>
    <p:sldId id="386" r:id="rId5"/>
    <p:sldId id="453" r:id="rId6"/>
    <p:sldId id="396" r:id="rId7"/>
    <p:sldId id="463" r:id="rId8"/>
    <p:sldId id="470" r:id="rId9"/>
    <p:sldId id="479" r:id="rId10"/>
    <p:sldId id="481" r:id="rId11"/>
    <p:sldId id="474" r:id="rId12"/>
    <p:sldId id="465" r:id="rId13"/>
    <p:sldId id="467" r:id="rId14"/>
    <p:sldId id="478" r:id="rId15"/>
    <p:sldId id="477" r:id="rId16"/>
    <p:sldId id="482" r:id="rId17"/>
    <p:sldId id="476" r:id="rId18"/>
    <p:sldId id="483" r:id="rId19"/>
    <p:sldId id="498" r:id="rId20"/>
    <p:sldId id="499" r:id="rId21"/>
    <p:sldId id="500" r:id="rId22"/>
    <p:sldId id="501" r:id="rId23"/>
    <p:sldId id="502" r:id="rId24"/>
    <p:sldId id="503" r:id="rId25"/>
    <p:sldId id="504" r:id="rId26"/>
    <p:sldId id="488" r:id="rId27"/>
    <p:sldId id="505" r:id="rId28"/>
    <p:sldId id="506" r:id="rId29"/>
    <p:sldId id="455" r:id="rId30"/>
    <p:sldId id="484" r:id="rId31"/>
    <p:sldId id="497" r:id="rId32"/>
    <p:sldId id="486" r:id="rId33"/>
    <p:sldId id="495" r:id="rId34"/>
    <p:sldId id="494" r:id="rId35"/>
    <p:sldId id="487" r:id="rId36"/>
    <p:sldId id="491" r:id="rId37"/>
    <p:sldId id="492" r:id="rId38"/>
    <p:sldId id="493" r:id="rId39"/>
    <p:sldId id="485" r:id="rId40"/>
    <p:sldId id="496" r:id="rId41"/>
    <p:sldId id="489" r:id="rId42"/>
    <p:sldId id="490" r:id="rId4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48987AB-810C-4102-9472-B430FD9CEE17}">
          <p14:sldIdLst>
            <p14:sldId id="386"/>
            <p14:sldId id="453"/>
          </p14:sldIdLst>
        </p14:section>
        <p14:section name="Introduction" id="{696BFF32-1C56-4F23-BE1A-01F82A680BA6}">
          <p14:sldIdLst>
            <p14:sldId id="396"/>
            <p14:sldId id="463"/>
            <p14:sldId id="470"/>
          </p14:sldIdLst>
        </p14:section>
        <p14:section name="Related Work" id="{EE67CFAA-DA8E-4573-9955-88D5590B361F}">
          <p14:sldIdLst>
            <p14:sldId id="479"/>
            <p14:sldId id="481"/>
            <p14:sldId id="474"/>
            <p14:sldId id="465"/>
          </p14:sldIdLst>
        </p14:section>
        <p14:section name="Methodology" id="{71B6A861-C11E-40EA-9FDF-2CA9B6BF88C2}">
          <p14:sldIdLst>
            <p14:sldId id="467"/>
            <p14:sldId id="478"/>
            <p14:sldId id="477"/>
          </p14:sldIdLst>
        </p14:section>
        <p14:section name="Experimental Evaluation" id="{A68180C7-72AD-423B-961E-FAF329576A5B}">
          <p14:sldIdLst>
            <p14:sldId id="482"/>
            <p14:sldId id="476"/>
            <p14:sldId id="483"/>
          </p14:sldIdLst>
        </p14:section>
        <p14:section name="Results" id="{6DE7664E-8BA3-4EB4-8E9D-E87D589ED3CA}">
          <p14:sldIdLst>
            <p14:sldId id="498"/>
            <p14:sldId id="499"/>
            <p14:sldId id="500"/>
            <p14:sldId id="501"/>
            <p14:sldId id="502"/>
            <p14:sldId id="503"/>
            <p14:sldId id="504"/>
            <p14:sldId id="488"/>
            <p14:sldId id="505"/>
            <p14:sldId id="506"/>
            <p14:sldId id="455"/>
          </p14:sldIdLst>
        </p14:section>
        <p14:section name="Appendix" id="{C921697E-B7FA-4EFC-B0A9-04907F500E24}">
          <p14:sldIdLst>
            <p14:sldId id="484"/>
            <p14:sldId id="497"/>
            <p14:sldId id="486"/>
            <p14:sldId id="495"/>
            <p14:sldId id="494"/>
            <p14:sldId id="487"/>
            <p14:sldId id="491"/>
            <p14:sldId id="492"/>
            <p14:sldId id="493"/>
            <p14:sldId id="485"/>
            <p14:sldId id="496"/>
            <p14:sldId id="489"/>
            <p14:sldId id="49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1E42"/>
    <a:srgbClr val="595959"/>
    <a:srgbClr val="ED7D31"/>
    <a:srgbClr val="4472C4"/>
    <a:srgbClr val="FFBDA3"/>
    <a:srgbClr val="FFA3A3"/>
    <a:srgbClr val="2F586E"/>
    <a:srgbClr val="04316A"/>
    <a:srgbClr val="8C9F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2373" autoAdjust="0"/>
  </p:normalViewPr>
  <p:slideViewPr>
    <p:cSldViewPr snapToGrid="0" showGuides="1">
      <p:cViewPr varScale="1">
        <p:scale>
          <a:sx n="111" d="100"/>
          <a:sy n="111" d="100"/>
        </p:scale>
        <p:origin x="594" y="108"/>
      </p:cViewPr>
      <p:guideLst/>
    </p:cSldViewPr>
  </p:slideViewPr>
  <p:outlineViewPr>
    <p:cViewPr>
      <p:scale>
        <a:sx n="33" d="100"/>
        <a:sy n="33" d="100"/>
      </p:scale>
      <p:origin x="0" y="-2784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 snapToGrid="0" showGuides="1">
      <p:cViewPr varScale="1">
        <p:scale>
          <a:sx n="80" d="100"/>
          <a:sy n="80" d="100"/>
        </p:scale>
        <p:origin x="391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shank verma" userId="62a6868b0fd06ef7" providerId="LiveId" clId="{885EAEA9-BCD2-41BA-A143-B717D3634ACA}"/>
    <pc:docChg chg="undo redo custSel addSld delSld modSld sldOrd modMainMaster addSection modSection">
      <pc:chgData name="Shashank verma" userId="62a6868b0fd06ef7" providerId="LiveId" clId="{885EAEA9-BCD2-41BA-A143-B717D3634ACA}" dt="2026-10-17T11:05:00.350" v="21814" actId="729"/>
      <pc:docMkLst>
        <pc:docMk/>
      </pc:docMkLst>
      <pc:sldChg chg="mod modShow">
        <pc:chgData name="Shashank verma" userId="62a6868b0fd06ef7" providerId="LiveId" clId="{885EAEA9-BCD2-41BA-A143-B717D3634ACA}" dt="2026-10-17T11:05:00.350" v="21814" actId="729"/>
        <pc:sldMkLst>
          <pc:docMk/>
          <pc:sldMk cId="323802142" sldId="484"/>
        </pc:sldMkLst>
      </pc:sldChg>
      <pc:sldChg chg="mod modShow">
        <pc:chgData name="Shashank verma" userId="62a6868b0fd06ef7" providerId="LiveId" clId="{885EAEA9-BCD2-41BA-A143-B717D3634ACA}" dt="2026-10-17T11:05:00.350" v="21814" actId="729"/>
        <pc:sldMkLst>
          <pc:docMk/>
          <pc:sldMk cId="3864687247" sldId="485"/>
        </pc:sldMkLst>
      </pc:sldChg>
      <pc:sldChg chg="mod modShow">
        <pc:chgData name="Shashank verma" userId="62a6868b0fd06ef7" providerId="LiveId" clId="{885EAEA9-BCD2-41BA-A143-B717D3634ACA}" dt="2026-10-17T11:05:00.350" v="21814" actId="729"/>
        <pc:sldMkLst>
          <pc:docMk/>
          <pc:sldMk cId="1710565094" sldId="486"/>
        </pc:sldMkLst>
      </pc:sldChg>
      <pc:sldChg chg="mod modShow">
        <pc:chgData name="Shashank verma" userId="62a6868b0fd06ef7" providerId="LiveId" clId="{885EAEA9-BCD2-41BA-A143-B717D3634ACA}" dt="2026-10-17T11:05:00.350" v="21814" actId="729"/>
        <pc:sldMkLst>
          <pc:docMk/>
          <pc:sldMk cId="2400684397" sldId="487"/>
        </pc:sldMkLst>
      </pc:sldChg>
      <pc:sldChg chg="addSp delSp modSp add mod ord modShow">
        <pc:chgData name="Shashank verma" userId="62a6868b0fd06ef7" providerId="LiveId" clId="{885EAEA9-BCD2-41BA-A143-B717D3634ACA}" dt="2026-10-17T11:04:44.651" v="21813" actId="729"/>
        <pc:sldMkLst>
          <pc:docMk/>
          <pc:sldMk cId="3177042611" sldId="488"/>
        </pc:sldMkLst>
      </pc:sldChg>
      <pc:sldChg chg="mod modShow">
        <pc:chgData name="Shashank verma" userId="62a6868b0fd06ef7" providerId="LiveId" clId="{885EAEA9-BCD2-41BA-A143-B717D3634ACA}" dt="2026-10-17T11:05:00.350" v="21814" actId="729"/>
        <pc:sldMkLst>
          <pc:docMk/>
          <pc:sldMk cId="3210747057" sldId="489"/>
        </pc:sldMkLst>
      </pc:sldChg>
      <pc:sldChg chg="mod modShow">
        <pc:chgData name="Shashank verma" userId="62a6868b0fd06ef7" providerId="LiveId" clId="{885EAEA9-BCD2-41BA-A143-B717D3634ACA}" dt="2026-10-17T11:05:00.350" v="21814" actId="729"/>
        <pc:sldMkLst>
          <pc:docMk/>
          <pc:sldMk cId="4054042269" sldId="490"/>
        </pc:sldMkLst>
      </pc:sldChg>
      <pc:sldChg chg="mod modShow">
        <pc:chgData name="Shashank verma" userId="62a6868b0fd06ef7" providerId="LiveId" clId="{885EAEA9-BCD2-41BA-A143-B717D3634ACA}" dt="2026-10-17T11:05:00.350" v="21814" actId="729"/>
        <pc:sldMkLst>
          <pc:docMk/>
          <pc:sldMk cId="3511453548" sldId="491"/>
        </pc:sldMkLst>
      </pc:sldChg>
      <pc:sldChg chg="mod modShow">
        <pc:chgData name="Shashank verma" userId="62a6868b0fd06ef7" providerId="LiveId" clId="{885EAEA9-BCD2-41BA-A143-B717D3634ACA}" dt="2026-10-17T11:05:00.350" v="21814" actId="729"/>
        <pc:sldMkLst>
          <pc:docMk/>
          <pc:sldMk cId="536454129" sldId="492"/>
        </pc:sldMkLst>
      </pc:sldChg>
      <pc:sldChg chg="mod modShow">
        <pc:chgData name="Shashank verma" userId="62a6868b0fd06ef7" providerId="LiveId" clId="{885EAEA9-BCD2-41BA-A143-B717D3634ACA}" dt="2026-10-17T11:05:00.350" v="21814" actId="729"/>
        <pc:sldMkLst>
          <pc:docMk/>
          <pc:sldMk cId="3508208784" sldId="493"/>
        </pc:sldMkLst>
      </pc:sldChg>
      <pc:sldChg chg="mod modShow">
        <pc:chgData name="Shashank verma" userId="62a6868b0fd06ef7" providerId="LiveId" clId="{885EAEA9-BCD2-41BA-A143-B717D3634ACA}" dt="2026-10-17T11:05:00.350" v="21814" actId="729"/>
        <pc:sldMkLst>
          <pc:docMk/>
          <pc:sldMk cId="802709788" sldId="494"/>
        </pc:sldMkLst>
      </pc:sldChg>
      <pc:sldChg chg="mod modShow">
        <pc:chgData name="Shashank verma" userId="62a6868b0fd06ef7" providerId="LiveId" clId="{885EAEA9-BCD2-41BA-A143-B717D3634ACA}" dt="2026-10-17T11:05:00.350" v="21814" actId="729"/>
        <pc:sldMkLst>
          <pc:docMk/>
          <pc:sldMk cId="2390018334" sldId="495"/>
        </pc:sldMkLst>
      </pc:sldChg>
      <pc:sldChg chg="mod modShow">
        <pc:chgData name="Shashank verma" userId="62a6868b0fd06ef7" providerId="LiveId" clId="{885EAEA9-BCD2-41BA-A143-B717D3634ACA}" dt="2026-10-17T11:05:00.350" v="21814" actId="729"/>
        <pc:sldMkLst>
          <pc:docMk/>
          <pc:sldMk cId="3391790003" sldId="496"/>
        </pc:sldMkLst>
      </pc:sldChg>
      <pc:sldChg chg="mod modShow">
        <pc:chgData name="Shashank verma" userId="62a6868b0fd06ef7" providerId="LiveId" clId="{885EAEA9-BCD2-41BA-A143-B717D3634ACA}" dt="2026-10-17T11:05:00.350" v="21814" actId="729"/>
        <pc:sldMkLst>
          <pc:docMk/>
          <pc:sldMk cId="4099975554" sldId="497"/>
        </pc:sldMkLst>
      </pc:sldChg>
      <pc:sldChg chg="addSp delSp modSp add mod ord modShow">
        <pc:chgData name="Shashank verma" userId="62a6868b0fd06ef7" providerId="LiveId" clId="{885EAEA9-BCD2-41BA-A143-B717D3634ACA}" dt="2026-10-17T11:04:44.651" v="21813" actId="729"/>
        <pc:sldMkLst>
          <pc:docMk/>
          <pc:sldMk cId="3028262414" sldId="498"/>
        </pc:sldMkLst>
      </pc:sldChg>
      <pc:sldChg chg="addSp delSp modSp add mod ord modShow">
        <pc:chgData name="Shashank verma" userId="62a6868b0fd06ef7" providerId="LiveId" clId="{885EAEA9-BCD2-41BA-A143-B717D3634ACA}" dt="2026-10-17T11:04:44.651" v="21813" actId="729"/>
        <pc:sldMkLst>
          <pc:docMk/>
          <pc:sldMk cId="1920283509" sldId="499"/>
        </pc:sldMkLst>
      </pc:sldChg>
      <pc:sldChg chg="addSp delSp modSp add mod modShow">
        <pc:chgData name="Shashank verma" userId="62a6868b0fd06ef7" providerId="LiveId" clId="{885EAEA9-BCD2-41BA-A143-B717D3634ACA}" dt="2026-10-17T11:04:44.651" v="21813" actId="729"/>
        <pc:sldMkLst>
          <pc:docMk/>
          <pc:sldMk cId="1982372938" sldId="500"/>
        </pc:sldMkLst>
      </pc:sldChg>
      <pc:sldChg chg="addSp delSp modSp add mod modShow">
        <pc:chgData name="Shashank verma" userId="62a6868b0fd06ef7" providerId="LiveId" clId="{885EAEA9-BCD2-41BA-A143-B717D3634ACA}" dt="2026-10-17T11:04:44.651" v="21813" actId="729"/>
        <pc:sldMkLst>
          <pc:docMk/>
          <pc:sldMk cId="3613309385" sldId="501"/>
        </pc:sldMkLst>
      </pc:sldChg>
      <pc:sldChg chg="addSp delSp modSp add mod ord modShow">
        <pc:chgData name="Shashank verma" userId="62a6868b0fd06ef7" providerId="LiveId" clId="{885EAEA9-BCD2-41BA-A143-B717D3634ACA}" dt="2026-10-17T11:04:44.651" v="21813" actId="729"/>
        <pc:sldMkLst>
          <pc:docMk/>
          <pc:sldMk cId="410999061" sldId="502"/>
        </pc:sldMkLst>
      </pc:sldChg>
      <pc:sldChg chg="addSp delSp modSp add mod ord modShow">
        <pc:chgData name="Shashank verma" userId="62a6868b0fd06ef7" providerId="LiveId" clId="{885EAEA9-BCD2-41BA-A143-B717D3634ACA}" dt="2026-10-17T11:04:44.651" v="21813" actId="729"/>
        <pc:sldMkLst>
          <pc:docMk/>
          <pc:sldMk cId="444203974" sldId="503"/>
        </pc:sldMkLst>
      </pc:sldChg>
      <pc:sldChg chg="addSp delSp modSp add mod modShow">
        <pc:chgData name="Shashank verma" userId="62a6868b0fd06ef7" providerId="LiveId" clId="{885EAEA9-BCD2-41BA-A143-B717D3634ACA}" dt="2026-10-17T11:04:44.651" v="21813" actId="729"/>
        <pc:sldMkLst>
          <pc:docMk/>
          <pc:sldMk cId="2167840314" sldId="504"/>
        </pc:sldMkLst>
      </pc:sldChg>
      <pc:sldChg chg="addSp delSp modSp add mod modShow">
        <pc:chgData name="Shashank verma" userId="62a6868b0fd06ef7" providerId="LiveId" clId="{885EAEA9-BCD2-41BA-A143-B717D3634ACA}" dt="2026-10-17T11:04:44.651" v="21813" actId="729"/>
        <pc:sldMkLst>
          <pc:docMk/>
          <pc:sldMk cId="733757367" sldId="505"/>
        </pc:sldMkLst>
      </pc:sldChg>
      <pc:sldChg chg="addSp delSp modSp add mod modAnim modShow">
        <pc:chgData name="Shashank verma" userId="62a6868b0fd06ef7" providerId="LiveId" clId="{885EAEA9-BCD2-41BA-A143-B717D3634ACA}" dt="2026-10-17T11:04:44.651" v="21813" actId="729"/>
        <pc:sldMkLst>
          <pc:docMk/>
          <pc:sldMk cId="335871183" sldId="506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Effect of LoRA Rank on TIL-LoRA Metrics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Dashboard!$F$1</c:f>
              <c:strCache>
                <c:ptCount val="1"/>
                <c:pt idx="0">
                  <c:v>Final Average Performance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Dashboard!$B$6:$B$10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32</c:v>
                </c:pt>
                <c:pt idx="3">
                  <c:v>64</c:v>
                </c:pt>
                <c:pt idx="4">
                  <c:v>128</c:v>
                </c:pt>
              </c:numCache>
            </c:numRef>
          </c:cat>
          <c:val>
            <c:numRef>
              <c:f>Dashboard!$F$6:$F$10</c:f>
              <c:numCache>
                <c:formatCode>0.000</c:formatCode>
                <c:ptCount val="5"/>
                <c:pt idx="0">
                  <c:v>0.65856486807266823</c:v>
                </c:pt>
                <c:pt idx="1">
                  <c:v>0.59311688964565534</c:v>
                </c:pt>
                <c:pt idx="2">
                  <c:v>0.53074006835813581</c:v>
                </c:pt>
                <c:pt idx="3">
                  <c:v>0.45528703003074023</c:v>
                </c:pt>
                <c:pt idx="4">
                  <c:v>0.42413065644347309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043-4082-AF0A-C15355295D4E}"/>
            </c:ext>
          </c:extLst>
        </c:ser>
        <c:ser>
          <c:idx val="1"/>
          <c:order val="1"/>
          <c:tx>
            <c:strRef>
              <c:f>Dashboard!$G$1</c:f>
              <c:strCache>
                <c:ptCount val="1"/>
                <c:pt idx="0">
                  <c:v>Final Forgetting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Dashboard!$B$6:$B$10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32</c:v>
                </c:pt>
                <c:pt idx="3">
                  <c:v>64</c:v>
                </c:pt>
                <c:pt idx="4">
                  <c:v>128</c:v>
                </c:pt>
              </c:numCache>
            </c:numRef>
          </c:cat>
          <c:val>
            <c:numRef>
              <c:f>Dashboard!$G$6:$G$10</c:f>
              <c:numCache>
                <c:formatCode>0.000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043-4082-AF0A-C15355295D4E}"/>
            </c:ext>
          </c:extLst>
        </c:ser>
        <c:ser>
          <c:idx val="2"/>
          <c:order val="2"/>
          <c:tx>
            <c:strRef>
              <c:f>Dashboard!$H$1</c:f>
              <c:strCache>
                <c:ptCount val="1"/>
                <c:pt idx="0">
                  <c:v>Transfer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Dashboard!$B$6:$B$10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32</c:v>
                </c:pt>
                <c:pt idx="3">
                  <c:v>64</c:v>
                </c:pt>
                <c:pt idx="4">
                  <c:v>128</c:v>
                </c:pt>
              </c:numCache>
            </c:numRef>
          </c:cat>
          <c:val>
            <c:numRef>
              <c:f>Dashboard!$H$6:$H$10</c:f>
              <c:numCache>
                <c:formatCode>0.000</c:formatCode>
                <c:ptCount val="5"/>
                <c:pt idx="0">
                  <c:v>0.2078116987036964</c:v>
                </c:pt>
                <c:pt idx="1">
                  <c:v>0.20949369836575366</c:v>
                </c:pt>
                <c:pt idx="2">
                  <c:v>0.2085876304408851</c:v>
                </c:pt>
                <c:pt idx="3">
                  <c:v>0.18779982602306192</c:v>
                </c:pt>
                <c:pt idx="4">
                  <c:v>0.18034677244964473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043-4082-AF0A-C15355295D4E}"/>
            </c:ext>
          </c:extLst>
        </c:ser>
        <c:ser>
          <c:idx val="3"/>
          <c:order val="3"/>
          <c:tx>
            <c:strRef>
              <c:f>Dashboard!$I$1</c:f>
              <c:strCache>
                <c:ptCount val="1"/>
                <c:pt idx="0">
                  <c:v>Retention Drop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Dashboard!$B$6:$B$10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32</c:v>
                </c:pt>
                <c:pt idx="3">
                  <c:v>64</c:v>
                </c:pt>
                <c:pt idx="4">
                  <c:v>128</c:v>
                </c:pt>
              </c:numCache>
            </c:numRef>
          </c:cat>
          <c:val>
            <c:numRef>
              <c:f>Dashboard!$I$6:$I$10</c:f>
              <c:numCache>
                <c:formatCode>0.000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043-4082-AF0A-C15355295D4E}"/>
            </c:ext>
          </c:extLst>
        </c:ser>
        <c:ser>
          <c:idx val="4"/>
          <c:order val="4"/>
          <c:tx>
            <c:strRef>
              <c:f>Dashboard!$J$1</c:f>
              <c:strCache>
                <c:ptCount val="1"/>
                <c:pt idx="0">
                  <c:v>FT Final Avg. performance</c:v>
                </c:pt>
              </c:strCache>
            </c:strRef>
          </c:tx>
          <c:spPr>
            <a:ln w="28575" cap="rnd">
              <a:solidFill>
                <a:schemeClr val="accent1"/>
              </a:solidFill>
              <a:prstDash val="sysDot"/>
              <a:round/>
            </a:ln>
            <a:effectLst/>
          </c:spPr>
          <c:marker>
            <c:symbol val="none"/>
          </c:marker>
          <c:cat>
            <c:numRef>
              <c:f>Dashboard!$B$6:$B$10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32</c:v>
                </c:pt>
                <c:pt idx="3">
                  <c:v>64</c:v>
                </c:pt>
                <c:pt idx="4">
                  <c:v>128</c:v>
                </c:pt>
              </c:numCache>
            </c:numRef>
          </c:cat>
          <c:val>
            <c:numRef>
              <c:f>Dashboard!$J$6:$J$10</c:f>
              <c:numCache>
                <c:formatCode>0.000</c:formatCode>
                <c:ptCount val="5"/>
                <c:pt idx="0">
                  <c:v>0.13041320790710714</c:v>
                </c:pt>
                <c:pt idx="1">
                  <c:v>0.13041320790710714</c:v>
                </c:pt>
                <c:pt idx="2">
                  <c:v>0.13041320790710714</c:v>
                </c:pt>
                <c:pt idx="3">
                  <c:v>0.13041320790710714</c:v>
                </c:pt>
                <c:pt idx="4">
                  <c:v>0.13041320790710714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4043-4082-AF0A-C15355295D4E}"/>
            </c:ext>
          </c:extLst>
        </c:ser>
        <c:ser>
          <c:idx val="5"/>
          <c:order val="5"/>
          <c:tx>
            <c:strRef>
              <c:f>Dashboard!$K$1</c:f>
              <c:strCache>
                <c:ptCount val="1"/>
                <c:pt idx="0">
                  <c:v>FT Forgetting</c:v>
                </c:pt>
              </c:strCache>
            </c:strRef>
          </c:tx>
          <c:spPr>
            <a:ln w="28575" cap="rnd">
              <a:solidFill>
                <a:srgbClr val="00B050"/>
              </a:solidFill>
              <a:prstDash val="sysDot"/>
              <a:round/>
            </a:ln>
            <a:effectLst/>
          </c:spPr>
          <c:marker>
            <c:symbol val="none"/>
          </c:marker>
          <c:cat>
            <c:numRef>
              <c:f>Dashboard!$B$6:$B$10</c:f>
              <c:numCache>
                <c:formatCode>General</c:formatCode>
                <c:ptCount val="5"/>
                <c:pt idx="0">
                  <c:v>8</c:v>
                </c:pt>
                <c:pt idx="1">
                  <c:v>16</c:v>
                </c:pt>
                <c:pt idx="2">
                  <c:v>32</c:v>
                </c:pt>
                <c:pt idx="3">
                  <c:v>64</c:v>
                </c:pt>
                <c:pt idx="4">
                  <c:v>128</c:v>
                </c:pt>
              </c:numCache>
            </c:numRef>
          </c:cat>
          <c:val>
            <c:numRef>
              <c:f>Dashboard!$K$6:$K$10</c:f>
              <c:numCache>
                <c:formatCode>0.000</c:formatCode>
                <c:ptCount val="5"/>
                <c:pt idx="0">
                  <c:v>0.81221432456296339</c:v>
                </c:pt>
                <c:pt idx="1">
                  <c:v>0.81221432456296339</c:v>
                </c:pt>
                <c:pt idx="2">
                  <c:v>0.81221432456296339</c:v>
                </c:pt>
                <c:pt idx="3">
                  <c:v>0.81221432456296339</c:v>
                </c:pt>
                <c:pt idx="4">
                  <c:v>0.81221432456296339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4043-4082-AF0A-C15355295D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9525" cap="flat" cmpd="sng" algn="ctr">
              <a:solidFill>
                <a:schemeClr val="bg2">
                  <a:lumMod val="90000"/>
                </a:schemeClr>
              </a:solidFill>
              <a:round/>
            </a:ln>
            <a:effectLst/>
          </c:spPr>
        </c:hiLowLines>
        <c:marker val="1"/>
        <c:smooth val="0"/>
        <c:axId val="1094622272"/>
        <c:axId val="978258416"/>
      </c:lineChart>
      <c:catAx>
        <c:axId val="109462227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LoRA Rank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8258416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9782584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 Metric Value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0.0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4622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9.0920508491526122E-2"/>
          <c:y val="0.81199159020943235"/>
          <c:w val="0.90780973334196102"/>
          <c:h val="0.1726098601641946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rgbClr val="041E4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Extras!$C$1</c:f>
              <c:strCache>
                <c:ptCount val="1"/>
                <c:pt idx="0">
                  <c:v>Relative Frobenius Norm of LoRA Weights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B8D-43FA-9246-8E4B6BE72AB6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B8D-43FA-9246-8E4B6BE72AB6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B8D-43FA-9246-8E4B6BE72AB6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B8D-43FA-9246-8E4B6BE72AB6}"/>
              </c:ext>
            </c:extLst>
          </c:dPt>
          <c:cat>
            <c:strRef>
              <c:f>Extras!$B$2:$B$9</c:f>
              <c:strCache>
                <c:ptCount val="8"/>
                <c:pt idx="0">
                  <c:v>Lateral Tibial -&gt; Medial Tibial</c:v>
                </c:pt>
                <c:pt idx="1">
                  <c:v>Medial Tibial -&gt; Femoral</c:v>
                </c:pt>
                <c:pt idx="2">
                  <c:v>Femoral -&gt; Patellar</c:v>
                </c:pt>
                <c:pt idx="3">
                  <c:v>Patellar -&gt; Medial Meniscus</c:v>
                </c:pt>
                <c:pt idx="4">
                  <c:v>Medial Meniscus -&gt; Patellar</c:v>
                </c:pt>
                <c:pt idx="5">
                  <c:v>Patellar -&gt; Femoral</c:v>
                </c:pt>
                <c:pt idx="6">
                  <c:v>Femoral -&gt; Medial Tibial</c:v>
                </c:pt>
                <c:pt idx="7">
                  <c:v>Medial Tibial -&gt; Lateral Tibial</c:v>
                </c:pt>
              </c:strCache>
              <c:extLst/>
            </c:strRef>
          </c:cat>
          <c:val>
            <c:numRef>
              <c:f>Extras!$C$2:$C$9</c:f>
              <c:numCache>
                <c:formatCode>0.00</c:formatCode>
                <c:ptCount val="8"/>
                <c:pt idx="0">
                  <c:v>4.09570079916328E-2</c:v>
                </c:pt>
                <c:pt idx="1">
                  <c:v>4.2534859779233797E-2</c:v>
                </c:pt>
                <c:pt idx="2">
                  <c:v>0.23941292433981201</c:v>
                </c:pt>
                <c:pt idx="3">
                  <c:v>0.12429498195396101</c:v>
                </c:pt>
                <c:pt idx="4">
                  <c:v>0.243273645003728</c:v>
                </c:pt>
                <c:pt idx="5">
                  <c:v>0.111449750583911</c:v>
                </c:pt>
                <c:pt idx="6">
                  <c:v>2.32723264233698E-2</c:v>
                </c:pt>
                <c:pt idx="7">
                  <c:v>4.4738194384700801E-2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B8D-43FA-9246-8E4B6BE72A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1421117520"/>
        <c:axId val="978157616"/>
      </c:barChart>
      <c:catAx>
        <c:axId val="142111752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rgbClr val="041E4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>
                    <a:solidFill>
                      <a:srgbClr val="041E42"/>
                    </a:solidFill>
                  </a:rPr>
                  <a:t>Task Transition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rgbClr val="041E42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8157616"/>
        <c:crosses val="autoZero"/>
        <c:auto val="1"/>
        <c:lblAlgn val="ctr"/>
        <c:lblOffset val="100"/>
        <c:noMultiLvlLbl val="0"/>
      </c:catAx>
      <c:valAx>
        <c:axId val="9781576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rgbClr val="041E4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>
                    <a:solidFill>
                      <a:srgbClr val="041E42"/>
                    </a:solidFill>
                  </a:rPr>
                  <a:t>Relative Frobenius Norm</a:t>
                </a:r>
              </a:p>
            </c:rich>
          </c:tx>
          <c:layout>
            <c:manualLayout>
              <c:xMode val="edge"/>
              <c:yMode val="edge"/>
              <c:x val="0.44868078498664282"/>
              <c:y val="0.9374993416612672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rgbClr val="041E4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1117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Effect of 10% Replay Buffer on CIL-LoRA (rank 128) Performance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Dashboard!$A$54</c:f>
              <c:strCache>
                <c:ptCount val="1"/>
                <c:pt idx="0">
                  <c:v>CIL-LoRA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Dashboard!$B$53:$E$53</c:f>
              <c:strCache>
                <c:ptCount val="4"/>
                <c:pt idx="0">
                  <c:v>Final Average Performance</c:v>
                </c:pt>
                <c:pt idx="1">
                  <c:v>Final Forgetting</c:v>
                </c:pt>
                <c:pt idx="2">
                  <c:v>Transfer</c:v>
                </c:pt>
                <c:pt idx="3">
                  <c:v>Retention Drop</c:v>
                </c:pt>
              </c:strCache>
            </c:strRef>
          </c:cat>
          <c:val>
            <c:numRef>
              <c:f>Dashboard!$B$54:$E$54</c:f>
              <c:numCache>
                <c:formatCode>0.000</c:formatCode>
                <c:ptCount val="4"/>
                <c:pt idx="0">
                  <c:v>0</c:v>
                </c:pt>
                <c:pt idx="1">
                  <c:v>0.67012428569917826</c:v>
                </c:pt>
                <c:pt idx="2">
                  <c:v>0.20162295673244032</c:v>
                </c:pt>
                <c:pt idx="3">
                  <c:v>0.97939328849315599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DA-41D0-A3F2-694A7FF66137}"/>
            </c:ext>
          </c:extLst>
        </c:ser>
        <c:ser>
          <c:idx val="1"/>
          <c:order val="1"/>
          <c:tx>
            <c:strRef>
              <c:f>Dashboard!$A$55</c:f>
              <c:strCache>
                <c:ptCount val="1"/>
                <c:pt idx="0">
                  <c:v>CIL-LoRA + Replay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Dashboard!$B$53:$E$53</c:f>
              <c:strCache>
                <c:ptCount val="4"/>
                <c:pt idx="0">
                  <c:v>Final Average Performance</c:v>
                </c:pt>
                <c:pt idx="1">
                  <c:v>Final Forgetting</c:v>
                </c:pt>
                <c:pt idx="2">
                  <c:v>Transfer</c:v>
                </c:pt>
                <c:pt idx="3">
                  <c:v>Retention Drop</c:v>
                </c:pt>
              </c:strCache>
            </c:strRef>
          </c:cat>
          <c:val>
            <c:numRef>
              <c:f>Dashboard!$B$55:$E$55</c:f>
              <c:numCache>
                <c:formatCode>0.000</c:formatCode>
                <c:ptCount val="4"/>
                <c:pt idx="0">
                  <c:v>0.35306040356711754</c:v>
                </c:pt>
                <c:pt idx="1">
                  <c:v>0.36275102232078404</c:v>
                </c:pt>
                <c:pt idx="2">
                  <c:v>0.12887594358852156</c:v>
                </c:pt>
                <c:pt idx="3">
                  <c:v>0.53402084857225396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BDA-41D0-A3F2-694A7FF661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26084415"/>
        <c:axId val="953774159"/>
      </c:barChart>
      <c:catAx>
        <c:axId val="9260844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3774159"/>
        <c:crosses val="autoZero"/>
        <c:auto val="1"/>
        <c:lblAlgn val="ctr"/>
        <c:lblOffset val="100"/>
        <c:noMultiLvlLbl val="0"/>
      </c:catAx>
      <c:valAx>
        <c:axId val="953774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60844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Final Average Performance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'Few-shot Analysis'!$B$16</c:f>
              <c:strCache>
                <c:ptCount val="1"/>
                <c:pt idx="0">
                  <c:v>Fine-Tuning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3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19050" cap="rnd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A48A-4863-B8F4-4F22D6F12184}"/>
              </c:ext>
            </c:extLst>
          </c:dPt>
          <c:xVal>
            <c:numRef>
              <c:f>'Few-shot Analysis'!$A$17:$A$20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108</c:v>
                </c:pt>
              </c:numCache>
            </c:numRef>
          </c:xVal>
          <c:yVal>
            <c:numRef>
              <c:f>'Few-shot Analysis'!$B$17:$B$20</c:f>
              <c:numCache>
                <c:formatCode>0.000</c:formatCode>
                <c:ptCount val="4"/>
                <c:pt idx="0">
                  <c:v>1.3025533130761597E-5</c:v>
                </c:pt>
                <c:pt idx="1">
                  <c:v>0</c:v>
                </c:pt>
                <c:pt idx="2">
                  <c:v>0</c:v>
                </c:pt>
                <c:pt idx="3">
                  <c:v>0.13041320790710714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A48A-4863-B8F4-4F22D6F12184}"/>
            </c:ext>
          </c:extLst>
        </c:ser>
        <c:ser>
          <c:idx val="1"/>
          <c:order val="1"/>
          <c:tx>
            <c:strRef>
              <c:f>'Few-shot Analysis'!$C$16</c:f>
              <c:strCache>
                <c:ptCount val="1"/>
                <c:pt idx="0">
                  <c:v>TIL-LoRA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</a:ln>
                <a:effectLst/>
              </c:spPr>
            </c:marker>
            <c:bubble3D val="0"/>
            <c:spPr>
              <a:ln w="19050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4-A48A-4863-B8F4-4F22D6F12184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</a:ln>
                <a:effectLst/>
              </c:spPr>
            </c:marker>
            <c:bubble3D val="0"/>
            <c:spPr>
              <a:ln w="19050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6-A48A-4863-B8F4-4F22D6F12184}"/>
              </c:ext>
            </c:extLst>
          </c:dPt>
          <c:xVal>
            <c:numRef>
              <c:f>'Few-shot Analysis'!$A$17:$A$20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108</c:v>
                </c:pt>
              </c:numCache>
            </c:numRef>
          </c:xVal>
          <c:yVal>
            <c:numRef>
              <c:f>'Few-shot Analysis'!$C$17:$C$20</c:f>
              <c:numCache>
                <c:formatCode>0.000</c:formatCode>
                <c:ptCount val="4"/>
                <c:pt idx="0">
                  <c:v>0.33153970763087259</c:v>
                </c:pt>
                <c:pt idx="1">
                  <c:v>0.33679310753941516</c:v>
                </c:pt>
                <c:pt idx="2">
                  <c:v>0.33764468819778493</c:v>
                </c:pt>
                <c:pt idx="3">
                  <c:v>0.70172176038225409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A48A-4863-B8F4-4F22D6F12184}"/>
            </c:ext>
          </c:extLst>
        </c:ser>
        <c:ser>
          <c:idx val="2"/>
          <c:order val="2"/>
          <c:tx>
            <c:strRef>
              <c:f>'Few-shot Analysis'!$D$16</c:f>
              <c:strCache>
                <c:ptCount val="1"/>
                <c:pt idx="0">
                  <c:v>CIL-LoRA + Replay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Pt>
            <c:idx val="3"/>
            <c:marker>
              <c:symbol val="circle"/>
              <c:size val="5"/>
              <c:spPr>
                <a:solidFill>
                  <a:schemeClr val="accent3"/>
                </a:solidFill>
                <a:ln w="9525">
                  <a:solidFill>
                    <a:schemeClr val="accent3"/>
                  </a:solidFill>
                </a:ln>
                <a:effectLst/>
              </c:spPr>
            </c:marker>
            <c:bubble3D val="0"/>
            <c:spPr>
              <a:ln w="19050" cap="rnd">
                <a:solidFill>
                  <a:schemeClr val="accent3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A48A-4863-B8F4-4F22D6F12184}"/>
              </c:ext>
            </c:extLst>
          </c:dPt>
          <c:xVal>
            <c:numRef>
              <c:f>'Few-shot Analysis'!$A$17:$A$20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108</c:v>
                </c:pt>
              </c:numCache>
            </c:numRef>
          </c:xVal>
          <c:yVal>
            <c:numRef>
              <c:f>'Few-shot Analysis'!$D$17:$D$20</c:f>
              <c:numCache>
                <c:formatCode>0.000</c:formatCode>
                <c:ptCount val="4"/>
                <c:pt idx="0">
                  <c:v>1.3040762123030919E-3</c:v>
                </c:pt>
                <c:pt idx="1">
                  <c:v>9.0138830794482087E-3</c:v>
                </c:pt>
                <c:pt idx="2">
                  <c:v>9.3502386789623051E-3</c:v>
                </c:pt>
                <c:pt idx="3">
                  <c:v>0.35306040356711754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A48A-4863-B8F4-4F22D6F121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4712992"/>
        <c:axId val="327834960"/>
      </c:scatterChart>
      <c:valAx>
        <c:axId val="2847129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7834960"/>
        <c:crosses val="autoZero"/>
        <c:crossBetween val="midCat"/>
      </c:valAx>
      <c:valAx>
        <c:axId val="327834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471299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Final Forgetting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'Few-shot Analysis'!$B$23</c:f>
              <c:strCache>
                <c:ptCount val="1"/>
                <c:pt idx="0">
                  <c:v>Fine-Tuning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3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19050" cap="rnd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CD38-4094-804A-78343B67D5B0}"/>
              </c:ext>
            </c:extLst>
          </c:dPt>
          <c:xVal>
            <c:numRef>
              <c:f>'Few-shot Analysis'!$A$24:$A$27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108</c:v>
                </c:pt>
              </c:numCache>
            </c:numRef>
          </c:xVal>
          <c:yVal>
            <c:numRef>
              <c:f>'Few-shot Analysis'!$B$24:$B$27</c:f>
              <c:numCache>
                <c:formatCode>0.000</c:formatCode>
                <c:ptCount val="4"/>
                <c:pt idx="0">
                  <c:v>0.68765294755401618</c:v>
                </c:pt>
                <c:pt idx="1">
                  <c:v>0.75656230685611514</c:v>
                </c:pt>
                <c:pt idx="2">
                  <c:v>0.77451379255702046</c:v>
                </c:pt>
                <c:pt idx="3">
                  <c:v>0.81221432456296339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CD38-4094-804A-78343B67D5B0}"/>
            </c:ext>
          </c:extLst>
        </c:ser>
        <c:ser>
          <c:idx val="1"/>
          <c:order val="1"/>
          <c:tx>
            <c:strRef>
              <c:f>'Few-shot Analysis'!$C$23</c:f>
              <c:strCache>
                <c:ptCount val="1"/>
                <c:pt idx="0">
                  <c:v>TIL-LoRA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Pt>
            <c:idx val="3"/>
            <c:marker>
              <c:symbol val="circle"/>
              <c:size val="5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</a:ln>
                <a:effectLst/>
              </c:spPr>
            </c:marker>
            <c:bubble3D val="0"/>
            <c:spPr>
              <a:ln w="19050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4-CD38-4094-804A-78343B67D5B0}"/>
              </c:ext>
            </c:extLst>
          </c:dPt>
          <c:xVal>
            <c:numRef>
              <c:f>'Few-shot Analysis'!$A$24:$A$27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108</c:v>
                </c:pt>
              </c:numCache>
            </c:numRef>
          </c:xVal>
          <c:yVal>
            <c:numRef>
              <c:f>'Few-shot Analysis'!$C$24:$C$27</c:f>
              <c:numCache>
                <c:formatCode>0.000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CD38-4094-804A-78343B67D5B0}"/>
            </c:ext>
          </c:extLst>
        </c:ser>
        <c:ser>
          <c:idx val="2"/>
          <c:order val="2"/>
          <c:tx>
            <c:strRef>
              <c:f>'Few-shot Analysis'!$D$23</c:f>
              <c:strCache>
                <c:ptCount val="1"/>
                <c:pt idx="0">
                  <c:v>CIL-LoRA + Replay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Pt>
            <c:idx val="3"/>
            <c:marker>
              <c:symbol val="circle"/>
              <c:size val="5"/>
              <c:spPr>
                <a:solidFill>
                  <a:schemeClr val="accent3"/>
                </a:solidFill>
                <a:ln w="9525">
                  <a:solidFill>
                    <a:schemeClr val="accent3"/>
                  </a:solidFill>
                </a:ln>
                <a:effectLst/>
              </c:spPr>
            </c:marker>
            <c:bubble3D val="0"/>
            <c:spPr>
              <a:ln w="19050" cap="rnd">
                <a:solidFill>
                  <a:schemeClr val="accent3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CD38-4094-804A-78343B67D5B0}"/>
              </c:ext>
            </c:extLst>
          </c:dPt>
          <c:xVal>
            <c:numRef>
              <c:f>'Few-shot Analysis'!$A$24:$A$27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108</c:v>
                </c:pt>
              </c:numCache>
            </c:numRef>
          </c:xVal>
          <c:yVal>
            <c:numRef>
              <c:f>'Few-shot Analysis'!$D$24:$D$27</c:f>
              <c:numCache>
                <c:formatCode>0.000</c:formatCode>
                <c:ptCount val="4"/>
                <c:pt idx="0">
                  <c:v>0.3950809173008259</c:v>
                </c:pt>
                <c:pt idx="1">
                  <c:v>0.35098729270619788</c:v>
                </c:pt>
                <c:pt idx="2">
                  <c:v>0.46887751395115596</c:v>
                </c:pt>
                <c:pt idx="3">
                  <c:v>0.36275102232078404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CD38-4094-804A-78343B67D5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4733408"/>
        <c:axId val="327743760"/>
      </c:scatterChart>
      <c:valAx>
        <c:axId val="2847334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7743760"/>
        <c:crosses val="autoZero"/>
        <c:crossBetween val="midCat"/>
      </c:valAx>
      <c:valAx>
        <c:axId val="327743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473340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en-US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Performance-Forgetting Trade-off Across Continual Learning Methods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3"/>
            <c:marker>
              <c:symbol val="circle"/>
              <c:size val="5"/>
              <c:spPr>
                <a:solidFill>
                  <a:schemeClr val="accent2"/>
                </a:solidFill>
                <a:ln w="9525">
                  <a:solidFill>
                    <a:schemeClr val="accent2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C770-4470-A483-4F985E8AFDE1}"/>
              </c:ext>
            </c:extLst>
          </c:dPt>
          <c:dLbls>
            <c:dLbl>
              <c:idx val="0"/>
              <c:layout>
                <c:manualLayout>
                  <c:x val="2.8014357174743444E-3"/>
                  <c:y val="-3.1543140152323519E-3"/>
                </c:manualLayout>
              </c:layout>
              <c:tx>
                <c:rich>
                  <a:bodyPr/>
                  <a:lstStyle/>
                  <a:p>
                    <a:fld id="{BB5F65B6-A1AE-410F-A0A2-92D7934DEF72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770-4470-A483-4F985E8AFDE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C87C776-0A57-4DDD-8E54-87352DD24491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C770-4470-A483-4F985E8AFDE1}"/>
                </c:ext>
              </c:extLst>
            </c:dLbl>
            <c:dLbl>
              <c:idx val="2"/>
              <c:layout>
                <c:manualLayout>
                  <c:x val="-2.336432094696449E-2"/>
                  <c:y val="3.5446331070342077E-2"/>
                </c:manualLayout>
              </c:layout>
              <c:tx>
                <c:rich>
                  <a:bodyPr/>
                  <a:lstStyle/>
                  <a:p>
                    <a:fld id="{E4D9D77A-1F64-4730-89EF-261D736B47DA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C770-4470-A483-4F985E8AFDE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B768505E-D5B7-47CD-9C2C-608C31B02F84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C770-4470-A483-4F985E8AFDE1}"/>
                </c:ext>
              </c:extLst>
            </c:dLbl>
            <c:dLbl>
              <c:idx val="4"/>
              <c:layout>
                <c:manualLayout>
                  <c:x val="-8.1858528473910439E-2"/>
                  <c:y val="3.2934659454063722E-2"/>
                </c:manualLayout>
              </c:layout>
              <c:tx>
                <c:rich>
                  <a:bodyPr/>
                  <a:lstStyle/>
                  <a:p>
                    <a:fld id="{9A4320C9-33F1-4C45-9A1C-5ED5551AF286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4-C770-4470-A483-4F985E8AFDE1}"/>
                </c:ext>
              </c:extLst>
            </c:dLbl>
            <c:dLbl>
              <c:idx val="5"/>
              <c:layout>
                <c:manualLayout>
                  <c:x val="-0.24179167969681339"/>
                  <c:y val="-2.3152686685871771E-2"/>
                </c:manualLayout>
              </c:layout>
              <c:tx>
                <c:rich>
                  <a:bodyPr/>
                  <a:lstStyle/>
                  <a:p>
                    <a:fld id="{7880580D-5377-4B3A-9175-A83A28A53238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680555555555557"/>
                      <c:h val="8.7824074074074068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C770-4470-A483-4F985E8AFDE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Dashboard!$C$60:$C$65</c:f>
              <c:numCache>
                <c:formatCode>0.000</c:formatCode>
                <c:ptCount val="6"/>
                <c:pt idx="0">
                  <c:v>0.13041320790710714</c:v>
                </c:pt>
                <c:pt idx="1">
                  <c:v>0.42413065644347309</c:v>
                </c:pt>
                <c:pt idx="2">
                  <c:v>0</c:v>
                </c:pt>
                <c:pt idx="3">
                  <c:v>0.35306040356711754</c:v>
                </c:pt>
                <c:pt idx="4">
                  <c:v>0.11472533125867505</c:v>
                </c:pt>
                <c:pt idx="5">
                  <c:v>0.109952311488223</c:v>
                </c:pt>
              </c:numCache>
            </c:numRef>
          </c:xVal>
          <c:yVal>
            <c:numRef>
              <c:f>Dashboard!$B$60:$B$65</c:f>
              <c:numCache>
                <c:formatCode>0.000</c:formatCode>
                <c:ptCount val="6"/>
                <c:pt idx="0">
                  <c:v>0.81221432456296339</c:v>
                </c:pt>
                <c:pt idx="1">
                  <c:v>0</c:v>
                </c:pt>
                <c:pt idx="2">
                  <c:v>0.67012428569917826</c:v>
                </c:pt>
                <c:pt idx="3">
                  <c:v>0.36275102232078404</c:v>
                </c:pt>
                <c:pt idx="4">
                  <c:v>0.75303917993865788</c:v>
                </c:pt>
                <c:pt idx="5">
                  <c:v>0.83673433770458827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Dashboard!$A$60:$A$65</c15:f>
                <c15:dlblRangeCache>
                  <c:ptCount val="6"/>
                  <c:pt idx="0">
                    <c:v>Fine-Tuning</c:v>
                  </c:pt>
                  <c:pt idx="1">
                    <c:v>TIL-LoRA</c:v>
                  </c:pt>
                  <c:pt idx="2">
                    <c:v>CIL-LoRA</c:v>
                  </c:pt>
                  <c:pt idx="3">
                    <c:v>CIL-LoRA + Replay</c:v>
                  </c:pt>
                  <c:pt idx="4">
                    <c:v>Prompt-based</c:v>
                  </c:pt>
                  <c:pt idx="5">
                    <c:v>Regularisation-based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CF78-47B9-8635-FD81CE86BB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70035519"/>
        <c:axId val="953906639"/>
      </c:scatterChart>
      <c:valAx>
        <c:axId val="97003551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Final Average Performance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0.0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3906639"/>
        <c:crosses val="autoZero"/>
        <c:crossBetween val="midCat"/>
      </c:valAx>
      <c:valAx>
        <c:axId val="9539066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Forgetting (lower is better)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003551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2C9555C-46DE-4406-8ABE-45349F5208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4F3B590-57A4-4D61-9607-3C2EA36AB1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CE87A-16FF-4C7D-8292-0CB980715C8B}" type="datetimeFigureOut">
              <a:rPr lang="de-DE" smtClean="0"/>
              <a:t>17.10.2026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6DC5A1-1CCC-484A-AB24-DCA2F05D59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4041CFA-48F6-4759-86C7-790FC637E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F6222-CCA6-4FA7-88E0-B7BAE53645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18328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ECA62E-2216-4960-A875-4D2633F4A404}" type="datetimeFigureOut">
              <a:rPr lang="de-DE" smtClean="0"/>
              <a:t>17.10.2026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93703-73BA-47D5-8B02-C172375928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3314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b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platzhalter 167">
            <a:extLst>
              <a:ext uri="{FF2B5EF4-FFF2-40B4-BE49-F238E27FC236}">
                <a16:creationId xmlns:a16="http://schemas.microsoft.com/office/drawing/2014/main" id="{91CA67B1-C872-42F5-99A5-C31B319F69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165" name="Bildplatzhalter 60">
            <a:extLst>
              <a:ext uri="{FF2B5EF4-FFF2-40B4-BE49-F238E27FC236}">
                <a16:creationId xmlns:a16="http://schemas.microsoft.com/office/drawing/2014/main" id="{F018B551-27B5-4B00-BF39-7527999917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1DC1BF-B7B9-4143-AFEB-7D1D6C73E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63" y="2913731"/>
            <a:ext cx="4979505" cy="1030539"/>
          </a:xfrm>
        </p:spPr>
        <p:txBody>
          <a:bodyPr wrap="none" tIns="0" rIns="0"/>
          <a:lstStyle>
            <a:lvl1pPr algn="l">
              <a:lnSpc>
                <a:spcPct val="11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Willkommen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9994FB-5DBF-40C3-99B7-BCB45F80FCBA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67BB0E1-5E7F-46E5-9D87-74249FA80151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735EC3F0-D52F-43D8-9D20-FC4F70B192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73E6E84-A759-4118-9971-2B614D3FE504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F1FCC803-A93B-423F-B835-B52876B2721B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4D29247-DB20-40F1-888F-155F9E5ABC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E32A3F3-E989-43F3-A16F-94173C632533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44D22F83-A0F5-4FE2-9D6C-012542F7E2B8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A2BC1BF-6FE4-4475-BE69-6D37CBD516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88D7DDBE-C865-4F05-B6F5-3E2BBB15FDA7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BF365C6-4DF1-469F-A081-5BB98147233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A1C573-E95F-4CC5-A4BE-0E74960DBC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02A35681-195F-407A-BB6C-7E3B4E241132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F6DC0B3-1B79-4824-B73B-DC9B7AA77A08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439D9EA3-D6F8-4D8A-8C91-B7BCDD4883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F8776E0-353D-4DBE-918C-2BE4D9ED22C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EB1A981A-C15F-48BC-856D-45BFDE402164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CA1B7D91-52B4-4C4E-9872-DAE627C5BD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D5301F3-CDC0-4F62-A7F3-64DF1FAFB6C3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5363AC9-A7FE-4ED9-A4AE-BF1F41479440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5C058E5-1B77-4F37-8A90-6C2DB0C9F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3F3FD432-7B0C-441D-887D-260F088129D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1D3348D-CD05-48E5-89ED-528A62DA8118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8C904B9B-CFB8-4878-BE89-64B7783A68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15810B6-1DFF-43DE-849F-E24988A1AC2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FDE3FDD-B76C-49E7-81B4-7302EAE01430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CC2966EC-F4C0-41FC-88ED-2E5F725EA0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92230FDE-430C-429C-A396-DFCEF2CE147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53056242-C21F-4347-8E6E-305C959935E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954A2AB-7A1B-4F20-8556-0C283B584BE2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C31D32E9-A207-4C49-AAE0-5A541EE5B5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0027A521-04C3-4807-A55B-38087BBBA70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2ED5713B-0A5B-5944-BEBB-63C8BF5985F2}"/>
              </a:ext>
            </a:extLst>
          </p:cNvPr>
          <p:cNvGrpSpPr/>
          <p:nvPr userDrawn="1"/>
        </p:nvGrpSpPr>
        <p:grpSpPr>
          <a:xfrm>
            <a:off x="510639" y="293096"/>
            <a:ext cx="2388067" cy="301237"/>
            <a:chOff x="510639" y="293688"/>
            <a:chExt cx="2594512" cy="327279"/>
          </a:xfrm>
        </p:grpSpPr>
        <p:sp>
          <p:nvSpPr>
            <p:cNvPr id="140" name="Freihandform: Form 139">
              <a:extLst>
                <a:ext uri="{FF2B5EF4-FFF2-40B4-BE49-F238E27FC236}">
                  <a16:creationId xmlns:a16="http://schemas.microsoft.com/office/drawing/2014/main" id="{437E43AF-FE61-4974-AF5C-89AC3C8150FD}"/>
                </a:ext>
              </a:extLst>
            </p:cNvPr>
            <p:cNvSpPr/>
            <p:nvPr/>
          </p:nvSpPr>
          <p:spPr>
            <a:xfrm>
              <a:off x="519935" y="300420"/>
              <a:ext cx="78213" cy="124372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1" name="Freihandform: Form 140">
              <a:extLst>
                <a:ext uri="{FF2B5EF4-FFF2-40B4-BE49-F238E27FC236}">
                  <a16:creationId xmlns:a16="http://schemas.microsoft.com/office/drawing/2014/main" id="{B5C643AC-A2D8-483C-9099-467ED404B78A}"/>
                </a:ext>
              </a:extLst>
            </p:cNvPr>
            <p:cNvSpPr/>
            <p:nvPr/>
          </p:nvSpPr>
          <p:spPr>
            <a:xfrm>
              <a:off x="610329" y="332713"/>
              <a:ext cx="53852" cy="91758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2" name="Freihandform: Form 141">
              <a:extLst>
                <a:ext uri="{FF2B5EF4-FFF2-40B4-BE49-F238E27FC236}">
                  <a16:creationId xmlns:a16="http://schemas.microsoft.com/office/drawing/2014/main" id="{DC1A9518-9882-4BEE-9042-98771FD22461}"/>
                </a:ext>
              </a:extLst>
            </p:cNvPr>
            <p:cNvSpPr/>
            <p:nvPr/>
          </p:nvSpPr>
          <p:spPr>
            <a:xfrm>
              <a:off x="679247" y="294971"/>
              <a:ext cx="26605" cy="129501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3" name="Freihandform: Form 142">
              <a:extLst>
                <a:ext uri="{FF2B5EF4-FFF2-40B4-BE49-F238E27FC236}">
                  <a16:creationId xmlns:a16="http://schemas.microsoft.com/office/drawing/2014/main" id="{CB6A9836-D16F-4BD4-B96F-43DCD4A1ADD1}"/>
                </a:ext>
              </a:extLst>
            </p:cNvPr>
            <p:cNvSpPr/>
            <p:nvPr/>
          </p:nvSpPr>
          <p:spPr>
            <a:xfrm>
              <a:off x="725086" y="332795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4" name="Freihandform: Form 143">
              <a:extLst>
                <a:ext uri="{FF2B5EF4-FFF2-40B4-BE49-F238E27FC236}">
                  <a16:creationId xmlns:a16="http://schemas.microsoft.com/office/drawing/2014/main" id="{ABBE1A7C-C42E-43DA-AC68-19B53213BFEA}"/>
                </a:ext>
              </a:extLst>
            </p:cNvPr>
            <p:cNvSpPr/>
            <p:nvPr/>
          </p:nvSpPr>
          <p:spPr>
            <a:xfrm>
              <a:off x="825417" y="293688"/>
              <a:ext cx="83663" cy="133347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5" name="Freihandform: Form 144">
              <a:extLst>
                <a:ext uri="{FF2B5EF4-FFF2-40B4-BE49-F238E27FC236}">
                  <a16:creationId xmlns:a16="http://schemas.microsoft.com/office/drawing/2014/main" id="{36C1CDBB-E0C9-4C76-AEE4-24D676B22582}"/>
                </a:ext>
              </a:extLst>
            </p:cNvPr>
            <p:cNvSpPr/>
            <p:nvPr/>
          </p:nvSpPr>
          <p:spPr>
            <a:xfrm>
              <a:off x="936967" y="332713"/>
              <a:ext cx="53852" cy="91758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6" name="Freihandform: Form 145">
              <a:extLst>
                <a:ext uri="{FF2B5EF4-FFF2-40B4-BE49-F238E27FC236}">
                  <a16:creationId xmlns:a16="http://schemas.microsoft.com/office/drawing/2014/main" id="{867D40B8-3DC0-48CD-8C10-83ACD74CC070}"/>
                </a:ext>
              </a:extLst>
            </p:cNvPr>
            <p:cNvSpPr/>
            <p:nvPr/>
          </p:nvSpPr>
          <p:spPr>
            <a:xfrm>
              <a:off x="1005565" y="294971"/>
              <a:ext cx="26605" cy="129501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7" name="Freihandform: Form 146">
              <a:extLst>
                <a:ext uri="{FF2B5EF4-FFF2-40B4-BE49-F238E27FC236}">
                  <a16:creationId xmlns:a16="http://schemas.microsoft.com/office/drawing/2014/main" id="{5E72B66D-AA60-4159-88C6-253B8BCA5544}"/>
                </a:ext>
              </a:extLst>
            </p:cNvPr>
            <p:cNvSpPr/>
            <p:nvPr/>
          </p:nvSpPr>
          <p:spPr>
            <a:xfrm>
              <a:off x="1052044" y="332474"/>
              <a:ext cx="75649" cy="94240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8" name="Freihandform: Form 147">
              <a:extLst>
                <a:ext uri="{FF2B5EF4-FFF2-40B4-BE49-F238E27FC236}">
                  <a16:creationId xmlns:a16="http://schemas.microsoft.com/office/drawing/2014/main" id="{F4BEF0C1-E2DD-43FB-8B64-132092CB0783}"/>
                </a:ext>
              </a:extLst>
            </p:cNvPr>
            <p:cNvSpPr/>
            <p:nvPr/>
          </p:nvSpPr>
          <p:spPr>
            <a:xfrm>
              <a:off x="1145644" y="293688"/>
              <a:ext cx="77252" cy="131103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9" name="Freihandform: Form 148">
              <a:extLst>
                <a:ext uri="{FF2B5EF4-FFF2-40B4-BE49-F238E27FC236}">
                  <a16:creationId xmlns:a16="http://schemas.microsoft.com/office/drawing/2014/main" id="{7943A356-FF21-4F42-A98E-DC40CF938137}"/>
                </a:ext>
              </a:extLst>
            </p:cNvPr>
            <p:cNvSpPr/>
            <p:nvPr/>
          </p:nvSpPr>
          <p:spPr>
            <a:xfrm>
              <a:off x="1246937" y="359721"/>
              <a:ext cx="43915" cy="19874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0" name="Freihandform: Form 149">
              <a:extLst>
                <a:ext uri="{FF2B5EF4-FFF2-40B4-BE49-F238E27FC236}">
                  <a16:creationId xmlns:a16="http://schemas.microsoft.com/office/drawing/2014/main" id="{5414F293-7400-4F17-8C14-513181D5C558}"/>
                </a:ext>
              </a:extLst>
            </p:cNvPr>
            <p:cNvSpPr/>
            <p:nvPr/>
          </p:nvSpPr>
          <p:spPr>
            <a:xfrm>
              <a:off x="1302071" y="300420"/>
              <a:ext cx="115397" cy="124051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1" name="Freihandform: Form 150">
              <a:extLst>
                <a:ext uri="{FF2B5EF4-FFF2-40B4-BE49-F238E27FC236}">
                  <a16:creationId xmlns:a16="http://schemas.microsoft.com/office/drawing/2014/main" id="{DF9046FE-F7DE-4669-A7FF-9C4BB6220EF1}"/>
                </a:ext>
              </a:extLst>
            </p:cNvPr>
            <p:cNvSpPr/>
            <p:nvPr/>
          </p:nvSpPr>
          <p:spPr>
            <a:xfrm>
              <a:off x="1436060" y="293688"/>
              <a:ext cx="20835" cy="130783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2" name="Freihandform: Form 151">
              <a:extLst>
                <a:ext uri="{FF2B5EF4-FFF2-40B4-BE49-F238E27FC236}">
                  <a16:creationId xmlns:a16="http://schemas.microsoft.com/office/drawing/2014/main" id="{17E9EBD2-1308-471A-9C37-29FF027D0A14}"/>
                </a:ext>
              </a:extLst>
            </p:cNvPr>
            <p:cNvSpPr/>
            <p:nvPr/>
          </p:nvSpPr>
          <p:spPr>
            <a:xfrm>
              <a:off x="1479334" y="332795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3" name="Freihandform: Form 152">
              <a:extLst>
                <a:ext uri="{FF2B5EF4-FFF2-40B4-BE49-F238E27FC236}">
                  <a16:creationId xmlns:a16="http://schemas.microsoft.com/office/drawing/2014/main" id="{84D6E57D-0E5B-43A4-8081-53B3E5629513}"/>
                </a:ext>
              </a:extLst>
            </p:cNvPr>
            <p:cNvSpPr/>
            <p:nvPr/>
          </p:nvSpPr>
          <p:spPr>
            <a:xfrm>
              <a:off x="1572613" y="334718"/>
              <a:ext cx="85906" cy="89753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4" name="Freihandform: Form 153">
              <a:extLst>
                <a:ext uri="{FF2B5EF4-FFF2-40B4-BE49-F238E27FC236}">
                  <a16:creationId xmlns:a16="http://schemas.microsoft.com/office/drawing/2014/main" id="{0A41A31B-8432-4CD9-B0E9-2DA62432F17C}"/>
                </a:ext>
              </a:extLst>
            </p:cNvPr>
            <p:cNvSpPr/>
            <p:nvPr/>
          </p:nvSpPr>
          <p:spPr>
            <a:xfrm>
              <a:off x="1669733" y="332795"/>
              <a:ext cx="75975" cy="93920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5" name="Freihandform: Form 154">
              <a:extLst>
                <a:ext uri="{FF2B5EF4-FFF2-40B4-BE49-F238E27FC236}">
                  <a16:creationId xmlns:a16="http://schemas.microsoft.com/office/drawing/2014/main" id="{46FF8D8D-5FE8-43E4-A552-F9B3C3353B29}"/>
                </a:ext>
              </a:extLst>
            </p:cNvPr>
            <p:cNvSpPr/>
            <p:nvPr/>
          </p:nvSpPr>
          <p:spPr>
            <a:xfrm>
              <a:off x="1772314" y="332795"/>
              <a:ext cx="77252" cy="9199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6" name="Freihandform: Form 155">
              <a:extLst>
                <a:ext uri="{FF2B5EF4-FFF2-40B4-BE49-F238E27FC236}">
                  <a16:creationId xmlns:a16="http://schemas.microsoft.com/office/drawing/2014/main" id="{7AA2D936-8A2E-448A-A3FE-121C90D55E4E}"/>
                </a:ext>
              </a:extLst>
            </p:cNvPr>
            <p:cNvSpPr/>
            <p:nvPr/>
          </p:nvSpPr>
          <p:spPr>
            <a:xfrm>
              <a:off x="1871684" y="293688"/>
              <a:ext cx="83663" cy="133347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7" name="Freihandform: Form 156">
              <a:extLst>
                <a:ext uri="{FF2B5EF4-FFF2-40B4-BE49-F238E27FC236}">
                  <a16:creationId xmlns:a16="http://schemas.microsoft.com/office/drawing/2014/main" id="{7D614E3F-8E38-48A8-A892-90F1BE5DFC41}"/>
                </a:ext>
              </a:extLst>
            </p:cNvPr>
            <p:cNvSpPr/>
            <p:nvPr/>
          </p:nvSpPr>
          <p:spPr>
            <a:xfrm>
              <a:off x="1978106" y="332795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8" name="Freihandform: Form 157">
              <a:extLst>
                <a:ext uri="{FF2B5EF4-FFF2-40B4-BE49-F238E27FC236}">
                  <a16:creationId xmlns:a16="http://schemas.microsoft.com/office/drawing/2014/main" id="{EB14B71E-9496-43D9-A4EC-B717F5048611}"/>
                </a:ext>
              </a:extLst>
            </p:cNvPr>
            <p:cNvSpPr/>
            <p:nvPr/>
          </p:nvSpPr>
          <p:spPr>
            <a:xfrm>
              <a:off x="2083566" y="332713"/>
              <a:ext cx="53852" cy="91758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9" name="Freihandform: Form 158">
              <a:extLst>
                <a:ext uri="{FF2B5EF4-FFF2-40B4-BE49-F238E27FC236}">
                  <a16:creationId xmlns:a16="http://schemas.microsoft.com/office/drawing/2014/main" id="{790BD971-8810-42D7-9C91-5E31E7DE2C4E}"/>
                </a:ext>
              </a:extLst>
            </p:cNvPr>
            <p:cNvSpPr/>
            <p:nvPr/>
          </p:nvSpPr>
          <p:spPr>
            <a:xfrm>
              <a:off x="2150561" y="359721"/>
              <a:ext cx="43915" cy="19874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0" name="Freihandform: Form 159">
              <a:extLst>
                <a:ext uri="{FF2B5EF4-FFF2-40B4-BE49-F238E27FC236}">
                  <a16:creationId xmlns:a16="http://schemas.microsoft.com/office/drawing/2014/main" id="{32DC33CF-54F4-4299-82CD-B2375462167E}"/>
                </a:ext>
              </a:extLst>
            </p:cNvPr>
            <p:cNvSpPr/>
            <p:nvPr/>
          </p:nvSpPr>
          <p:spPr>
            <a:xfrm>
              <a:off x="2221081" y="300420"/>
              <a:ext cx="97126" cy="126295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28E7B4C3-0E3A-4A63-A15B-FBBF0A790C9D}"/>
                </a:ext>
              </a:extLst>
            </p:cNvPr>
            <p:cNvSpPr/>
            <p:nvPr/>
          </p:nvSpPr>
          <p:spPr>
            <a:xfrm>
              <a:off x="2346415" y="332795"/>
              <a:ext cx="76931" cy="9199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DE83242C-3DAB-4186-A2CF-ABC5CE556834}"/>
                </a:ext>
              </a:extLst>
            </p:cNvPr>
            <p:cNvSpPr/>
            <p:nvPr/>
          </p:nvSpPr>
          <p:spPr>
            <a:xfrm>
              <a:off x="2447067" y="294971"/>
              <a:ext cx="26605" cy="129501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CE94665A-1959-4E8D-8843-30D9AA88A120}"/>
                </a:ext>
              </a:extLst>
            </p:cNvPr>
            <p:cNvSpPr/>
            <p:nvPr/>
          </p:nvSpPr>
          <p:spPr>
            <a:xfrm>
              <a:off x="2488418" y="335039"/>
              <a:ext cx="87189" cy="89753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6D37DE7E-42BD-43AE-AD54-7C9257288F34}"/>
                </a:ext>
              </a:extLst>
            </p:cNvPr>
            <p:cNvSpPr/>
            <p:nvPr/>
          </p:nvSpPr>
          <p:spPr>
            <a:xfrm>
              <a:off x="2585223" y="332795"/>
              <a:ext cx="81739" cy="93920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EA89A64B-C979-45EC-B4F6-949EB2001B5D}"/>
                </a:ext>
              </a:extLst>
            </p:cNvPr>
            <p:cNvSpPr/>
            <p:nvPr/>
          </p:nvSpPr>
          <p:spPr>
            <a:xfrm>
              <a:off x="2690683" y="332713"/>
              <a:ext cx="53852" cy="91758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D8F4E6F5-DCF7-4013-87A5-43A2566A3AD9}"/>
                </a:ext>
              </a:extLst>
            </p:cNvPr>
            <p:cNvSpPr/>
            <p:nvPr/>
          </p:nvSpPr>
          <p:spPr>
            <a:xfrm>
              <a:off x="2754472" y="332474"/>
              <a:ext cx="69238" cy="94240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08B40D83-75AF-478E-9E62-44910A1F67F1}"/>
                </a:ext>
              </a:extLst>
            </p:cNvPr>
            <p:cNvSpPr/>
            <p:nvPr/>
          </p:nvSpPr>
          <p:spPr>
            <a:xfrm>
              <a:off x="2843264" y="294971"/>
              <a:ext cx="26605" cy="129501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4450C88D-A2CC-4995-B198-B8121FB36D4E}"/>
                </a:ext>
              </a:extLst>
            </p:cNvPr>
            <p:cNvSpPr/>
            <p:nvPr/>
          </p:nvSpPr>
          <p:spPr>
            <a:xfrm>
              <a:off x="2884935" y="306189"/>
              <a:ext cx="55775" cy="120525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170097FC-1C77-4FDF-AEC4-E77CD945C51D}"/>
                </a:ext>
              </a:extLst>
            </p:cNvPr>
            <p:cNvSpPr/>
            <p:nvPr/>
          </p:nvSpPr>
          <p:spPr>
            <a:xfrm>
              <a:off x="2957058" y="296573"/>
              <a:ext cx="75970" cy="130142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D9C6AC2B-710E-4330-AC9D-A8316145CCED}"/>
                </a:ext>
              </a:extLst>
            </p:cNvPr>
            <p:cNvSpPr/>
            <p:nvPr/>
          </p:nvSpPr>
          <p:spPr>
            <a:xfrm>
              <a:off x="3049376" y="306189"/>
              <a:ext cx="55775" cy="120525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A44EACAA-23D2-4B0E-A7A5-160CBF43FAA6}"/>
                </a:ext>
              </a:extLst>
            </p:cNvPr>
            <p:cNvSpPr/>
            <p:nvPr/>
          </p:nvSpPr>
          <p:spPr>
            <a:xfrm>
              <a:off x="510639" y="494671"/>
              <a:ext cx="92638" cy="124051"/>
            </a:xfrm>
            <a:custGeom>
              <a:avLst/>
              <a:gdLst>
                <a:gd name="connsiteX0" fmla="*/ 275273 w 275272"/>
                <a:gd name="connsiteY0" fmla="*/ 60960 h 368617"/>
                <a:gd name="connsiteX1" fmla="*/ 170498 w 275272"/>
                <a:gd name="connsiteY1" fmla="*/ 60960 h 368617"/>
                <a:gd name="connsiteX2" fmla="*/ 170498 w 275272"/>
                <a:gd name="connsiteY2" fmla="*/ 368617 h 368617"/>
                <a:gd name="connsiteX3" fmla="*/ 104775 w 275272"/>
                <a:gd name="connsiteY3" fmla="*/ 368617 h 368617"/>
                <a:gd name="connsiteX4" fmla="*/ 104775 w 275272"/>
                <a:gd name="connsiteY4" fmla="*/ 60960 h 368617"/>
                <a:gd name="connsiteX5" fmla="*/ 0 w 275272"/>
                <a:gd name="connsiteY5" fmla="*/ 60960 h 368617"/>
                <a:gd name="connsiteX6" fmla="*/ 0 w 275272"/>
                <a:gd name="connsiteY6" fmla="*/ 0 h 368617"/>
                <a:gd name="connsiteX7" fmla="*/ 275273 w 275272"/>
                <a:gd name="connsiteY7" fmla="*/ 0 h 368617"/>
                <a:gd name="connsiteX8" fmla="*/ 275273 w 275272"/>
                <a:gd name="connsiteY8" fmla="*/ 6096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272" h="368617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C1445E99-D980-4FC1-8219-60CB5C0DAA20}"/>
                </a:ext>
              </a:extLst>
            </p:cNvPr>
            <p:cNvSpPr/>
            <p:nvPr/>
          </p:nvSpPr>
          <p:spPr>
            <a:xfrm>
              <a:off x="603919" y="526726"/>
              <a:ext cx="81739" cy="93920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7 w 242887"/>
                <a:gd name="connsiteY5" fmla="*/ 160972 h 279082"/>
                <a:gd name="connsiteX6" fmla="*/ 133350 w 242887"/>
                <a:gd name="connsiteY6" fmla="*/ 225742 h 279082"/>
                <a:gd name="connsiteX7" fmla="*/ 199073 w 242887"/>
                <a:gd name="connsiteY7" fmla="*/ 194310 h 279082"/>
                <a:gd name="connsiteX8" fmla="*/ 238125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8F5B513C-3EB1-4F96-AE3F-FA2E5E55A045}"/>
                </a:ext>
              </a:extLst>
            </p:cNvPr>
            <p:cNvSpPr/>
            <p:nvPr/>
          </p:nvSpPr>
          <p:spPr>
            <a:xfrm>
              <a:off x="703929" y="526405"/>
              <a:ext cx="75649" cy="94241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3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60BC311B-E1F4-4DE2-B87A-9DAD7B90EA03}"/>
                </a:ext>
              </a:extLst>
            </p:cNvPr>
            <p:cNvSpPr/>
            <p:nvPr/>
          </p:nvSpPr>
          <p:spPr>
            <a:xfrm>
              <a:off x="797850" y="487619"/>
              <a:ext cx="76931" cy="131103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6D220A37-F8FD-4C97-B886-3789AD45A1C3}"/>
                </a:ext>
              </a:extLst>
            </p:cNvPr>
            <p:cNvSpPr/>
            <p:nvPr/>
          </p:nvSpPr>
          <p:spPr>
            <a:xfrm>
              <a:off x="901707" y="526726"/>
              <a:ext cx="76931" cy="9199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7618119C-41E9-43BA-92E1-7139F37520B7}"/>
                </a:ext>
              </a:extLst>
            </p:cNvPr>
            <p:cNvSpPr/>
            <p:nvPr/>
          </p:nvSpPr>
          <p:spPr>
            <a:xfrm>
              <a:off x="1002359" y="488901"/>
              <a:ext cx="26605" cy="129501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A5F874B1-F5C4-402C-9749-2AB3C2EAFCFC}"/>
                </a:ext>
              </a:extLst>
            </p:cNvPr>
            <p:cNvSpPr/>
            <p:nvPr/>
          </p:nvSpPr>
          <p:spPr>
            <a:xfrm>
              <a:off x="1045312" y="526405"/>
              <a:ext cx="69238" cy="94241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2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169F6428-4F5D-4675-B468-7AAA6EA2A8D9}"/>
                </a:ext>
              </a:extLst>
            </p:cNvPr>
            <p:cNvSpPr/>
            <p:nvPr/>
          </p:nvSpPr>
          <p:spPr>
            <a:xfrm>
              <a:off x="1131540" y="526405"/>
              <a:ext cx="75649" cy="94241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6ECA4213-C333-492A-8271-46DBC688C852}"/>
                </a:ext>
              </a:extLst>
            </p:cNvPr>
            <p:cNvSpPr/>
            <p:nvPr/>
          </p:nvSpPr>
          <p:spPr>
            <a:xfrm>
              <a:off x="1225460" y="487619"/>
              <a:ext cx="76931" cy="131103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CA31CA87-30A7-4449-9783-8DC969F2EACE}"/>
                </a:ext>
              </a:extLst>
            </p:cNvPr>
            <p:cNvSpPr/>
            <p:nvPr/>
          </p:nvSpPr>
          <p:spPr>
            <a:xfrm>
              <a:off x="1324189" y="526726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7C37FD0D-D89F-431F-9478-9D2638DB850F}"/>
                </a:ext>
              </a:extLst>
            </p:cNvPr>
            <p:cNvSpPr/>
            <p:nvPr/>
          </p:nvSpPr>
          <p:spPr>
            <a:xfrm>
              <a:off x="1482539" y="494671"/>
              <a:ext cx="77893" cy="124051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9A1255C6-12A9-459B-843F-7294ADDC1C1B}"/>
                </a:ext>
              </a:extLst>
            </p:cNvPr>
            <p:cNvSpPr/>
            <p:nvPr/>
          </p:nvSpPr>
          <p:spPr>
            <a:xfrm>
              <a:off x="1564279" y="526726"/>
              <a:ext cx="76290" cy="93920"/>
            </a:xfrm>
            <a:custGeom>
              <a:avLst/>
              <a:gdLst>
                <a:gd name="connsiteX0" fmla="*/ 115253 w 226694"/>
                <a:gd name="connsiteY0" fmla="*/ 107633 h 279082"/>
                <a:gd name="connsiteX1" fmla="*/ 165735 w 226694"/>
                <a:gd name="connsiteY1" fmla="*/ 113347 h 279082"/>
                <a:gd name="connsiteX2" fmla="*/ 165735 w 226694"/>
                <a:gd name="connsiteY2" fmla="*/ 103822 h 279082"/>
                <a:gd name="connsiteX3" fmla="*/ 106680 w 226694"/>
                <a:gd name="connsiteY3" fmla="*/ 52388 h 279082"/>
                <a:gd name="connsiteX4" fmla="*/ 39053 w 226694"/>
                <a:gd name="connsiteY4" fmla="*/ 67627 h 279082"/>
                <a:gd name="connsiteX5" fmla="*/ 25717 w 226694"/>
                <a:gd name="connsiteY5" fmla="*/ 15240 h 279082"/>
                <a:gd name="connsiteX6" fmla="*/ 113347 w 226694"/>
                <a:gd name="connsiteY6" fmla="*/ 0 h 279082"/>
                <a:gd name="connsiteX7" fmla="*/ 226695 w 226694"/>
                <a:gd name="connsiteY7" fmla="*/ 102870 h 279082"/>
                <a:gd name="connsiteX8" fmla="*/ 226695 w 226694"/>
                <a:gd name="connsiteY8" fmla="*/ 273367 h 279082"/>
                <a:gd name="connsiteX9" fmla="*/ 167640 w 226694"/>
                <a:gd name="connsiteY9" fmla="*/ 273367 h 279082"/>
                <a:gd name="connsiteX10" fmla="*/ 167640 w 226694"/>
                <a:gd name="connsiteY10" fmla="*/ 244792 h 279082"/>
                <a:gd name="connsiteX11" fmla="*/ 165735 w 226694"/>
                <a:gd name="connsiteY11" fmla="*/ 244792 h 279082"/>
                <a:gd name="connsiteX12" fmla="*/ 87630 w 226694"/>
                <a:gd name="connsiteY12" fmla="*/ 279083 h 279082"/>
                <a:gd name="connsiteX13" fmla="*/ 0 w 226694"/>
                <a:gd name="connsiteY13" fmla="*/ 194310 h 279082"/>
                <a:gd name="connsiteX14" fmla="*/ 115253 w 226694"/>
                <a:gd name="connsiteY14" fmla="*/ 107633 h 279082"/>
                <a:gd name="connsiteX15" fmla="*/ 104775 w 226694"/>
                <a:gd name="connsiteY15" fmla="*/ 232410 h 279082"/>
                <a:gd name="connsiteX16" fmla="*/ 165735 w 226694"/>
                <a:gd name="connsiteY16" fmla="*/ 200025 h 279082"/>
                <a:gd name="connsiteX17" fmla="*/ 165735 w 226694"/>
                <a:gd name="connsiteY17" fmla="*/ 153352 h 279082"/>
                <a:gd name="connsiteX18" fmla="*/ 121920 w 226694"/>
                <a:gd name="connsiteY18" fmla="*/ 148590 h 279082"/>
                <a:gd name="connsiteX19" fmla="*/ 60007 w 226694"/>
                <a:gd name="connsiteY19" fmla="*/ 192405 h 279082"/>
                <a:gd name="connsiteX20" fmla="*/ 104775 w 226694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6694" h="279082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BD88DE7C-655E-4731-99FA-B7E34983ECB8}"/>
                </a:ext>
              </a:extLst>
            </p:cNvPr>
            <p:cNvSpPr/>
            <p:nvPr/>
          </p:nvSpPr>
          <p:spPr>
            <a:xfrm>
              <a:off x="1667175" y="487619"/>
              <a:ext cx="78854" cy="131103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F31C4EAF-8B93-4132-872E-D12B732A4099}"/>
                </a:ext>
              </a:extLst>
            </p:cNvPr>
            <p:cNvSpPr/>
            <p:nvPr/>
          </p:nvSpPr>
          <p:spPr>
            <a:xfrm>
              <a:off x="1761416" y="528970"/>
              <a:ext cx="77252" cy="9199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02DF8183-C86A-43FA-8D36-ACC72C3197B3}"/>
                </a:ext>
              </a:extLst>
            </p:cNvPr>
            <p:cNvSpPr/>
            <p:nvPr/>
          </p:nvSpPr>
          <p:spPr>
            <a:xfrm>
              <a:off x="1865594" y="487299"/>
              <a:ext cx="20835" cy="131103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E6503672-A51F-4F6C-A4CF-65F4050E558B}"/>
                </a:ext>
              </a:extLst>
            </p:cNvPr>
            <p:cNvSpPr/>
            <p:nvPr/>
          </p:nvSpPr>
          <p:spPr>
            <a:xfrm>
              <a:off x="1905021" y="500120"/>
              <a:ext cx="55775" cy="120526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8 w 165734"/>
                <a:gd name="connsiteY3" fmla="*/ 282892 h 358140"/>
                <a:gd name="connsiteX4" fmla="*/ 40958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96BAB337-D064-4F11-8A5E-31DBC2E4704B}"/>
                </a:ext>
              </a:extLst>
            </p:cNvPr>
            <p:cNvSpPr/>
            <p:nvPr/>
          </p:nvSpPr>
          <p:spPr>
            <a:xfrm>
              <a:off x="1977144" y="490504"/>
              <a:ext cx="75970" cy="130142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1AE128CD-EB21-4D9D-BBA0-37A4055A2285}"/>
                </a:ext>
              </a:extLst>
            </p:cNvPr>
            <p:cNvSpPr/>
            <p:nvPr/>
          </p:nvSpPr>
          <p:spPr>
            <a:xfrm>
              <a:off x="2069462" y="500120"/>
              <a:ext cx="55775" cy="120526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2870 w 165734"/>
                <a:gd name="connsiteY13" fmla="*/ 138113 h 358140"/>
                <a:gd name="connsiteX14" fmla="*/ 102870 w 165734"/>
                <a:gd name="connsiteY14" fmla="*/ 269558 h 358140"/>
                <a:gd name="connsiteX15" fmla="*/ 131445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200" name="Freihandform: Form 87">
            <a:extLst>
              <a:ext uri="{FF2B5EF4-FFF2-40B4-BE49-F238E27FC236}">
                <a16:creationId xmlns:a16="http://schemas.microsoft.com/office/drawing/2014/main" id="{FEE9A2C3-D2A4-EF45-896D-DC8FC14D6C80}"/>
              </a:ext>
            </a:extLst>
          </p:cNvPr>
          <p:cNvSpPr/>
          <p:nvPr userDrawn="1"/>
        </p:nvSpPr>
        <p:spPr>
          <a:xfrm>
            <a:off x="10337736" y="300704"/>
            <a:ext cx="1403903" cy="535987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1E42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493" y="300704"/>
            <a:ext cx="1543659" cy="541185"/>
          </a:xfrm>
          <a:prstGeom prst="rect">
            <a:avLst/>
          </a:prstGeom>
        </p:spPr>
      </p:pic>
      <p:sp>
        <p:nvSpPr>
          <p:cNvPr id="6" name="Bildplatzhalter 5"/>
          <p:cNvSpPr>
            <a:spLocks noGrp="1"/>
          </p:cNvSpPr>
          <p:nvPr>
            <p:ph type="pic" sz="quarter" idx="12"/>
          </p:nvPr>
        </p:nvSpPr>
        <p:spPr>
          <a:xfrm>
            <a:off x="6524462" y="300704"/>
            <a:ext cx="1731896" cy="53598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606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C6F2-BFE9-4DA1-8335-8212BBEBDEDB}" type="datetime4">
              <a:rPr lang="de-DE" smtClean="0"/>
              <a:t>17. Oktober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F8056C4-F1A1-4860-B863-70A38CCE2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4B92765-C038-4DB7-B6CF-33827BB87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B48DD939-0764-4598-B8A8-5EF7FD589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169AC75-2D8F-414A-A2F5-470DEC8B5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8F9E3F2-C660-4ABB-83AF-3F5B3E2F77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CAB2683D-D5E7-45B9-9133-F4CFD483FA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52E3AD3-9675-4713-A437-FEFA1B5400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852432A-5FDF-42C2-BC07-F1752012B8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2468A8B-4816-458C-AEB6-53AB9CF88AF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F92C0AC2-BCD1-47F5-99DB-35823E79AB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6E5C8951-ED83-4B8D-A041-11DC6291DD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6190" y="1632184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7D6B79FA-8C76-4CA9-AF55-F7541503EC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6332" y="1632184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07 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89249A36-CB58-4007-8E81-30FA75194B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6190" y="2355533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953A9A61-99D0-44B5-89EB-1D1035F914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6332" y="2355533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08 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80B7F99-D2A6-486E-BB92-8192AB563E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36190" y="452558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C08D70F6-D151-42E1-8F5E-DD5ADD0927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6332" y="4525580"/>
            <a:ext cx="30784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11 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34991AD2-EBFD-4358-9611-2BE7F693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6190" y="3078882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E6132B6E-46AD-4F19-ACEF-FC5E2EBEEE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6332" y="3078882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09 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5B29B58B-9C14-4145-95A8-C62AC51F1A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190" y="3802231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6DB4F9-1F61-4B1E-8694-CF32F6ABEB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6332" y="380223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10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139CCA6-FA40-4FAD-991E-8F0D932F40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6190" y="524893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4ABC58A4-2FF6-4DD6-B7CE-07D57A9854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6332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12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3D1D4D-3108-48AF-9002-E2787CA1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37A4DE60-6537-42AA-B80E-663634EF66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9" name="Textplatzhalter 6">
            <a:extLst>
              <a:ext uri="{FF2B5EF4-FFF2-40B4-BE49-F238E27FC236}">
                <a16:creationId xmlns:a16="http://schemas.microsoft.com/office/drawing/2014/main" id="{D6F3326C-A71E-4096-84A9-CBF2623C8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40" name="Textplatzhalter 6">
            <a:extLst>
              <a:ext uri="{FF2B5EF4-FFF2-40B4-BE49-F238E27FC236}">
                <a16:creationId xmlns:a16="http://schemas.microsoft.com/office/drawing/2014/main" id="{E6C7796D-6ED1-4B91-AD58-8FB5EA6F6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41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90014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pic>
        <p:nvPicPr>
          <p:cNvPr id="42" name="Grafik 41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829" y="301184"/>
            <a:ext cx="1102192" cy="3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016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0691-36C4-442B-801E-F5F906A331D4}" type="datetime4">
              <a:rPr lang="de-DE" smtClean="0"/>
              <a:t>17. Oktober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9" name="Bildplatzhalter 8">
            <a:extLst>
              <a:ext uri="{FF2B5EF4-FFF2-40B4-BE49-F238E27FC236}">
                <a16:creationId xmlns:a16="http://schemas.microsoft.com/office/drawing/2014/main" id="{C307E1A8-BB91-4A01-9481-49FD8B5663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7ADEC47A-086D-40D0-ACA4-691359338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06329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814385D7-3CBE-40E3-B67F-C8C515F3C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BF0108A6-83E5-4EB1-9FFE-599D1B8CC3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267C2477-3228-475F-AFD7-A441A08AA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372EDABB-0CB3-495E-B38E-EBB187C3F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F8DE391A-D3CD-46A0-9DA6-BE18B632C9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6D22FFA5-3E37-4F35-A696-49186B6B1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BFD50D54-7BD1-4F76-8C9C-C2D77E5924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1CB17604-E112-4197-B54C-292891529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D30B4D90-1B5E-403E-AD31-C32004032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72B1944A-640B-4200-A785-CFA163F718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CB7BBA-6A53-45DD-882E-1DF6A9978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E56B6C1-047C-44D7-B1DD-8B723581E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D3C98-AF8F-400F-858D-1D6CD4B9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E94ED47E-AE0F-46CF-A861-AA42DCC1736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2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90014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pic>
        <p:nvPicPr>
          <p:cNvPr id="25" name="Grafik 24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829" y="301184"/>
            <a:ext cx="1102192" cy="3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590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8" y="2875002"/>
            <a:ext cx="11157743" cy="1107996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Kapiteltrenner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DBE663-8CF8-4EA4-AF83-5C771F9A06FE}" type="datetime4">
              <a:rPr lang="de-DE" smtClean="0"/>
              <a:t>17. Oktober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7987594-F169-42FB-8839-77BF8D405E37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A6E8BA9-5951-4163-8A80-4621C65DA816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59DAB7DF-1308-4B09-91FE-7DF38D658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7654828-5D94-4A05-BD5F-25792A149E05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9D3F2F75-1623-4F64-97FE-EA0C4D9FABDC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042E0F0-49A6-465F-A607-A4C2EFB548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9D612980-2A2D-4E94-8238-9C67C608554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CE76F8C-9B22-4BB3-B2D6-15EC2A58C7A7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843E82-BEFA-4CF2-BA2F-3C80060D31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762BE88-2459-479F-84FF-4DF483AA142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04E26F8-EA1A-4C6F-92E1-8F6F98ABFA1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A8A854C-301D-4327-AEA2-BCC20A8872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5A547124-456E-49C6-8FC8-111D0AAFEB7F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3B26B5D-1FEC-45B5-B34A-6A1B50955F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3423A679-4F5C-456E-AB6C-7A18EA3E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69754FAD-5E71-4087-B3E8-0FEC37E0D864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7C156EC4-BDB3-4DEA-9B78-E98FCFD2F54B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9E9C384D-D46B-429F-9A97-86F6E3560F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64B7918E-86D1-49EB-8917-1468D42A6E25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750A6733-FD78-4442-98B4-E2BED64B460F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77BB574D-D198-49E4-874D-732C0CBD5B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7A72ACB-A6A0-450F-A8F3-9CA35EFC5560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4970FA2-8D2D-462F-BD21-BDE052DC582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7C30986-FB99-416E-BC3E-3BAEC067C1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4CE018F4-A860-49B3-B4CD-A328759F15C6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2BACBD-0A67-4A9A-B5DC-10C76F5DE4C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65F81584-9968-42FA-B3A9-1C13CEAE92A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B6D353C6-61DE-4475-8AC6-6D8AF12D49FB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35008F2-D1D5-498F-9932-727B677C0AD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9E72FA59-B055-4F1F-8F32-E797C18F96F9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B89FA96C-C88D-4C6A-BE88-F3E3083BC5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CD67028C-ACEA-4E1C-BF3F-B09177D4335E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AAA9021C-F612-7A45-9064-2DAABFCA9C99}"/>
              </a:ext>
            </a:extLst>
          </p:cNvPr>
          <p:cNvGrpSpPr/>
          <p:nvPr userDrawn="1"/>
        </p:nvGrpSpPr>
        <p:grpSpPr>
          <a:xfrm>
            <a:off x="510639" y="293096"/>
            <a:ext cx="2388067" cy="301237"/>
            <a:chOff x="510639" y="293688"/>
            <a:chExt cx="2594512" cy="327279"/>
          </a:xfrm>
        </p:grpSpPr>
        <p:sp>
          <p:nvSpPr>
            <p:cNvPr id="92" name="Freihandform: Form 139">
              <a:extLst>
                <a:ext uri="{FF2B5EF4-FFF2-40B4-BE49-F238E27FC236}">
                  <a16:creationId xmlns:a16="http://schemas.microsoft.com/office/drawing/2014/main" id="{239FEB29-764E-D84F-A6B9-E572E9BA35FA}"/>
                </a:ext>
              </a:extLst>
            </p:cNvPr>
            <p:cNvSpPr/>
            <p:nvPr/>
          </p:nvSpPr>
          <p:spPr>
            <a:xfrm>
              <a:off x="519935" y="300420"/>
              <a:ext cx="78213" cy="124372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3" name="Freihandform: Form 140">
              <a:extLst>
                <a:ext uri="{FF2B5EF4-FFF2-40B4-BE49-F238E27FC236}">
                  <a16:creationId xmlns:a16="http://schemas.microsoft.com/office/drawing/2014/main" id="{30E07473-1FE4-ED4D-ABDA-C4460B82C76D}"/>
                </a:ext>
              </a:extLst>
            </p:cNvPr>
            <p:cNvSpPr/>
            <p:nvPr/>
          </p:nvSpPr>
          <p:spPr>
            <a:xfrm>
              <a:off x="610329" y="332713"/>
              <a:ext cx="53852" cy="91758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4" name="Freihandform: Form 141">
              <a:extLst>
                <a:ext uri="{FF2B5EF4-FFF2-40B4-BE49-F238E27FC236}">
                  <a16:creationId xmlns:a16="http://schemas.microsoft.com/office/drawing/2014/main" id="{ACFFFEA1-E2B9-BF4B-8614-D4E5B5F85F27}"/>
                </a:ext>
              </a:extLst>
            </p:cNvPr>
            <p:cNvSpPr/>
            <p:nvPr/>
          </p:nvSpPr>
          <p:spPr>
            <a:xfrm>
              <a:off x="679247" y="294971"/>
              <a:ext cx="26605" cy="129501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142">
              <a:extLst>
                <a:ext uri="{FF2B5EF4-FFF2-40B4-BE49-F238E27FC236}">
                  <a16:creationId xmlns:a16="http://schemas.microsoft.com/office/drawing/2014/main" id="{DCFE20F4-1FAA-3B4B-AFD3-FE5FED6F8703}"/>
                </a:ext>
              </a:extLst>
            </p:cNvPr>
            <p:cNvSpPr/>
            <p:nvPr/>
          </p:nvSpPr>
          <p:spPr>
            <a:xfrm>
              <a:off x="725086" y="332795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143">
              <a:extLst>
                <a:ext uri="{FF2B5EF4-FFF2-40B4-BE49-F238E27FC236}">
                  <a16:creationId xmlns:a16="http://schemas.microsoft.com/office/drawing/2014/main" id="{3D433F7E-E5FB-4B45-87E4-D54E97FD3DEE}"/>
                </a:ext>
              </a:extLst>
            </p:cNvPr>
            <p:cNvSpPr/>
            <p:nvPr/>
          </p:nvSpPr>
          <p:spPr>
            <a:xfrm>
              <a:off x="825417" y="293688"/>
              <a:ext cx="83663" cy="133347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144">
              <a:extLst>
                <a:ext uri="{FF2B5EF4-FFF2-40B4-BE49-F238E27FC236}">
                  <a16:creationId xmlns:a16="http://schemas.microsoft.com/office/drawing/2014/main" id="{39EB8253-0480-F945-BF50-3C39BC415AEF}"/>
                </a:ext>
              </a:extLst>
            </p:cNvPr>
            <p:cNvSpPr/>
            <p:nvPr/>
          </p:nvSpPr>
          <p:spPr>
            <a:xfrm>
              <a:off x="936967" y="332713"/>
              <a:ext cx="53852" cy="91758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145">
              <a:extLst>
                <a:ext uri="{FF2B5EF4-FFF2-40B4-BE49-F238E27FC236}">
                  <a16:creationId xmlns:a16="http://schemas.microsoft.com/office/drawing/2014/main" id="{3C3CAEA5-31EB-6B48-8A0B-FDDA4E37BB49}"/>
                </a:ext>
              </a:extLst>
            </p:cNvPr>
            <p:cNvSpPr/>
            <p:nvPr/>
          </p:nvSpPr>
          <p:spPr>
            <a:xfrm>
              <a:off x="1005565" y="294971"/>
              <a:ext cx="26605" cy="129501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146">
              <a:extLst>
                <a:ext uri="{FF2B5EF4-FFF2-40B4-BE49-F238E27FC236}">
                  <a16:creationId xmlns:a16="http://schemas.microsoft.com/office/drawing/2014/main" id="{6BF62CD0-F5B5-8845-8426-81D7F83163CB}"/>
                </a:ext>
              </a:extLst>
            </p:cNvPr>
            <p:cNvSpPr/>
            <p:nvPr/>
          </p:nvSpPr>
          <p:spPr>
            <a:xfrm>
              <a:off x="1052044" y="332474"/>
              <a:ext cx="75649" cy="94240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147">
              <a:extLst>
                <a:ext uri="{FF2B5EF4-FFF2-40B4-BE49-F238E27FC236}">
                  <a16:creationId xmlns:a16="http://schemas.microsoft.com/office/drawing/2014/main" id="{74F82E2E-2B50-F84C-8BD0-1F0FD1E8B441}"/>
                </a:ext>
              </a:extLst>
            </p:cNvPr>
            <p:cNvSpPr/>
            <p:nvPr/>
          </p:nvSpPr>
          <p:spPr>
            <a:xfrm>
              <a:off x="1145644" y="293688"/>
              <a:ext cx="77252" cy="131103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48">
              <a:extLst>
                <a:ext uri="{FF2B5EF4-FFF2-40B4-BE49-F238E27FC236}">
                  <a16:creationId xmlns:a16="http://schemas.microsoft.com/office/drawing/2014/main" id="{764A666C-D860-AD49-B7E5-01027DAF2F9E}"/>
                </a:ext>
              </a:extLst>
            </p:cNvPr>
            <p:cNvSpPr/>
            <p:nvPr/>
          </p:nvSpPr>
          <p:spPr>
            <a:xfrm>
              <a:off x="1246937" y="359721"/>
              <a:ext cx="43915" cy="19874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49">
              <a:extLst>
                <a:ext uri="{FF2B5EF4-FFF2-40B4-BE49-F238E27FC236}">
                  <a16:creationId xmlns:a16="http://schemas.microsoft.com/office/drawing/2014/main" id="{A60FAD8F-356D-9A49-8917-F8D75E39E254}"/>
                </a:ext>
              </a:extLst>
            </p:cNvPr>
            <p:cNvSpPr/>
            <p:nvPr/>
          </p:nvSpPr>
          <p:spPr>
            <a:xfrm>
              <a:off x="1302071" y="300420"/>
              <a:ext cx="115397" cy="124051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50">
              <a:extLst>
                <a:ext uri="{FF2B5EF4-FFF2-40B4-BE49-F238E27FC236}">
                  <a16:creationId xmlns:a16="http://schemas.microsoft.com/office/drawing/2014/main" id="{2122BFDD-4180-3242-9DE6-1722C6BB87E1}"/>
                </a:ext>
              </a:extLst>
            </p:cNvPr>
            <p:cNvSpPr/>
            <p:nvPr/>
          </p:nvSpPr>
          <p:spPr>
            <a:xfrm>
              <a:off x="1436060" y="293688"/>
              <a:ext cx="20835" cy="130783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51">
              <a:extLst>
                <a:ext uri="{FF2B5EF4-FFF2-40B4-BE49-F238E27FC236}">
                  <a16:creationId xmlns:a16="http://schemas.microsoft.com/office/drawing/2014/main" id="{A137BDFA-16B4-5E4D-90CA-25E45475E283}"/>
                </a:ext>
              </a:extLst>
            </p:cNvPr>
            <p:cNvSpPr/>
            <p:nvPr/>
          </p:nvSpPr>
          <p:spPr>
            <a:xfrm>
              <a:off x="1479334" y="332795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52">
              <a:extLst>
                <a:ext uri="{FF2B5EF4-FFF2-40B4-BE49-F238E27FC236}">
                  <a16:creationId xmlns:a16="http://schemas.microsoft.com/office/drawing/2014/main" id="{51BC45C2-1274-BB42-B2FF-655E609A4F3F}"/>
                </a:ext>
              </a:extLst>
            </p:cNvPr>
            <p:cNvSpPr/>
            <p:nvPr/>
          </p:nvSpPr>
          <p:spPr>
            <a:xfrm>
              <a:off x="1572613" y="334718"/>
              <a:ext cx="85906" cy="89753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53">
              <a:extLst>
                <a:ext uri="{FF2B5EF4-FFF2-40B4-BE49-F238E27FC236}">
                  <a16:creationId xmlns:a16="http://schemas.microsoft.com/office/drawing/2014/main" id="{039CA6A1-8CFA-4A4B-9F23-2BB7B0C89625}"/>
                </a:ext>
              </a:extLst>
            </p:cNvPr>
            <p:cNvSpPr/>
            <p:nvPr/>
          </p:nvSpPr>
          <p:spPr>
            <a:xfrm>
              <a:off x="1669733" y="332795"/>
              <a:ext cx="75975" cy="93920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54">
              <a:extLst>
                <a:ext uri="{FF2B5EF4-FFF2-40B4-BE49-F238E27FC236}">
                  <a16:creationId xmlns:a16="http://schemas.microsoft.com/office/drawing/2014/main" id="{ED05D2C0-4637-7549-888A-5A0ED2277201}"/>
                </a:ext>
              </a:extLst>
            </p:cNvPr>
            <p:cNvSpPr/>
            <p:nvPr/>
          </p:nvSpPr>
          <p:spPr>
            <a:xfrm>
              <a:off x="1772314" y="332795"/>
              <a:ext cx="77252" cy="9199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55">
              <a:extLst>
                <a:ext uri="{FF2B5EF4-FFF2-40B4-BE49-F238E27FC236}">
                  <a16:creationId xmlns:a16="http://schemas.microsoft.com/office/drawing/2014/main" id="{E19058B0-7775-D44E-B670-ABF807D028C6}"/>
                </a:ext>
              </a:extLst>
            </p:cNvPr>
            <p:cNvSpPr/>
            <p:nvPr/>
          </p:nvSpPr>
          <p:spPr>
            <a:xfrm>
              <a:off x="1871684" y="293688"/>
              <a:ext cx="83663" cy="133347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56">
              <a:extLst>
                <a:ext uri="{FF2B5EF4-FFF2-40B4-BE49-F238E27FC236}">
                  <a16:creationId xmlns:a16="http://schemas.microsoft.com/office/drawing/2014/main" id="{B494CC1A-A672-C84F-986B-05A683E0AF13}"/>
                </a:ext>
              </a:extLst>
            </p:cNvPr>
            <p:cNvSpPr/>
            <p:nvPr/>
          </p:nvSpPr>
          <p:spPr>
            <a:xfrm>
              <a:off x="1978106" y="332795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57">
              <a:extLst>
                <a:ext uri="{FF2B5EF4-FFF2-40B4-BE49-F238E27FC236}">
                  <a16:creationId xmlns:a16="http://schemas.microsoft.com/office/drawing/2014/main" id="{3FA5D363-CFB8-0746-97D7-B5D03E23E745}"/>
                </a:ext>
              </a:extLst>
            </p:cNvPr>
            <p:cNvSpPr/>
            <p:nvPr/>
          </p:nvSpPr>
          <p:spPr>
            <a:xfrm>
              <a:off x="2083566" y="332713"/>
              <a:ext cx="53852" cy="91758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58">
              <a:extLst>
                <a:ext uri="{FF2B5EF4-FFF2-40B4-BE49-F238E27FC236}">
                  <a16:creationId xmlns:a16="http://schemas.microsoft.com/office/drawing/2014/main" id="{61F52BFA-2C47-174A-AD0B-49737BCE47CD}"/>
                </a:ext>
              </a:extLst>
            </p:cNvPr>
            <p:cNvSpPr/>
            <p:nvPr/>
          </p:nvSpPr>
          <p:spPr>
            <a:xfrm>
              <a:off x="2150561" y="359721"/>
              <a:ext cx="43915" cy="19874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59">
              <a:extLst>
                <a:ext uri="{FF2B5EF4-FFF2-40B4-BE49-F238E27FC236}">
                  <a16:creationId xmlns:a16="http://schemas.microsoft.com/office/drawing/2014/main" id="{56D89971-3BAE-8B48-8779-9659478A6E33}"/>
                </a:ext>
              </a:extLst>
            </p:cNvPr>
            <p:cNvSpPr/>
            <p:nvPr/>
          </p:nvSpPr>
          <p:spPr>
            <a:xfrm>
              <a:off x="2221081" y="300420"/>
              <a:ext cx="97126" cy="126295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0">
              <a:extLst>
                <a:ext uri="{FF2B5EF4-FFF2-40B4-BE49-F238E27FC236}">
                  <a16:creationId xmlns:a16="http://schemas.microsoft.com/office/drawing/2014/main" id="{5BFB40D3-0C94-C34E-8D0C-BA37CE64A2A6}"/>
                </a:ext>
              </a:extLst>
            </p:cNvPr>
            <p:cNvSpPr/>
            <p:nvPr/>
          </p:nvSpPr>
          <p:spPr>
            <a:xfrm>
              <a:off x="2346415" y="332795"/>
              <a:ext cx="76931" cy="9199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1">
              <a:extLst>
                <a:ext uri="{FF2B5EF4-FFF2-40B4-BE49-F238E27FC236}">
                  <a16:creationId xmlns:a16="http://schemas.microsoft.com/office/drawing/2014/main" id="{5F3B670D-3F4C-EB46-B888-A17039EC5DA8}"/>
                </a:ext>
              </a:extLst>
            </p:cNvPr>
            <p:cNvSpPr/>
            <p:nvPr/>
          </p:nvSpPr>
          <p:spPr>
            <a:xfrm>
              <a:off x="2447067" y="294971"/>
              <a:ext cx="26605" cy="129501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2">
              <a:extLst>
                <a:ext uri="{FF2B5EF4-FFF2-40B4-BE49-F238E27FC236}">
                  <a16:creationId xmlns:a16="http://schemas.microsoft.com/office/drawing/2014/main" id="{1AC6A114-F6C4-A44F-82C1-746D659D92E5}"/>
                </a:ext>
              </a:extLst>
            </p:cNvPr>
            <p:cNvSpPr/>
            <p:nvPr/>
          </p:nvSpPr>
          <p:spPr>
            <a:xfrm>
              <a:off x="2488418" y="335039"/>
              <a:ext cx="87189" cy="89753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3">
              <a:extLst>
                <a:ext uri="{FF2B5EF4-FFF2-40B4-BE49-F238E27FC236}">
                  <a16:creationId xmlns:a16="http://schemas.microsoft.com/office/drawing/2014/main" id="{6C84A291-9A88-BC46-9243-A5BDAD73E704}"/>
                </a:ext>
              </a:extLst>
            </p:cNvPr>
            <p:cNvSpPr/>
            <p:nvPr/>
          </p:nvSpPr>
          <p:spPr>
            <a:xfrm>
              <a:off x="2585223" y="332795"/>
              <a:ext cx="81739" cy="93920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ED77166F-3C93-3744-9927-37978A728989}"/>
                </a:ext>
              </a:extLst>
            </p:cNvPr>
            <p:cNvSpPr/>
            <p:nvPr/>
          </p:nvSpPr>
          <p:spPr>
            <a:xfrm>
              <a:off x="2690683" y="332713"/>
              <a:ext cx="53852" cy="91758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407D65A0-6EC3-0D4A-8197-FB6484487BE4}"/>
                </a:ext>
              </a:extLst>
            </p:cNvPr>
            <p:cNvSpPr/>
            <p:nvPr/>
          </p:nvSpPr>
          <p:spPr>
            <a:xfrm>
              <a:off x="2754472" y="332474"/>
              <a:ext cx="69238" cy="94240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8">
              <a:extLst>
                <a:ext uri="{FF2B5EF4-FFF2-40B4-BE49-F238E27FC236}">
                  <a16:creationId xmlns:a16="http://schemas.microsoft.com/office/drawing/2014/main" id="{F67E5B46-C275-4F48-A09F-54D35BC6A4BF}"/>
                </a:ext>
              </a:extLst>
            </p:cNvPr>
            <p:cNvSpPr/>
            <p:nvPr/>
          </p:nvSpPr>
          <p:spPr>
            <a:xfrm>
              <a:off x="2843264" y="294971"/>
              <a:ext cx="26605" cy="129501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9">
              <a:extLst>
                <a:ext uri="{FF2B5EF4-FFF2-40B4-BE49-F238E27FC236}">
                  <a16:creationId xmlns:a16="http://schemas.microsoft.com/office/drawing/2014/main" id="{909E25E7-19E2-8747-9126-F1AB3D631F78}"/>
                </a:ext>
              </a:extLst>
            </p:cNvPr>
            <p:cNvSpPr/>
            <p:nvPr/>
          </p:nvSpPr>
          <p:spPr>
            <a:xfrm>
              <a:off x="2884935" y="306189"/>
              <a:ext cx="55775" cy="120525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70">
              <a:extLst>
                <a:ext uri="{FF2B5EF4-FFF2-40B4-BE49-F238E27FC236}">
                  <a16:creationId xmlns:a16="http://schemas.microsoft.com/office/drawing/2014/main" id="{EAC5A913-E03E-7D4D-9078-FE9CA24554F9}"/>
                </a:ext>
              </a:extLst>
            </p:cNvPr>
            <p:cNvSpPr/>
            <p:nvPr/>
          </p:nvSpPr>
          <p:spPr>
            <a:xfrm>
              <a:off x="2957058" y="296573"/>
              <a:ext cx="75970" cy="130142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1">
              <a:extLst>
                <a:ext uri="{FF2B5EF4-FFF2-40B4-BE49-F238E27FC236}">
                  <a16:creationId xmlns:a16="http://schemas.microsoft.com/office/drawing/2014/main" id="{8FABF0FD-F7EF-5349-A2E7-C349C225F8D4}"/>
                </a:ext>
              </a:extLst>
            </p:cNvPr>
            <p:cNvSpPr/>
            <p:nvPr/>
          </p:nvSpPr>
          <p:spPr>
            <a:xfrm>
              <a:off x="3049376" y="306189"/>
              <a:ext cx="55775" cy="120525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2">
              <a:extLst>
                <a:ext uri="{FF2B5EF4-FFF2-40B4-BE49-F238E27FC236}">
                  <a16:creationId xmlns:a16="http://schemas.microsoft.com/office/drawing/2014/main" id="{691B08B6-CE79-0F4B-B988-B7D1CEE53D89}"/>
                </a:ext>
              </a:extLst>
            </p:cNvPr>
            <p:cNvSpPr/>
            <p:nvPr/>
          </p:nvSpPr>
          <p:spPr>
            <a:xfrm>
              <a:off x="510639" y="494671"/>
              <a:ext cx="92638" cy="124051"/>
            </a:xfrm>
            <a:custGeom>
              <a:avLst/>
              <a:gdLst>
                <a:gd name="connsiteX0" fmla="*/ 275273 w 275272"/>
                <a:gd name="connsiteY0" fmla="*/ 60960 h 368617"/>
                <a:gd name="connsiteX1" fmla="*/ 170498 w 275272"/>
                <a:gd name="connsiteY1" fmla="*/ 60960 h 368617"/>
                <a:gd name="connsiteX2" fmla="*/ 170498 w 275272"/>
                <a:gd name="connsiteY2" fmla="*/ 368617 h 368617"/>
                <a:gd name="connsiteX3" fmla="*/ 104775 w 275272"/>
                <a:gd name="connsiteY3" fmla="*/ 368617 h 368617"/>
                <a:gd name="connsiteX4" fmla="*/ 104775 w 275272"/>
                <a:gd name="connsiteY4" fmla="*/ 60960 h 368617"/>
                <a:gd name="connsiteX5" fmla="*/ 0 w 275272"/>
                <a:gd name="connsiteY5" fmla="*/ 60960 h 368617"/>
                <a:gd name="connsiteX6" fmla="*/ 0 w 275272"/>
                <a:gd name="connsiteY6" fmla="*/ 0 h 368617"/>
                <a:gd name="connsiteX7" fmla="*/ 275273 w 275272"/>
                <a:gd name="connsiteY7" fmla="*/ 0 h 368617"/>
                <a:gd name="connsiteX8" fmla="*/ 275273 w 275272"/>
                <a:gd name="connsiteY8" fmla="*/ 6096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272" h="368617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3">
              <a:extLst>
                <a:ext uri="{FF2B5EF4-FFF2-40B4-BE49-F238E27FC236}">
                  <a16:creationId xmlns:a16="http://schemas.microsoft.com/office/drawing/2014/main" id="{618EC208-E675-F54F-926D-39AE3A23A938}"/>
                </a:ext>
              </a:extLst>
            </p:cNvPr>
            <p:cNvSpPr/>
            <p:nvPr/>
          </p:nvSpPr>
          <p:spPr>
            <a:xfrm>
              <a:off x="603919" y="526726"/>
              <a:ext cx="81739" cy="93920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7 w 242887"/>
                <a:gd name="connsiteY5" fmla="*/ 160972 h 279082"/>
                <a:gd name="connsiteX6" fmla="*/ 133350 w 242887"/>
                <a:gd name="connsiteY6" fmla="*/ 225742 h 279082"/>
                <a:gd name="connsiteX7" fmla="*/ 199073 w 242887"/>
                <a:gd name="connsiteY7" fmla="*/ 194310 h 279082"/>
                <a:gd name="connsiteX8" fmla="*/ 238125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4">
              <a:extLst>
                <a:ext uri="{FF2B5EF4-FFF2-40B4-BE49-F238E27FC236}">
                  <a16:creationId xmlns:a16="http://schemas.microsoft.com/office/drawing/2014/main" id="{F3D8309A-1653-614D-A944-931615072E3B}"/>
                </a:ext>
              </a:extLst>
            </p:cNvPr>
            <p:cNvSpPr/>
            <p:nvPr/>
          </p:nvSpPr>
          <p:spPr>
            <a:xfrm>
              <a:off x="703929" y="526405"/>
              <a:ext cx="75649" cy="94241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3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5">
              <a:extLst>
                <a:ext uri="{FF2B5EF4-FFF2-40B4-BE49-F238E27FC236}">
                  <a16:creationId xmlns:a16="http://schemas.microsoft.com/office/drawing/2014/main" id="{717FDDCD-E871-BB4D-B232-2CEF5564DDCE}"/>
                </a:ext>
              </a:extLst>
            </p:cNvPr>
            <p:cNvSpPr/>
            <p:nvPr/>
          </p:nvSpPr>
          <p:spPr>
            <a:xfrm>
              <a:off x="797850" y="487619"/>
              <a:ext cx="76931" cy="131103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6">
              <a:extLst>
                <a:ext uri="{FF2B5EF4-FFF2-40B4-BE49-F238E27FC236}">
                  <a16:creationId xmlns:a16="http://schemas.microsoft.com/office/drawing/2014/main" id="{C8995C5D-7CC7-2E42-B769-E20C40839485}"/>
                </a:ext>
              </a:extLst>
            </p:cNvPr>
            <p:cNvSpPr/>
            <p:nvPr/>
          </p:nvSpPr>
          <p:spPr>
            <a:xfrm>
              <a:off x="901707" y="526726"/>
              <a:ext cx="76931" cy="9199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7">
              <a:extLst>
                <a:ext uri="{FF2B5EF4-FFF2-40B4-BE49-F238E27FC236}">
                  <a16:creationId xmlns:a16="http://schemas.microsoft.com/office/drawing/2014/main" id="{F0031B75-0C69-0A40-8402-DC1DE0934A97}"/>
                </a:ext>
              </a:extLst>
            </p:cNvPr>
            <p:cNvSpPr/>
            <p:nvPr/>
          </p:nvSpPr>
          <p:spPr>
            <a:xfrm>
              <a:off x="1002359" y="488901"/>
              <a:ext cx="26605" cy="129501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8">
              <a:extLst>
                <a:ext uri="{FF2B5EF4-FFF2-40B4-BE49-F238E27FC236}">
                  <a16:creationId xmlns:a16="http://schemas.microsoft.com/office/drawing/2014/main" id="{A0198E80-4FED-D345-A056-52D3E6BA6E76}"/>
                </a:ext>
              </a:extLst>
            </p:cNvPr>
            <p:cNvSpPr/>
            <p:nvPr/>
          </p:nvSpPr>
          <p:spPr>
            <a:xfrm>
              <a:off x="1045312" y="526405"/>
              <a:ext cx="69238" cy="94241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2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9">
              <a:extLst>
                <a:ext uri="{FF2B5EF4-FFF2-40B4-BE49-F238E27FC236}">
                  <a16:creationId xmlns:a16="http://schemas.microsoft.com/office/drawing/2014/main" id="{77DC6720-D7A3-F240-A035-723109FD2169}"/>
                </a:ext>
              </a:extLst>
            </p:cNvPr>
            <p:cNvSpPr/>
            <p:nvPr/>
          </p:nvSpPr>
          <p:spPr>
            <a:xfrm>
              <a:off x="1131540" y="526405"/>
              <a:ext cx="75649" cy="94241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80">
              <a:extLst>
                <a:ext uri="{FF2B5EF4-FFF2-40B4-BE49-F238E27FC236}">
                  <a16:creationId xmlns:a16="http://schemas.microsoft.com/office/drawing/2014/main" id="{113741B5-0862-1B40-9D96-56B2A9E93BF4}"/>
                </a:ext>
              </a:extLst>
            </p:cNvPr>
            <p:cNvSpPr/>
            <p:nvPr/>
          </p:nvSpPr>
          <p:spPr>
            <a:xfrm>
              <a:off x="1225460" y="487619"/>
              <a:ext cx="76931" cy="131103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1">
              <a:extLst>
                <a:ext uri="{FF2B5EF4-FFF2-40B4-BE49-F238E27FC236}">
                  <a16:creationId xmlns:a16="http://schemas.microsoft.com/office/drawing/2014/main" id="{DAB37A08-003F-3245-8E24-7AF93F705B58}"/>
                </a:ext>
              </a:extLst>
            </p:cNvPr>
            <p:cNvSpPr/>
            <p:nvPr/>
          </p:nvSpPr>
          <p:spPr>
            <a:xfrm>
              <a:off x="1324189" y="526726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2">
              <a:extLst>
                <a:ext uri="{FF2B5EF4-FFF2-40B4-BE49-F238E27FC236}">
                  <a16:creationId xmlns:a16="http://schemas.microsoft.com/office/drawing/2014/main" id="{FCFDE7EE-E7D1-544E-A701-3197B56FF0AD}"/>
                </a:ext>
              </a:extLst>
            </p:cNvPr>
            <p:cNvSpPr/>
            <p:nvPr/>
          </p:nvSpPr>
          <p:spPr>
            <a:xfrm>
              <a:off x="1482539" y="494671"/>
              <a:ext cx="77893" cy="124051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3">
              <a:extLst>
                <a:ext uri="{FF2B5EF4-FFF2-40B4-BE49-F238E27FC236}">
                  <a16:creationId xmlns:a16="http://schemas.microsoft.com/office/drawing/2014/main" id="{23158B01-DBA4-4448-A419-B14881054104}"/>
                </a:ext>
              </a:extLst>
            </p:cNvPr>
            <p:cNvSpPr/>
            <p:nvPr/>
          </p:nvSpPr>
          <p:spPr>
            <a:xfrm>
              <a:off x="1564279" y="526726"/>
              <a:ext cx="76290" cy="93920"/>
            </a:xfrm>
            <a:custGeom>
              <a:avLst/>
              <a:gdLst>
                <a:gd name="connsiteX0" fmla="*/ 115253 w 226694"/>
                <a:gd name="connsiteY0" fmla="*/ 107633 h 279082"/>
                <a:gd name="connsiteX1" fmla="*/ 165735 w 226694"/>
                <a:gd name="connsiteY1" fmla="*/ 113347 h 279082"/>
                <a:gd name="connsiteX2" fmla="*/ 165735 w 226694"/>
                <a:gd name="connsiteY2" fmla="*/ 103822 h 279082"/>
                <a:gd name="connsiteX3" fmla="*/ 106680 w 226694"/>
                <a:gd name="connsiteY3" fmla="*/ 52388 h 279082"/>
                <a:gd name="connsiteX4" fmla="*/ 39053 w 226694"/>
                <a:gd name="connsiteY4" fmla="*/ 67627 h 279082"/>
                <a:gd name="connsiteX5" fmla="*/ 25717 w 226694"/>
                <a:gd name="connsiteY5" fmla="*/ 15240 h 279082"/>
                <a:gd name="connsiteX6" fmla="*/ 113347 w 226694"/>
                <a:gd name="connsiteY6" fmla="*/ 0 h 279082"/>
                <a:gd name="connsiteX7" fmla="*/ 226695 w 226694"/>
                <a:gd name="connsiteY7" fmla="*/ 102870 h 279082"/>
                <a:gd name="connsiteX8" fmla="*/ 226695 w 226694"/>
                <a:gd name="connsiteY8" fmla="*/ 273367 h 279082"/>
                <a:gd name="connsiteX9" fmla="*/ 167640 w 226694"/>
                <a:gd name="connsiteY9" fmla="*/ 273367 h 279082"/>
                <a:gd name="connsiteX10" fmla="*/ 167640 w 226694"/>
                <a:gd name="connsiteY10" fmla="*/ 244792 h 279082"/>
                <a:gd name="connsiteX11" fmla="*/ 165735 w 226694"/>
                <a:gd name="connsiteY11" fmla="*/ 244792 h 279082"/>
                <a:gd name="connsiteX12" fmla="*/ 87630 w 226694"/>
                <a:gd name="connsiteY12" fmla="*/ 279083 h 279082"/>
                <a:gd name="connsiteX13" fmla="*/ 0 w 226694"/>
                <a:gd name="connsiteY13" fmla="*/ 194310 h 279082"/>
                <a:gd name="connsiteX14" fmla="*/ 115253 w 226694"/>
                <a:gd name="connsiteY14" fmla="*/ 107633 h 279082"/>
                <a:gd name="connsiteX15" fmla="*/ 104775 w 226694"/>
                <a:gd name="connsiteY15" fmla="*/ 232410 h 279082"/>
                <a:gd name="connsiteX16" fmla="*/ 165735 w 226694"/>
                <a:gd name="connsiteY16" fmla="*/ 200025 h 279082"/>
                <a:gd name="connsiteX17" fmla="*/ 165735 w 226694"/>
                <a:gd name="connsiteY17" fmla="*/ 153352 h 279082"/>
                <a:gd name="connsiteX18" fmla="*/ 121920 w 226694"/>
                <a:gd name="connsiteY18" fmla="*/ 148590 h 279082"/>
                <a:gd name="connsiteX19" fmla="*/ 60007 w 226694"/>
                <a:gd name="connsiteY19" fmla="*/ 192405 h 279082"/>
                <a:gd name="connsiteX20" fmla="*/ 104775 w 226694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6694" h="279082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4">
              <a:extLst>
                <a:ext uri="{FF2B5EF4-FFF2-40B4-BE49-F238E27FC236}">
                  <a16:creationId xmlns:a16="http://schemas.microsoft.com/office/drawing/2014/main" id="{F738BA72-6FA5-A340-A4D3-82C845D364B8}"/>
                </a:ext>
              </a:extLst>
            </p:cNvPr>
            <p:cNvSpPr/>
            <p:nvPr/>
          </p:nvSpPr>
          <p:spPr>
            <a:xfrm>
              <a:off x="1667175" y="487619"/>
              <a:ext cx="78854" cy="131103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5">
              <a:extLst>
                <a:ext uri="{FF2B5EF4-FFF2-40B4-BE49-F238E27FC236}">
                  <a16:creationId xmlns:a16="http://schemas.microsoft.com/office/drawing/2014/main" id="{A6D2746E-5F24-D745-A2A3-D0ADEEF336B5}"/>
                </a:ext>
              </a:extLst>
            </p:cNvPr>
            <p:cNvSpPr/>
            <p:nvPr/>
          </p:nvSpPr>
          <p:spPr>
            <a:xfrm>
              <a:off x="1761416" y="528970"/>
              <a:ext cx="77252" cy="9199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6">
              <a:extLst>
                <a:ext uri="{FF2B5EF4-FFF2-40B4-BE49-F238E27FC236}">
                  <a16:creationId xmlns:a16="http://schemas.microsoft.com/office/drawing/2014/main" id="{F365F04E-F6F3-EC40-8AF7-457F234C8148}"/>
                </a:ext>
              </a:extLst>
            </p:cNvPr>
            <p:cNvSpPr/>
            <p:nvPr/>
          </p:nvSpPr>
          <p:spPr>
            <a:xfrm>
              <a:off x="1865594" y="487299"/>
              <a:ext cx="20835" cy="131103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7">
              <a:extLst>
                <a:ext uri="{FF2B5EF4-FFF2-40B4-BE49-F238E27FC236}">
                  <a16:creationId xmlns:a16="http://schemas.microsoft.com/office/drawing/2014/main" id="{E795987B-C466-AF4D-91C5-7C0A403A567B}"/>
                </a:ext>
              </a:extLst>
            </p:cNvPr>
            <p:cNvSpPr/>
            <p:nvPr/>
          </p:nvSpPr>
          <p:spPr>
            <a:xfrm>
              <a:off x="1905021" y="500120"/>
              <a:ext cx="55775" cy="120526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8 w 165734"/>
                <a:gd name="connsiteY3" fmla="*/ 282892 h 358140"/>
                <a:gd name="connsiteX4" fmla="*/ 40958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8">
              <a:extLst>
                <a:ext uri="{FF2B5EF4-FFF2-40B4-BE49-F238E27FC236}">
                  <a16:creationId xmlns:a16="http://schemas.microsoft.com/office/drawing/2014/main" id="{03A27536-9171-8D4E-A050-974D975CBA72}"/>
                </a:ext>
              </a:extLst>
            </p:cNvPr>
            <p:cNvSpPr/>
            <p:nvPr/>
          </p:nvSpPr>
          <p:spPr>
            <a:xfrm>
              <a:off x="1977144" y="490504"/>
              <a:ext cx="75970" cy="130142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9">
              <a:extLst>
                <a:ext uri="{FF2B5EF4-FFF2-40B4-BE49-F238E27FC236}">
                  <a16:creationId xmlns:a16="http://schemas.microsoft.com/office/drawing/2014/main" id="{D643B2AE-9BD8-2447-B0FE-BFB5EF735DB4}"/>
                </a:ext>
              </a:extLst>
            </p:cNvPr>
            <p:cNvSpPr/>
            <p:nvPr/>
          </p:nvSpPr>
          <p:spPr>
            <a:xfrm>
              <a:off x="2069462" y="500120"/>
              <a:ext cx="55775" cy="120526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2870 w 165734"/>
                <a:gd name="connsiteY13" fmla="*/ 138113 h 358140"/>
                <a:gd name="connsiteX14" fmla="*/ 102870 w 165734"/>
                <a:gd name="connsiteY14" fmla="*/ 269558 h 358140"/>
                <a:gd name="connsiteX15" fmla="*/ 131445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91" name="Freihandform: Form 87">
            <a:extLst>
              <a:ext uri="{FF2B5EF4-FFF2-40B4-BE49-F238E27FC236}">
                <a16:creationId xmlns:a16="http://schemas.microsoft.com/office/drawing/2014/main" id="{DEFECFB7-4BFC-2143-8119-7CD966471870}"/>
              </a:ext>
            </a:extLst>
          </p:cNvPr>
          <p:cNvSpPr/>
          <p:nvPr userDrawn="1"/>
        </p:nvSpPr>
        <p:spPr>
          <a:xfrm>
            <a:off x="10272966" y="300704"/>
            <a:ext cx="1403903" cy="535987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1E42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pic>
        <p:nvPicPr>
          <p:cNvPr id="112" name="Grafik 111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493" y="300704"/>
            <a:ext cx="1543659" cy="541185"/>
          </a:xfrm>
          <a:prstGeom prst="rect">
            <a:avLst/>
          </a:prstGeom>
        </p:spPr>
      </p:pic>
      <p:sp>
        <p:nvSpPr>
          <p:cNvPr id="113" name="Bildplatzhalter 5"/>
          <p:cNvSpPr>
            <a:spLocks noGrp="1"/>
          </p:cNvSpPr>
          <p:nvPr>
            <p:ph type="pic" sz="quarter" idx="13"/>
          </p:nvPr>
        </p:nvSpPr>
        <p:spPr>
          <a:xfrm>
            <a:off x="6524462" y="300704"/>
            <a:ext cx="1731896" cy="53598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0920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FCF17-48A0-4939-9B86-4A0E590241E6}" type="datetime4">
              <a:rPr lang="de-DE" smtClean="0"/>
              <a:t>17. Oktober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C59997-58CB-4A34-A7D6-744D4117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28AE96D7-C3C8-4590-B13B-86D938A7890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90014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829" y="301184"/>
            <a:ext cx="1102192" cy="3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327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C8739-BFB7-40C2-B28E-69BB709E9C11}" type="datetime4">
              <a:rPr lang="de-DE" smtClean="0"/>
              <a:t>17. Oktober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024A1079-17C2-45DE-A16B-14C152A08F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6329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BAC64890-C924-4759-9B9B-7DE74E38C4A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2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90014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829" y="301184"/>
            <a:ext cx="1102192" cy="3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288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B6080-B214-4A27-A13D-95A31493955D}" type="datetime4">
              <a:rPr lang="de-DE" smtClean="0"/>
              <a:t>17. Oktober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6A777D-D5C6-4E84-A9C9-D0F4836A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304591F-2FC9-4C29-9FE5-537955E3B9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318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D0C47385-EF97-44EE-867E-E9365B44CA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07242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E3F53468-6A74-4DFC-93FD-A760B96196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2780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7A7A670F-933B-48F3-B921-A1B739D6C9D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90014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pic>
        <p:nvPicPr>
          <p:cNvPr id="16" name="Grafik 15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829" y="301184"/>
            <a:ext cx="1102192" cy="3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183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4BF54-E288-44CA-9624-72B71A8A42AB}" type="datetime4">
              <a:rPr lang="de-DE" smtClean="0"/>
              <a:t>17. Oktober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97A335FC-7B0F-4DB2-A1F6-1DF21639819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90014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829" y="301184"/>
            <a:ext cx="1102192" cy="3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957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8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55A8-E7B1-419D-84AA-0C89B698BF26}" type="datetime4">
              <a:rPr lang="de-DE" smtClean="0"/>
              <a:t>17. Oktober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6331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D7BA2DC0-EE95-4994-AD5A-8F6A7D106E5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90014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829" y="301184"/>
            <a:ext cx="1102192" cy="3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132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430C106-4EB7-47B9-8F1D-0BFCFBEAEC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CD45B2-C7E2-4C43-84ED-BFB6DC4E8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9" y="3431381"/>
            <a:ext cx="3571200" cy="2769394"/>
          </a:xfr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FE029E8-09EC-45DC-B2BB-25B2B1C145A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D3613C15-D9EF-4DBF-8B74-3D50994127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E0568E8-B36B-404B-9E38-F367F7DFCF81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4EB1BCB-8EFE-43BA-AE53-9984B9F11B54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B189016C-ED2A-474D-A417-5E0F497B51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856DE16-FDEC-4063-8C73-CBF95C803B59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3759D02-378A-4C73-8CA4-E4FB217B94E6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612F9041-226E-4E23-B398-1F7D9044B5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18D5641-3E9B-4072-8388-BB46336975A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70072D5-E220-4946-9EE1-80DFB58C3A38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A43D9D6-7790-4E94-8493-67757E3373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E7E0758-62D1-453D-B55E-FDC4CCE3C6E4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4310EC5-28E5-4146-A748-79C1FCA769F0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2D5BC590-E7B8-48F8-AAC5-6799BCBDEB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F5B0BA6-3F36-41A3-8125-15AA496849C8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7018BC3-E9D3-4DC9-9093-D415FD96426D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8F1A063-9C9E-48DF-9813-A4EA4497C2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79F31FE-DC89-4DED-A231-3D8DCBF48D98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DF8EA8-3E45-431B-90A0-140583E1D07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300055A-A6D6-4CE1-986A-0930765E02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B2C23E7-0482-498A-B984-44C6CF40F3B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C7A65B2-F352-4DA5-9A36-9105D478D2C2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4D9AE9BE-891D-491B-98F9-78F552DDC8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E259A48F-52D3-481E-86F8-360FED16B872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ADB04CE-94F5-430A-9FF1-01DE211731F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0411913-7BEC-4F33-BDE8-154F93D079C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40BADBF-D4AC-4B48-AE66-D79BD3055404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B5DA2A5-4F29-4DF6-A342-0A7B4878AAB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820BD84-9211-4C19-A40B-4121AD892514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21C7D9CA-751B-4809-9338-47DDC5D1A7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D1C22B97-CFD8-4E78-BF7E-02A71F190F83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0892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4C7B6-65DB-4651-9D6D-787BD251B230}" type="datetime4">
              <a:rPr lang="de-DE" smtClean="0"/>
              <a:t>17. Oktober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6A4CB3A7-ACED-41D0-8E35-318CD369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EBFE18BD-74E5-4328-B98A-9C6FC4FCA59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1115774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51E223D-AC82-4D54-A383-0E2DF84E2E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1115774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22FFE2B-554A-4423-8513-4D2A70D2DB1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4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90014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829" y="301184"/>
            <a:ext cx="1102192" cy="3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6286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074B9-4BBE-42DB-8ECC-1B8A75D6203E}" type="datetime4">
              <a:rPr lang="de-DE" smtClean="0"/>
              <a:t>17. Oktober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C7F934-D7F3-42CA-88CC-3AEB50F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B4B72DA6-61BE-42F9-8894-08B159BC7C7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0E2D86CD-8C0A-461A-82DE-DEB73A6F9A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B4E7C39B-83E8-467B-AD57-55CA08888B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06331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CE124A50-74B4-4E32-AA56-DCD775B130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6331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5F1A965F-F63A-4B03-A142-6DC4620DA5F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90014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829" y="301184"/>
            <a:ext cx="1102192" cy="3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4802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BA888-8294-4426-A426-0D17B6B1880D}" type="datetime4">
              <a:rPr lang="de-DE" smtClean="0"/>
              <a:t>17. Oktober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9995CF9C-9826-4946-A085-FF49199B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430412-20B6-4F53-A77B-A26A49135E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48CA2DF0-5B92-4CE6-AF1A-CC648431BB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002E2471-F223-4896-A895-CE0AF20E11D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106305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470E7482-A37A-44BE-ADE5-A0B3B10E8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06305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3FD09289-F115-4464-A726-812A11720CA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12311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F3F11CE6-C8CF-4ABE-B3B8-C00D74678A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12311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B180B26F-6FF8-4738-A10C-E14470F0B8C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90014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pic>
        <p:nvPicPr>
          <p:cNvPr id="16" name="Grafik 15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829" y="301184"/>
            <a:ext cx="1102192" cy="3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3424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894D4-C9B8-4F96-8FF6-79E826889C55}" type="datetime4">
              <a:rPr lang="de-DE" smtClean="0"/>
              <a:t>17. Oktober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11155366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64AF0876-C672-488E-ADCD-17BBFC33638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2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90014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829" y="301184"/>
            <a:ext cx="1102192" cy="3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2915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0F4A-AEAE-4C58-AA76-7EADB0FF7089}" type="datetime4">
              <a:rPr lang="de-DE" smtClean="0"/>
              <a:t>17. Oktober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33608DEB-69EC-4E8F-A567-9E3EA36C362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206330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777B5741-96D1-4193-A4A5-5EE22D85663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790014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829" y="301184"/>
            <a:ext cx="1102192" cy="3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5393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67C9-4C75-43A9-95B7-0690D6F29CA5}" type="datetime4">
              <a:rPr lang="de-DE" smtClean="0"/>
              <a:t>17. Oktober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5086500-15A5-49F2-8B64-748C19FDAB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04861" y="1631156"/>
            <a:ext cx="3571200" cy="456962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84BE64F-DBB2-4BF3-ABE7-E92BB978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0D6633D6-CA56-460E-AA1C-9A4D6A6232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18317" y="1631157"/>
            <a:ext cx="7363752" cy="4569620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FBCC7105-5E2C-4745-BEC8-77E521534F9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90014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829" y="301184"/>
            <a:ext cx="1102192" cy="3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9622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 | Gra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C462FD0-9E74-4D67-97DA-C8DBAA1AE5FF}" type="datetime4">
              <a:rPr lang="de-DE" smtClean="0"/>
              <a:t>17. Oktober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1925060-7FCF-4CBC-B0DA-0731E3E98579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platzhalter 9">
            <a:extLst>
              <a:ext uri="{FF2B5EF4-FFF2-40B4-BE49-F238E27FC236}">
                <a16:creationId xmlns:a16="http://schemas.microsoft.com/office/drawing/2014/main" id="{A9FF3927-CA7B-4361-998A-3A60E5D23F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Freihandform: Form 60">
            <a:extLst>
              <a:ext uri="{FF2B5EF4-FFF2-40B4-BE49-F238E27FC236}">
                <a16:creationId xmlns:a16="http://schemas.microsoft.com/office/drawing/2014/main" id="{BC19384B-1D95-4C0D-B3F0-61407A015F56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ECEE8D8-DF92-4CFD-A29A-DD98DFA7EC69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E89218EB-083A-44EC-89C4-86451CE1FC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99474D3-E53E-4ABA-9B61-C9BB08A3276B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7879191-3BE6-4B4E-A6B9-7EE964614B47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94484379-E642-433C-B53A-1DEE6A9DD4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C54D7A6-C6ED-4572-B49C-338FB11A042A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82F9D16-DA93-44FA-B850-67D0B6AD397D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201A13C-71DC-4465-B39F-F196A50353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957CB6E-B09B-4A22-86F0-6C38F81B2E90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8DB7D0C-ACAA-4A6B-8088-624B0BC24502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E8B86ED7-0F29-451E-8C7D-9B396D5E20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D76FB85-7BBB-4E8D-A853-5FCC744835E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1524020-40DB-450A-AEE5-3E1B459B16B5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39CBAAA-C79F-4BC9-9AF3-18ED0AF9E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5F01F83-E434-491F-8893-1CE5848F9B6D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9ECB07F-83AC-4A69-A930-C51459FBE5BA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EB6DF347-64CA-4BE1-8952-3E80EBD008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82628F6-8442-4626-962B-E947FDA8C0C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9B4EC5D-DF7B-4D80-86D6-C95B0B60B325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A230F03-8AA4-4AAE-999A-6E872C727A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C36145D-6FFB-4D3A-85D6-2ACFDAE5F5D2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D1EC147-B041-40BC-BA8D-878A722616DE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A4E226E-C413-42F0-AA69-108B05313D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4A93327E-EEC7-45A4-9C35-410D17ECB865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EC1AF1A-26A7-479B-A176-8997B58ED4D1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0D76042-D322-4CD0-B41A-CE295CEC6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97EC952-23B6-4728-82B6-3D733107C66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8CEDBB7-9662-435E-8F5A-F3EE555D990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24365663-FE3F-47D4-A8D7-729A38C4987D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92EE37E1-8647-4AEB-9AEE-FF0711435F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2B4E3D7-0BC3-4BC1-B86B-DD51E978575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2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90014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pic>
        <p:nvPicPr>
          <p:cNvPr id="43" name="Grafik 42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829" y="301184"/>
            <a:ext cx="1102192" cy="3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9632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94168-1D2E-414B-9AFB-B7BB2EA3568F}" type="datetime4">
              <a:rPr lang="de-DE" smtClean="0"/>
              <a:t>17. Oktober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903DE59B-FC71-4F7B-BBCF-9B96B09DD62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90014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829" y="301184"/>
            <a:ext cx="1102192" cy="3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7363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EDA59-479C-41C3-99F0-9A24DD470063}" type="datetime4">
              <a:rPr lang="de-DE" smtClean="0"/>
              <a:t>17. Oktober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25E710-D493-4189-8EF7-00ABE0AB56E5}"/>
              </a:ext>
            </a:extLst>
          </p:cNvPr>
          <p:cNvSpPr/>
          <p:nvPr userDrawn="1"/>
        </p:nvSpPr>
        <p:spPr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rgbClr val="041E4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>
                <a:solidFill>
                  <a:srgbClr val="041E4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„Mastertextformat bearbeiten“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2BEC83A6-EBB5-4F38-9A43-62A2E7E3616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2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90014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829" y="301184"/>
            <a:ext cx="1102192" cy="3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3473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platzhalter 167">
            <a:extLst>
              <a:ext uri="{FF2B5EF4-FFF2-40B4-BE49-F238E27FC236}">
                <a16:creationId xmlns:a16="http://schemas.microsoft.com/office/drawing/2014/main" id="{68AB2348-B91F-4E68-BDE1-60ECCE02B4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59" name="Bildplatzhalter 60">
            <a:extLst>
              <a:ext uri="{FF2B5EF4-FFF2-40B4-BE49-F238E27FC236}">
                <a16:creationId xmlns:a16="http://schemas.microsoft.com/office/drawing/2014/main" id="{92CE05A2-27DE-4191-8A63-5C7C7ACA37C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CBD8B083-79E8-44E1-BA43-E993160F02E1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Textplatzhalter 64">
            <a:extLst>
              <a:ext uri="{FF2B5EF4-FFF2-40B4-BE49-F238E27FC236}">
                <a16:creationId xmlns:a16="http://schemas.microsoft.com/office/drawing/2014/main" id="{94E4DAD8-28C4-496D-803F-AF50BFF89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7" y="2647985"/>
            <a:ext cx="11157745" cy="1562031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800" b="1" dirty="0" smtClean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Vielen Dank</a:t>
            </a:r>
            <a:br>
              <a:rPr lang="de-DE" dirty="0"/>
            </a:br>
            <a:r>
              <a:rPr lang="de-DE" dirty="0"/>
              <a:t>für Ihre Aufmerksamkeit!</a:t>
            </a:r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C3B9D07-F821-46AB-95B1-D19222D00FD7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22380010-0050-441D-BA9C-97B583515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C13F555F-C26E-4B21-A77C-6CA7380155F8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05760C0-8935-4141-9AEE-BB96816B3799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BE9DAC0-7790-4611-B602-40B3CD18C7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1FBE1EE4-3D10-40E7-9F1E-627A51E59C6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B25E0919-4E1B-4A97-A1C2-6AE7D2A59920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849FBB7D-3378-4F36-B80B-3E0BDCA834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6141066E-6566-420D-B6EB-886DF25CCD1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87A742EA-EC3D-47DE-9C2D-533639983C8D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46719FD-F8B1-447D-8561-7A1E238E8A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2ABDBC31-5895-4E49-887D-433A43B32DB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EF4BF1C-C847-48A1-A7BF-3BEE82EF1C59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F60061-B6B2-4FE6-9482-278DFD418B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73D29742-39CB-41E5-B346-BADC9743E285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D55A5473-7182-4B24-8843-51E2ADF3D492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204A095A-3A24-4259-92A8-4500898AC0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82971EAD-9159-4D12-8726-4FBE6AFA23F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D1FF9524-93DA-476B-89EA-9E475617F2D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8DFFD401-DC7D-4F6D-82BF-DC6E357E59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36A6CE9C-ECB8-42E6-B61D-3A0F3C4D7A5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076CAA-CFEC-4359-9762-07ED0661EE26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91EF761B-D6BF-475C-8903-456E1F0576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413A99B1-6C23-41A6-A82B-0EC01B77947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6CE4EF7-E819-4747-A9E4-8C86F991481E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3B78DE36-86EF-463F-A7E5-0CD3043C9F4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EAD15804-28A7-4690-889A-7D8A91A7D478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9023C4F7-97EF-4D2F-9223-1AFEE89D9C6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5072DFD-BA29-43BB-A0B1-01F593A0242E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A9C77A6D-E177-4B69-A5A1-6B77E4229F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701274C6-5A42-4082-BC4B-8532BFB4CC40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3" name="Gruppieren 92">
            <a:extLst>
              <a:ext uri="{FF2B5EF4-FFF2-40B4-BE49-F238E27FC236}">
                <a16:creationId xmlns:a16="http://schemas.microsoft.com/office/drawing/2014/main" id="{026F1790-1AA5-2249-AC8D-458445CB9276}"/>
              </a:ext>
            </a:extLst>
          </p:cNvPr>
          <p:cNvGrpSpPr/>
          <p:nvPr userDrawn="1"/>
        </p:nvGrpSpPr>
        <p:grpSpPr>
          <a:xfrm>
            <a:off x="510639" y="293096"/>
            <a:ext cx="2388067" cy="301237"/>
            <a:chOff x="510639" y="293688"/>
            <a:chExt cx="2594512" cy="327279"/>
          </a:xfrm>
        </p:grpSpPr>
        <p:sp>
          <p:nvSpPr>
            <p:cNvPr id="94" name="Freihandform: Form 139">
              <a:extLst>
                <a:ext uri="{FF2B5EF4-FFF2-40B4-BE49-F238E27FC236}">
                  <a16:creationId xmlns:a16="http://schemas.microsoft.com/office/drawing/2014/main" id="{A21D6C90-CB6F-5742-B27A-61223E4D0276}"/>
                </a:ext>
              </a:extLst>
            </p:cNvPr>
            <p:cNvSpPr/>
            <p:nvPr/>
          </p:nvSpPr>
          <p:spPr>
            <a:xfrm>
              <a:off x="519935" y="300420"/>
              <a:ext cx="78213" cy="124372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140">
              <a:extLst>
                <a:ext uri="{FF2B5EF4-FFF2-40B4-BE49-F238E27FC236}">
                  <a16:creationId xmlns:a16="http://schemas.microsoft.com/office/drawing/2014/main" id="{AD0321DC-F0FE-444A-A11C-AD1929DC8A9D}"/>
                </a:ext>
              </a:extLst>
            </p:cNvPr>
            <p:cNvSpPr/>
            <p:nvPr/>
          </p:nvSpPr>
          <p:spPr>
            <a:xfrm>
              <a:off x="610329" y="332713"/>
              <a:ext cx="53852" cy="91758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141">
              <a:extLst>
                <a:ext uri="{FF2B5EF4-FFF2-40B4-BE49-F238E27FC236}">
                  <a16:creationId xmlns:a16="http://schemas.microsoft.com/office/drawing/2014/main" id="{26533122-7334-2A48-988D-C005CB3DBF35}"/>
                </a:ext>
              </a:extLst>
            </p:cNvPr>
            <p:cNvSpPr/>
            <p:nvPr/>
          </p:nvSpPr>
          <p:spPr>
            <a:xfrm>
              <a:off x="679247" y="294971"/>
              <a:ext cx="26605" cy="129501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142">
              <a:extLst>
                <a:ext uri="{FF2B5EF4-FFF2-40B4-BE49-F238E27FC236}">
                  <a16:creationId xmlns:a16="http://schemas.microsoft.com/office/drawing/2014/main" id="{AEA3C75E-A2CA-A949-9620-F3FBBC32F186}"/>
                </a:ext>
              </a:extLst>
            </p:cNvPr>
            <p:cNvSpPr/>
            <p:nvPr/>
          </p:nvSpPr>
          <p:spPr>
            <a:xfrm>
              <a:off x="725086" y="332795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143">
              <a:extLst>
                <a:ext uri="{FF2B5EF4-FFF2-40B4-BE49-F238E27FC236}">
                  <a16:creationId xmlns:a16="http://schemas.microsoft.com/office/drawing/2014/main" id="{12CC2BD9-F08D-6843-8054-67F3295C4D11}"/>
                </a:ext>
              </a:extLst>
            </p:cNvPr>
            <p:cNvSpPr/>
            <p:nvPr/>
          </p:nvSpPr>
          <p:spPr>
            <a:xfrm>
              <a:off x="825417" y="293688"/>
              <a:ext cx="83663" cy="133347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144">
              <a:extLst>
                <a:ext uri="{FF2B5EF4-FFF2-40B4-BE49-F238E27FC236}">
                  <a16:creationId xmlns:a16="http://schemas.microsoft.com/office/drawing/2014/main" id="{0091577E-076D-F64A-95AF-2939860D6325}"/>
                </a:ext>
              </a:extLst>
            </p:cNvPr>
            <p:cNvSpPr/>
            <p:nvPr/>
          </p:nvSpPr>
          <p:spPr>
            <a:xfrm>
              <a:off x="936967" y="332713"/>
              <a:ext cx="53852" cy="91758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145">
              <a:extLst>
                <a:ext uri="{FF2B5EF4-FFF2-40B4-BE49-F238E27FC236}">
                  <a16:creationId xmlns:a16="http://schemas.microsoft.com/office/drawing/2014/main" id="{5600DA2B-A584-9F4F-80C0-8BE95E6C0A45}"/>
                </a:ext>
              </a:extLst>
            </p:cNvPr>
            <p:cNvSpPr/>
            <p:nvPr/>
          </p:nvSpPr>
          <p:spPr>
            <a:xfrm>
              <a:off x="1005565" y="294971"/>
              <a:ext cx="26605" cy="129501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46">
              <a:extLst>
                <a:ext uri="{FF2B5EF4-FFF2-40B4-BE49-F238E27FC236}">
                  <a16:creationId xmlns:a16="http://schemas.microsoft.com/office/drawing/2014/main" id="{0ADFB78B-5A0B-EC48-B160-DB451C67D058}"/>
                </a:ext>
              </a:extLst>
            </p:cNvPr>
            <p:cNvSpPr/>
            <p:nvPr/>
          </p:nvSpPr>
          <p:spPr>
            <a:xfrm>
              <a:off x="1052044" y="332474"/>
              <a:ext cx="75649" cy="94240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47">
              <a:extLst>
                <a:ext uri="{FF2B5EF4-FFF2-40B4-BE49-F238E27FC236}">
                  <a16:creationId xmlns:a16="http://schemas.microsoft.com/office/drawing/2014/main" id="{C6B7CD53-2D3F-8F4A-9C0F-459B22C64249}"/>
                </a:ext>
              </a:extLst>
            </p:cNvPr>
            <p:cNvSpPr/>
            <p:nvPr/>
          </p:nvSpPr>
          <p:spPr>
            <a:xfrm>
              <a:off x="1145644" y="293688"/>
              <a:ext cx="77252" cy="131103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48">
              <a:extLst>
                <a:ext uri="{FF2B5EF4-FFF2-40B4-BE49-F238E27FC236}">
                  <a16:creationId xmlns:a16="http://schemas.microsoft.com/office/drawing/2014/main" id="{03CC9F64-7804-5240-88A6-B67E28D0AD06}"/>
                </a:ext>
              </a:extLst>
            </p:cNvPr>
            <p:cNvSpPr/>
            <p:nvPr/>
          </p:nvSpPr>
          <p:spPr>
            <a:xfrm>
              <a:off x="1246937" y="359721"/>
              <a:ext cx="43915" cy="19874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49">
              <a:extLst>
                <a:ext uri="{FF2B5EF4-FFF2-40B4-BE49-F238E27FC236}">
                  <a16:creationId xmlns:a16="http://schemas.microsoft.com/office/drawing/2014/main" id="{E6643B5A-CFDD-5C43-A59B-93938CABC24B}"/>
                </a:ext>
              </a:extLst>
            </p:cNvPr>
            <p:cNvSpPr/>
            <p:nvPr/>
          </p:nvSpPr>
          <p:spPr>
            <a:xfrm>
              <a:off x="1302071" y="300420"/>
              <a:ext cx="115397" cy="124051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50">
              <a:extLst>
                <a:ext uri="{FF2B5EF4-FFF2-40B4-BE49-F238E27FC236}">
                  <a16:creationId xmlns:a16="http://schemas.microsoft.com/office/drawing/2014/main" id="{D26AF907-03C7-FA42-B615-832617429969}"/>
                </a:ext>
              </a:extLst>
            </p:cNvPr>
            <p:cNvSpPr/>
            <p:nvPr/>
          </p:nvSpPr>
          <p:spPr>
            <a:xfrm>
              <a:off x="1436060" y="293688"/>
              <a:ext cx="20835" cy="130783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51">
              <a:extLst>
                <a:ext uri="{FF2B5EF4-FFF2-40B4-BE49-F238E27FC236}">
                  <a16:creationId xmlns:a16="http://schemas.microsoft.com/office/drawing/2014/main" id="{98F9BDF6-AE59-C44A-8626-FCA4C438AE9A}"/>
                </a:ext>
              </a:extLst>
            </p:cNvPr>
            <p:cNvSpPr/>
            <p:nvPr/>
          </p:nvSpPr>
          <p:spPr>
            <a:xfrm>
              <a:off x="1479334" y="332795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52">
              <a:extLst>
                <a:ext uri="{FF2B5EF4-FFF2-40B4-BE49-F238E27FC236}">
                  <a16:creationId xmlns:a16="http://schemas.microsoft.com/office/drawing/2014/main" id="{97588694-F74D-B543-BF65-516DF62D573B}"/>
                </a:ext>
              </a:extLst>
            </p:cNvPr>
            <p:cNvSpPr/>
            <p:nvPr/>
          </p:nvSpPr>
          <p:spPr>
            <a:xfrm>
              <a:off x="1572613" y="334718"/>
              <a:ext cx="85906" cy="89753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53">
              <a:extLst>
                <a:ext uri="{FF2B5EF4-FFF2-40B4-BE49-F238E27FC236}">
                  <a16:creationId xmlns:a16="http://schemas.microsoft.com/office/drawing/2014/main" id="{71F0FABB-571B-EE45-BBF5-1BD649E61A7A}"/>
                </a:ext>
              </a:extLst>
            </p:cNvPr>
            <p:cNvSpPr/>
            <p:nvPr/>
          </p:nvSpPr>
          <p:spPr>
            <a:xfrm>
              <a:off x="1669733" y="332795"/>
              <a:ext cx="75975" cy="93920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54">
              <a:extLst>
                <a:ext uri="{FF2B5EF4-FFF2-40B4-BE49-F238E27FC236}">
                  <a16:creationId xmlns:a16="http://schemas.microsoft.com/office/drawing/2014/main" id="{6F35B898-AF9E-B24C-8095-1B2E00B5976C}"/>
                </a:ext>
              </a:extLst>
            </p:cNvPr>
            <p:cNvSpPr/>
            <p:nvPr/>
          </p:nvSpPr>
          <p:spPr>
            <a:xfrm>
              <a:off x="1772314" y="332795"/>
              <a:ext cx="77252" cy="9199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55">
              <a:extLst>
                <a:ext uri="{FF2B5EF4-FFF2-40B4-BE49-F238E27FC236}">
                  <a16:creationId xmlns:a16="http://schemas.microsoft.com/office/drawing/2014/main" id="{F31686E7-1238-1D42-9AAE-AEFC064F817E}"/>
                </a:ext>
              </a:extLst>
            </p:cNvPr>
            <p:cNvSpPr/>
            <p:nvPr/>
          </p:nvSpPr>
          <p:spPr>
            <a:xfrm>
              <a:off x="1871684" y="293688"/>
              <a:ext cx="83663" cy="133347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56">
              <a:extLst>
                <a:ext uri="{FF2B5EF4-FFF2-40B4-BE49-F238E27FC236}">
                  <a16:creationId xmlns:a16="http://schemas.microsoft.com/office/drawing/2014/main" id="{9573ACD1-98CF-3D47-8F2D-806BC94B7645}"/>
                </a:ext>
              </a:extLst>
            </p:cNvPr>
            <p:cNvSpPr/>
            <p:nvPr/>
          </p:nvSpPr>
          <p:spPr>
            <a:xfrm>
              <a:off x="1978106" y="332795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2" name="Freihandform: Form 157">
              <a:extLst>
                <a:ext uri="{FF2B5EF4-FFF2-40B4-BE49-F238E27FC236}">
                  <a16:creationId xmlns:a16="http://schemas.microsoft.com/office/drawing/2014/main" id="{5833A8CA-68BA-1D42-ADB9-DD476590B3FA}"/>
                </a:ext>
              </a:extLst>
            </p:cNvPr>
            <p:cNvSpPr/>
            <p:nvPr/>
          </p:nvSpPr>
          <p:spPr>
            <a:xfrm>
              <a:off x="2083566" y="332713"/>
              <a:ext cx="53852" cy="91758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3" name="Freihandform: Form 158">
              <a:extLst>
                <a:ext uri="{FF2B5EF4-FFF2-40B4-BE49-F238E27FC236}">
                  <a16:creationId xmlns:a16="http://schemas.microsoft.com/office/drawing/2014/main" id="{38CDB2DE-A029-F143-A449-BDAACA6CB6BE}"/>
                </a:ext>
              </a:extLst>
            </p:cNvPr>
            <p:cNvSpPr/>
            <p:nvPr/>
          </p:nvSpPr>
          <p:spPr>
            <a:xfrm>
              <a:off x="2150561" y="359721"/>
              <a:ext cx="43915" cy="19874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59">
              <a:extLst>
                <a:ext uri="{FF2B5EF4-FFF2-40B4-BE49-F238E27FC236}">
                  <a16:creationId xmlns:a16="http://schemas.microsoft.com/office/drawing/2014/main" id="{2E3EBA2D-AAD7-5F44-A166-ABBB3A44348D}"/>
                </a:ext>
              </a:extLst>
            </p:cNvPr>
            <p:cNvSpPr/>
            <p:nvPr/>
          </p:nvSpPr>
          <p:spPr>
            <a:xfrm>
              <a:off x="2221081" y="300420"/>
              <a:ext cx="97126" cy="126295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0">
              <a:extLst>
                <a:ext uri="{FF2B5EF4-FFF2-40B4-BE49-F238E27FC236}">
                  <a16:creationId xmlns:a16="http://schemas.microsoft.com/office/drawing/2014/main" id="{CB811BC1-B517-F04A-82E8-C60B78A199D1}"/>
                </a:ext>
              </a:extLst>
            </p:cNvPr>
            <p:cNvSpPr/>
            <p:nvPr/>
          </p:nvSpPr>
          <p:spPr>
            <a:xfrm>
              <a:off x="2346415" y="332795"/>
              <a:ext cx="76931" cy="9199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1">
              <a:extLst>
                <a:ext uri="{FF2B5EF4-FFF2-40B4-BE49-F238E27FC236}">
                  <a16:creationId xmlns:a16="http://schemas.microsoft.com/office/drawing/2014/main" id="{E2703D52-5297-3C48-B86D-DCFEA836ACA9}"/>
                </a:ext>
              </a:extLst>
            </p:cNvPr>
            <p:cNvSpPr/>
            <p:nvPr/>
          </p:nvSpPr>
          <p:spPr>
            <a:xfrm>
              <a:off x="2447067" y="294971"/>
              <a:ext cx="26605" cy="129501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2">
              <a:extLst>
                <a:ext uri="{FF2B5EF4-FFF2-40B4-BE49-F238E27FC236}">
                  <a16:creationId xmlns:a16="http://schemas.microsoft.com/office/drawing/2014/main" id="{DCA81DDD-FB1B-B648-8F82-E70860C4CE4D}"/>
                </a:ext>
              </a:extLst>
            </p:cNvPr>
            <p:cNvSpPr/>
            <p:nvPr/>
          </p:nvSpPr>
          <p:spPr>
            <a:xfrm>
              <a:off x="2488418" y="335039"/>
              <a:ext cx="87189" cy="89753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3">
              <a:extLst>
                <a:ext uri="{FF2B5EF4-FFF2-40B4-BE49-F238E27FC236}">
                  <a16:creationId xmlns:a16="http://schemas.microsoft.com/office/drawing/2014/main" id="{01936875-CBF0-F349-804D-4C37C944AB17}"/>
                </a:ext>
              </a:extLst>
            </p:cNvPr>
            <p:cNvSpPr/>
            <p:nvPr/>
          </p:nvSpPr>
          <p:spPr>
            <a:xfrm>
              <a:off x="2585223" y="332795"/>
              <a:ext cx="81739" cy="93920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5">
              <a:extLst>
                <a:ext uri="{FF2B5EF4-FFF2-40B4-BE49-F238E27FC236}">
                  <a16:creationId xmlns:a16="http://schemas.microsoft.com/office/drawing/2014/main" id="{92C51272-86B6-4B48-A4AE-D472CA82B923}"/>
                </a:ext>
              </a:extLst>
            </p:cNvPr>
            <p:cNvSpPr/>
            <p:nvPr/>
          </p:nvSpPr>
          <p:spPr>
            <a:xfrm>
              <a:off x="2690683" y="332713"/>
              <a:ext cx="53852" cy="91758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6">
              <a:extLst>
                <a:ext uri="{FF2B5EF4-FFF2-40B4-BE49-F238E27FC236}">
                  <a16:creationId xmlns:a16="http://schemas.microsoft.com/office/drawing/2014/main" id="{2C3A0B47-9D82-FE45-9457-BF81CD2FA7A6}"/>
                </a:ext>
              </a:extLst>
            </p:cNvPr>
            <p:cNvSpPr/>
            <p:nvPr/>
          </p:nvSpPr>
          <p:spPr>
            <a:xfrm>
              <a:off x="2754472" y="332474"/>
              <a:ext cx="69238" cy="94240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FD97DAD5-B085-5D44-BE42-8F3B9EE9F595}"/>
                </a:ext>
              </a:extLst>
            </p:cNvPr>
            <p:cNvSpPr/>
            <p:nvPr/>
          </p:nvSpPr>
          <p:spPr>
            <a:xfrm>
              <a:off x="2843264" y="294971"/>
              <a:ext cx="26605" cy="129501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D8ECE762-73AE-2C47-9441-EA7230658360}"/>
                </a:ext>
              </a:extLst>
            </p:cNvPr>
            <p:cNvSpPr/>
            <p:nvPr/>
          </p:nvSpPr>
          <p:spPr>
            <a:xfrm>
              <a:off x="2884935" y="306189"/>
              <a:ext cx="55775" cy="120525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268398A3-39FF-4648-9FD9-E1F75E54D12C}"/>
                </a:ext>
              </a:extLst>
            </p:cNvPr>
            <p:cNvSpPr/>
            <p:nvPr/>
          </p:nvSpPr>
          <p:spPr>
            <a:xfrm>
              <a:off x="2957058" y="296573"/>
              <a:ext cx="75970" cy="130142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DEEB7B98-F8C7-214A-AF07-80D38697E5EF}"/>
                </a:ext>
              </a:extLst>
            </p:cNvPr>
            <p:cNvSpPr/>
            <p:nvPr/>
          </p:nvSpPr>
          <p:spPr>
            <a:xfrm>
              <a:off x="3049376" y="306189"/>
              <a:ext cx="55775" cy="120525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B0794D66-9071-5140-AC48-F2C47D431BC6}"/>
                </a:ext>
              </a:extLst>
            </p:cNvPr>
            <p:cNvSpPr/>
            <p:nvPr/>
          </p:nvSpPr>
          <p:spPr>
            <a:xfrm>
              <a:off x="510639" y="494671"/>
              <a:ext cx="92638" cy="124051"/>
            </a:xfrm>
            <a:custGeom>
              <a:avLst/>
              <a:gdLst>
                <a:gd name="connsiteX0" fmla="*/ 275273 w 275272"/>
                <a:gd name="connsiteY0" fmla="*/ 60960 h 368617"/>
                <a:gd name="connsiteX1" fmla="*/ 170498 w 275272"/>
                <a:gd name="connsiteY1" fmla="*/ 60960 h 368617"/>
                <a:gd name="connsiteX2" fmla="*/ 170498 w 275272"/>
                <a:gd name="connsiteY2" fmla="*/ 368617 h 368617"/>
                <a:gd name="connsiteX3" fmla="*/ 104775 w 275272"/>
                <a:gd name="connsiteY3" fmla="*/ 368617 h 368617"/>
                <a:gd name="connsiteX4" fmla="*/ 104775 w 275272"/>
                <a:gd name="connsiteY4" fmla="*/ 60960 h 368617"/>
                <a:gd name="connsiteX5" fmla="*/ 0 w 275272"/>
                <a:gd name="connsiteY5" fmla="*/ 60960 h 368617"/>
                <a:gd name="connsiteX6" fmla="*/ 0 w 275272"/>
                <a:gd name="connsiteY6" fmla="*/ 0 h 368617"/>
                <a:gd name="connsiteX7" fmla="*/ 275273 w 275272"/>
                <a:gd name="connsiteY7" fmla="*/ 0 h 368617"/>
                <a:gd name="connsiteX8" fmla="*/ 275273 w 275272"/>
                <a:gd name="connsiteY8" fmla="*/ 6096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272" h="368617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41947595-CA8E-5241-98C0-5EFA06643BED}"/>
                </a:ext>
              </a:extLst>
            </p:cNvPr>
            <p:cNvSpPr/>
            <p:nvPr/>
          </p:nvSpPr>
          <p:spPr>
            <a:xfrm>
              <a:off x="603919" y="526726"/>
              <a:ext cx="81739" cy="93920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7 w 242887"/>
                <a:gd name="connsiteY5" fmla="*/ 160972 h 279082"/>
                <a:gd name="connsiteX6" fmla="*/ 133350 w 242887"/>
                <a:gd name="connsiteY6" fmla="*/ 225742 h 279082"/>
                <a:gd name="connsiteX7" fmla="*/ 199073 w 242887"/>
                <a:gd name="connsiteY7" fmla="*/ 194310 h 279082"/>
                <a:gd name="connsiteX8" fmla="*/ 238125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F7EB5DA7-F9C3-684D-838F-266E140A7655}"/>
                </a:ext>
              </a:extLst>
            </p:cNvPr>
            <p:cNvSpPr/>
            <p:nvPr/>
          </p:nvSpPr>
          <p:spPr>
            <a:xfrm>
              <a:off x="703929" y="526405"/>
              <a:ext cx="75649" cy="94241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3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5E2D2D99-EF02-1D4D-9F6A-DEB889A0447B}"/>
                </a:ext>
              </a:extLst>
            </p:cNvPr>
            <p:cNvSpPr/>
            <p:nvPr/>
          </p:nvSpPr>
          <p:spPr>
            <a:xfrm>
              <a:off x="797850" y="487619"/>
              <a:ext cx="76931" cy="131103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2F91FC47-FBF2-C346-8E62-806EB9B2438F}"/>
                </a:ext>
              </a:extLst>
            </p:cNvPr>
            <p:cNvSpPr/>
            <p:nvPr/>
          </p:nvSpPr>
          <p:spPr>
            <a:xfrm>
              <a:off x="901707" y="526726"/>
              <a:ext cx="76931" cy="9199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A4630EB4-B754-944C-9CB6-CE520408D1BF}"/>
                </a:ext>
              </a:extLst>
            </p:cNvPr>
            <p:cNvSpPr/>
            <p:nvPr/>
          </p:nvSpPr>
          <p:spPr>
            <a:xfrm>
              <a:off x="1002359" y="488901"/>
              <a:ext cx="26605" cy="129501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48F22E58-B093-7A4C-8FD8-28E1C21328AA}"/>
                </a:ext>
              </a:extLst>
            </p:cNvPr>
            <p:cNvSpPr/>
            <p:nvPr/>
          </p:nvSpPr>
          <p:spPr>
            <a:xfrm>
              <a:off x="1045312" y="526405"/>
              <a:ext cx="69238" cy="94241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2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A6E2FCD4-9705-3940-BF2A-D1239696D458}"/>
                </a:ext>
              </a:extLst>
            </p:cNvPr>
            <p:cNvSpPr/>
            <p:nvPr/>
          </p:nvSpPr>
          <p:spPr>
            <a:xfrm>
              <a:off x="1131540" y="526405"/>
              <a:ext cx="75649" cy="94241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D6DD86DF-00FF-D74B-981F-9FD8B5BF1914}"/>
                </a:ext>
              </a:extLst>
            </p:cNvPr>
            <p:cNvSpPr/>
            <p:nvPr/>
          </p:nvSpPr>
          <p:spPr>
            <a:xfrm>
              <a:off x="1225460" y="487619"/>
              <a:ext cx="76931" cy="131103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91A50E87-376B-6D43-978E-5C6F4575592A}"/>
                </a:ext>
              </a:extLst>
            </p:cNvPr>
            <p:cNvSpPr/>
            <p:nvPr/>
          </p:nvSpPr>
          <p:spPr>
            <a:xfrm>
              <a:off x="1324189" y="526726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A011A632-65C3-334B-891C-670B5B727835}"/>
                </a:ext>
              </a:extLst>
            </p:cNvPr>
            <p:cNvSpPr/>
            <p:nvPr/>
          </p:nvSpPr>
          <p:spPr>
            <a:xfrm>
              <a:off x="1482539" y="494671"/>
              <a:ext cx="77893" cy="124051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6359897B-BEE2-184D-9C5D-0F9713382934}"/>
                </a:ext>
              </a:extLst>
            </p:cNvPr>
            <p:cNvSpPr/>
            <p:nvPr/>
          </p:nvSpPr>
          <p:spPr>
            <a:xfrm>
              <a:off x="1564279" y="526726"/>
              <a:ext cx="76290" cy="93920"/>
            </a:xfrm>
            <a:custGeom>
              <a:avLst/>
              <a:gdLst>
                <a:gd name="connsiteX0" fmla="*/ 115253 w 226694"/>
                <a:gd name="connsiteY0" fmla="*/ 107633 h 279082"/>
                <a:gd name="connsiteX1" fmla="*/ 165735 w 226694"/>
                <a:gd name="connsiteY1" fmla="*/ 113347 h 279082"/>
                <a:gd name="connsiteX2" fmla="*/ 165735 w 226694"/>
                <a:gd name="connsiteY2" fmla="*/ 103822 h 279082"/>
                <a:gd name="connsiteX3" fmla="*/ 106680 w 226694"/>
                <a:gd name="connsiteY3" fmla="*/ 52388 h 279082"/>
                <a:gd name="connsiteX4" fmla="*/ 39053 w 226694"/>
                <a:gd name="connsiteY4" fmla="*/ 67627 h 279082"/>
                <a:gd name="connsiteX5" fmla="*/ 25717 w 226694"/>
                <a:gd name="connsiteY5" fmla="*/ 15240 h 279082"/>
                <a:gd name="connsiteX6" fmla="*/ 113347 w 226694"/>
                <a:gd name="connsiteY6" fmla="*/ 0 h 279082"/>
                <a:gd name="connsiteX7" fmla="*/ 226695 w 226694"/>
                <a:gd name="connsiteY7" fmla="*/ 102870 h 279082"/>
                <a:gd name="connsiteX8" fmla="*/ 226695 w 226694"/>
                <a:gd name="connsiteY8" fmla="*/ 273367 h 279082"/>
                <a:gd name="connsiteX9" fmla="*/ 167640 w 226694"/>
                <a:gd name="connsiteY9" fmla="*/ 273367 h 279082"/>
                <a:gd name="connsiteX10" fmla="*/ 167640 w 226694"/>
                <a:gd name="connsiteY10" fmla="*/ 244792 h 279082"/>
                <a:gd name="connsiteX11" fmla="*/ 165735 w 226694"/>
                <a:gd name="connsiteY11" fmla="*/ 244792 h 279082"/>
                <a:gd name="connsiteX12" fmla="*/ 87630 w 226694"/>
                <a:gd name="connsiteY12" fmla="*/ 279083 h 279082"/>
                <a:gd name="connsiteX13" fmla="*/ 0 w 226694"/>
                <a:gd name="connsiteY13" fmla="*/ 194310 h 279082"/>
                <a:gd name="connsiteX14" fmla="*/ 115253 w 226694"/>
                <a:gd name="connsiteY14" fmla="*/ 107633 h 279082"/>
                <a:gd name="connsiteX15" fmla="*/ 104775 w 226694"/>
                <a:gd name="connsiteY15" fmla="*/ 232410 h 279082"/>
                <a:gd name="connsiteX16" fmla="*/ 165735 w 226694"/>
                <a:gd name="connsiteY16" fmla="*/ 200025 h 279082"/>
                <a:gd name="connsiteX17" fmla="*/ 165735 w 226694"/>
                <a:gd name="connsiteY17" fmla="*/ 153352 h 279082"/>
                <a:gd name="connsiteX18" fmla="*/ 121920 w 226694"/>
                <a:gd name="connsiteY18" fmla="*/ 148590 h 279082"/>
                <a:gd name="connsiteX19" fmla="*/ 60007 w 226694"/>
                <a:gd name="connsiteY19" fmla="*/ 192405 h 279082"/>
                <a:gd name="connsiteX20" fmla="*/ 104775 w 226694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6694" h="279082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E4B815F2-CB49-0640-ABE6-3672063D4CAB}"/>
                </a:ext>
              </a:extLst>
            </p:cNvPr>
            <p:cNvSpPr/>
            <p:nvPr/>
          </p:nvSpPr>
          <p:spPr>
            <a:xfrm>
              <a:off x="1667175" y="487619"/>
              <a:ext cx="78854" cy="131103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8181309B-0D7E-C447-A3C3-424CD8B2E92D}"/>
                </a:ext>
              </a:extLst>
            </p:cNvPr>
            <p:cNvSpPr/>
            <p:nvPr/>
          </p:nvSpPr>
          <p:spPr>
            <a:xfrm>
              <a:off x="1761416" y="528970"/>
              <a:ext cx="77252" cy="9199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A1C774AA-192A-1540-A66B-EEAAA42C920D}"/>
                </a:ext>
              </a:extLst>
            </p:cNvPr>
            <p:cNvSpPr/>
            <p:nvPr/>
          </p:nvSpPr>
          <p:spPr>
            <a:xfrm>
              <a:off x="1865594" y="487299"/>
              <a:ext cx="20835" cy="131103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697E23D0-D2AD-3142-8A3E-37ABC6B906BF}"/>
                </a:ext>
              </a:extLst>
            </p:cNvPr>
            <p:cNvSpPr/>
            <p:nvPr/>
          </p:nvSpPr>
          <p:spPr>
            <a:xfrm>
              <a:off x="1905021" y="500120"/>
              <a:ext cx="55775" cy="120526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8 w 165734"/>
                <a:gd name="connsiteY3" fmla="*/ 282892 h 358140"/>
                <a:gd name="connsiteX4" fmla="*/ 40958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C5FC6DC2-92D0-6D49-BDFC-FA21FE7F4933}"/>
                </a:ext>
              </a:extLst>
            </p:cNvPr>
            <p:cNvSpPr/>
            <p:nvPr/>
          </p:nvSpPr>
          <p:spPr>
            <a:xfrm>
              <a:off x="1977144" y="490504"/>
              <a:ext cx="75970" cy="130142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402015ED-8B6D-DE4E-8093-A79355D84C63}"/>
                </a:ext>
              </a:extLst>
            </p:cNvPr>
            <p:cNvSpPr/>
            <p:nvPr/>
          </p:nvSpPr>
          <p:spPr>
            <a:xfrm>
              <a:off x="2069462" y="500120"/>
              <a:ext cx="55775" cy="120526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2870 w 165734"/>
                <a:gd name="connsiteY13" fmla="*/ 138113 h 358140"/>
                <a:gd name="connsiteX14" fmla="*/ 102870 w 165734"/>
                <a:gd name="connsiteY14" fmla="*/ 269558 h 358140"/>
                <a:gd name="connsiteX15" fmla="*/ 131445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94" name="Freihandform: Form 87">
            <a:extLst>
              <a:ext uri="{FF2B5EF4-FFF2-40B4-BE49-F238E27FC236}">
                <a16:creationId xmlns:a16="http://schemas.microsoft.com/office/drawing/2014/main" id="{C7277E25-4150-EF4E-B2B2-BD3F0A3E2646}"/>
              </a:ext>
            </a:extLst>
          </p:cNvPr>
          <p:cNvSpPr/>
          <p:nvPr userDrawn="1"/>
        </p:nvSpPr>
        <p:spPr>
          <a:xfrm>
            <a:off x="10272966" y="300704"/>
            <a:ext cx="1403903" cy="535987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1E42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pic>
        <p:nvPicPr>
          <p:cNvPr id="115" name="Grafik 114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493" y="300704"/>
            <a:ext cx="1543659" cy="541185"/>
          </a:xfrm>
          <a:prstGeom prst="rect">
            <a:avLst/>
          </a:prstGeom>
        </p:spPr>
      </p:pic>
      <p:sp>
        <p:nvSpPr>
          <p:cNvPr id="116" name="Bildplatzhalter 5"/>
          <p:cNvSpPr>
            <a:spLocks noGrp="1"/>
          </p:cNvSpPr>
          <p:nvPr>
            <p:ph type="pic" sz="quarter" idx="14"/>
          </p:nvPr>
        </p:nvSpPr>
        <p:spPr>
          <a:xfrm>
            <a:off x="6524462" y="300704"/>
            <a:ext cx="1731896" cy="53598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8805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999BA3-562C-4E45-8F3B-A023F450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581D5-332D-4C8E-AF45-43F518A6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9" y="1631156"/>
            <a:ext cx="11157744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D440FC-859D-4521-8908-A802F3E53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4F9C00A-8AFB-47C9-A7D9-7909CE906E5E}" type="datetime4">
              <a:rPr lang="de-DE" smtClean="0"/>
              <a:t>17. Oktober 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8C6C66-9703-4B53-BAF2-1F89587F3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319" y="6634666"/>
            <a:ext cx="5469732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2FAB54-E254-4FCB-BB98-1E4D5A6D0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9EA0DE-CCA1-4795-BE19-74C50E90E6A6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10272FF-60F7-4AF4-9CD6-0A04080EA9B4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94ED806-CB19-40CC-A79A-590CC1E2001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4AAF1C65-9B2D-4CC2-AC17-D265DC4D73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1A82F2D7-59C8-4661-B851-DC008AA6297D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11FD6C4-2ACB-4F36-A3BA-68BAE793E096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79170BC-C4E0-4FC8-93EA-CB17C93272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CF57888-5707-459D-94AC-235CE0EBEDD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03014F4-59EC-4961-A29D-259A33C423B3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D8E14DC-3898-4BA1-91EA-46ADC917A5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1BB5C6B-8FE1-44A4-AE66-C1DB01AE301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9991022-C87B-4402-BF68-CD3ED59D5D85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39873FE-8996-424A-94FE-EEEEC0A7B6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04C5416-0A35-4C8C-8975-2F5057F69C4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F9A881D-D6E0-4814-9AA3-AAF6697A62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ECA5DFD-01F8-49BC-9DE9-EE577F9B40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348451A-09A8-4D76-AA86-13CB9E64077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24DF2EB-9047-4DDA-A12A-4BAC4962F78F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690A038D-AD14-4251-A0A9-22A5F6713B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9E3D1027-C73A-4F88-AB8D-55680AB053E7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6244944-3F97-4474-9D4A-3D31BFBC3DF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97182CE3-E874-4552-B5B3-4076C99089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DFE6B92B-AC01-4482-A6E7-400EF0E7F9ED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EC5B3E5-86C1-4027-A74F-789345DFA68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7B62256D-25C9-4899-8A3A-7970EB4706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29A2699B-FFE8-4320-BD7A-68D214D9A58B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1A9EBBA-C118-4592-8B41-99FA797C19C4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5C123C4-4121-4372-95DF-DC232FC6A3E1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10C304B0-38F3-48B3-A23F-BE3EEAF774D6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A609601-D94C-4D05-A7EF-EBA9D6ACA0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2CEB042-C849-4BE4-A0F0-03828777E713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58E387D-7C2C-4001-94B6-8372A7A130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9EC0E69-66B7-4E97-B0AC-9CFA0DDEC604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4" name="Freihandform: Form 43">
            <a:extLst>
              <a:ext uri="{FF2B5EF4-FFF2-40B4-BE49-F238E27FC236}">
                <a16:creationId xmlns:a16="http://schemas.microsoft.com/office/drawing/2014/main" id="{14D59EEC-E0BA-43F5-BBC0-E623BF3D0A64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59824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  <p:sldLayoutId id="2147483774" r:id="rId18"/>
    <p:sldLayoutId id="2147483775" r:id="rId19"/>
    <p:sldLayoutId id="2147483776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041E4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187">
          <p15:clr>
            <a:srgbClr val="F26B43"/>
          </p15:clr>
        </p15:guide>
        <p15:guide id="6" orient="horz" pos="799">
          <p15:clr>
            <a:srgbClr val="F26B43"/>
          </p15:clr>
        </p15:guide>
        <p15:guide id="7" orient="horz" pos="1026">
          <p15:clr>
            <a:srgbClr val="F26B43"/>
          </p15:clr>
        </p15:guide>
        <p15:guide id="8" orient="horz" pos="3906">
          <p15:clr>
            <a:srgbClr val="F26B43"/>
          </p15:clr>
        </p15:guide>
        <p15:guide id="9" orient="horz" pos="4178">
          <p15:clr>
            <a:srgbClr val="F26B43"/>
          </p15:clr>
        </p15:guide>
        <p15:guide id="10" pos="3908">
          <p15:clr>
            <a:srgbClr val="F26B43"/>
          </p15:clr>
        </p15:guide>
        <p15:guide id="11" pos="37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94006-732C-1726-487A-F13E543FC0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4" name="Bildplatzhalter 13" descr="Ein Bild, das Text, Geschirr enthält.&#10;&#10;Automatisch generierte Beschreibung">
            <a:extLst>
              <a:ext uri="{FF2B5EF4-FFF2-40B4-BE49-F238E27FC236}">
                <a16:creationId xmlns:a16="http://schemas.microsoft.com/office/drawing/2014/main" id="{02E97C76-A4DB-4E4D-BDE5-C46A0BB87CF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75" b="11875"/>
          <a:stretch/>
        </p:blipFill>
        <p:spPr>
          <a:xfrm>
            <a:off x="0" y="1628775"/>
            <a:ext cx="12192000" cy="5229226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AA6E6D3-3A0E-C268-0380-5576585F8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163" y="2614613"/>
            <a:ext cx="10802637" cy="1978811"/>
          </a:xfrm>
        </p:spPr>
        <p:txBody>
          <a:bodyPr/>
          <a:lstStyle/>
          <a:p>
            <a:r>
              <a:rPr lang="en-US" sz="4000" dirty="0"/>
              <a:t>Few-Shot Continual Learning for Free-Text </a:t>
            </a:r>
            <a:br>
              <a:rPr lang="en-US" sz="4000" dirty="0"/>
            </a:br>
            <a:r>
              <a:rPr lang="en-US" sz="4000" dirty="0" err="1"/>
              <a:t>Promptable</a:t>
            </a:r>
            <a:r>
              <a:rPr lang="en-US" sz="4000" dirty="0"/>
              <a:t> 3D Medical Image Segmentation</a:t>
            </a:r>
            <a:br>
              <a:rPr lang="en-US" sz="4000" dirty="0"/>
            </a:br>
            <a:endParaRPr lang="en-IN" sz="4000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E246FC3-8ED4-9C39-20EA-01C379671C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9DE6B7-F29D-EBF4-CDAC-1902D3F1543D}"/>
              </a:ext>
            </a:extLst>
          </p:cNvPr>
          <p:cNvSpPr txBox="1"/>
          <p:nvPr/>
        </p:nvSpPr>
        <p:spPr>
          <a:xfrm>
            <a:off x="520163" y="4243387"/>
            <a:ext cx="7998472" cy="16106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IN" dirty="0"/>
              <a:t>Master’s Thesis Intro Talk</a:t>
            </a:r>
            <a:br>
              <a:rPr lang="en-IN" b="1" dirty="0"/>
            </a:br>
            <a:r>
              <a:rPr lang="en-IN" b="1" dirty="0"/>
              <a:t>Supervisor</a:t>
            </a:r>
            <a:r>
              <a:rPr lang="en-IN" dirty="0"/>
              <a:t> </a:t>
            </a:r>
            <a:r>
              <a:rPr lang="en-IN" b="1" dirty="0"/>
              <a:t>–</a:t>
            </a:r>
            <a:r>
              <a:rPr lang="en-IN" dirty="0"/>
              <a:t> Prof. Dr.-Ing. </a:t>
            </a:r>
            <a:r>
              <a:rPr lang="en-IN" dirty="0" err="1"/>
              <a:t>habil</a:t>
            </a:r>
            <a:r>
              <a:rPr lang="en-IN" dirty="0"/>
              <a:t>. Andreas Maier,</a:t>
            </a:r>
            <a:r>
              <a:rPr lang="en-IN" b="1" dirty="0"/>
              <a:t> </a:t>
            </a:r>
            <a:r>
              <a:rPr lang="en-IN" dirty="0"/>
              <a:t>Dr.-Ing. Tomás Arias Vergara</a:t>
            </a:r>
            <a:br>
              <a:rPr kumimoji="0" lang="en-IN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IN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Presented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IN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By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 – </a:t>
            </a:r>
            <a:r>
              <a:rPr lang="de-DE" dirty="0"/>
              <a:t>Shashank, 23391962</a:t>
            </a:r>
            <a:br>
              <a:rPr lang="en-IN" dirty="0">
                <a:latin typeface="Arial"/>
              </a:rPr>
            </a:br>
            <a:r>
              <a:rPr lang="en-IN" dirty="0">
                <a:latin typeface="Arial"/>
              </a:rPr>
              <a:t>Date </a:t>
            </a:r>
            <a:r>
              <a:rPr lang="en-IN" dirty="0"/>
              <a:t>– 5</a:t>
            </a:r>
            <a:r>
              <a:rPr lang="en-IN" baseline="30000" dirty="0"/>
              <a:t>th</a:t>
            </a:r>
            <a:r>
              <a:rPr lang="en-IN" dirty="0"/>
              <a:t> August, 2026</a:t>
            </a:r>
            <a:r>
              <a:rPr lang="en-IN" dirty="0">
                <a:latin typeface="Arial"/>
              </a:rPr>
              <a:t>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53545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5F176-D2CF-7FF6-764F-6498C4AE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8FAF9B1-EAD2-7EB7-DB7B-A64325E35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F8D9E-FC5B-47BA-AA7D-A56B8FD24122}" type="datetime4">
              <a:rPr lang="de-DE" smtClean="0"/>
              <a:pPr/>
              <a:t>17. Oktober 2026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858A77C-B65E-2B0E-AF51-2ECD44BA7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47B0C61-5C2E-FF5C-51DA-AC9640487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C1A6D2C-B937-7208-88ED-B1BC566421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IN" dirty="0"/>
              <a:t>Research Question &amp; Thesis Scope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22BAFA1-99CC-5C03-D9C0-0C999B6EEF0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02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F72C18-2EA5-9FDA-613C-6BF3E12894C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IN" dirty="0"/>
              <a:t>Experimental Evaluation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4F90CDF-C3FA-8E2E-8B1A-BD44741BD0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IN" dirty="0"/>
              <a:t>05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7B19D22B-9D19-CEB2-7F79-BC37FC5A164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IN" dirty="0"/>
              <a:t>Related Work</a:t>
            </a:r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CC91A88-0CD3-8B92-5D41-742A70D2762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de-DE" dirty="0"/>
              <a:t>03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C468F3-770E-C14A-1BC0-0C6B0585EB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728CF0D-CEAB-15EF-F45F-A17B99DD7A5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IN" dirty="0"/>
              <a:t>04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B1FDB40-3B7A-9E99-A863-B293C3387CD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IN" dirty="0"/>
              <a:t>Results &amp; Discussion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5AEAA6E-47D6-1F6D-6AA5-A922001EFBD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IN" dirty="0"/>
              <a:t>06</a:t>
            </a:r>
          </a:p>
        </p:txBody>
      </p:sp>
      <p:sp>
        <p:nvSpPr>
          <p:cNvPr id="27" name="Titel 26">
            <a:extLst>
              <a:ext uri="{FF2B5EF4-FFF2-40B4-BE49-F238E27FC236}">
                <a16:creationId xmlns:a16="http://schemas.microsoft.com/office/drawing/2014/main" id="{A0DB6024-F853-D903-D90D-830E2DCB8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95E63339-BC86-1F9F-E046-0EECADB431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Motivation &amp; Problem Statement</a:t>
            </a:r>
            <a:endParaRPr lang="de-DE" dirty="0"/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F4A767C7-063E-2997-D40B-F4E7FA0171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525648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2BDE70CE-CF25-4CE6-B28A-B3871B90A4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17351" y="6634666"/>
            <a:ext cx="849593" cy="123111"/>
          </a:xfrm>
        </p:spPr>
        <p:txBody>
          <a:bodyPr/>
          <a:lstStyle/>
          <a:p>
            <a:fld id="{C8D89E98-54A4-43F9-9249-7D6B5CD88EDB}" type="datetime4">
              <a:rPr lang="de-DE" smtClean="0"/>
              <a:pPr/>
              <a:t>17. Oktober 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B95F60E9-1E76-43F3-8365-6C969F9DA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9" y="6634666"/>
            <a:ext cx="5469732" cy="123111"/>
          </a:xfrm>
        </p:spPr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7BC3FCE-392F-4A16-87A0-BDE8D7DF5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FA6ADD3-E70C-46ED-983A-BEFB04690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en-IN"/>
              <a:t>Evolution of Medical Image Segmentation</a:t>
            </a:r>
            <a:endParaRPr lang="de-DE" dirty="0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158CC0D2-25AB-6924-EAB9-ED09AE61CCD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0822" y="5341833"/>
            <a:ext cx="11266378" cy="511084"/>
          </a:xfrm>
        </p:spPr>
        <p:txBody>
          <a:bodyPr/>
          <a:lstStyle/>
          <a:p>
            <a:r>
              <a:rPr lang="en-US" sz="1600" dirty="0" err="1"/>
              <a:t>Promptable</a:t>
            </a:r>
            <a:r>
              <a:rPr lang="en-US" sz="1600" dirty="0"/>
              <a:t> foundation models enable open-vocabulary medical segmentation by using free-text prompts to generalize to unseen anatomical structures</a:t>
            </a:r>
          </a:p>
          <a:p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7BE7EB-6F23-B2BA-0440-16BD3627DDC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/>
          <a:lstStyle/>
          <a:p>
            <a:r>
              <a:rPr lang="en-IN"/>
              <a:t>From task-specific models to free-text promptable foundation models</a:t>
            </a:r>
            <a:endParaRPr lang="en-IN" dirty="0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C12D45F-429C-057D-5E1A-AABD59DD6D0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C65987-2863-F522-5B1E-D75C4073F50C}"/>
              </a:ext>
            </a:extLst>
          </p:cNvPr>
          <p:cNvSpPr txBox="1"/>
          <p:nvPr/>
        </p:nvSpPr>
        <p:spPr>
          <a:xfrm>
            <a:off x="1724100" y="4498387"/>
            <a:ext cx="22164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Source: Zhao, Ziheng, et al. (2025). </a:t>
            </a:r>
          </a:p>
          <a:p>
            <a:endParaRPr lang="en-IN" sz="1000" dirty="0"/>
          </a:p>
        </p:txBody>
      </p:sp>
      <p:pic>
        <p:nvPicPr>
          <p:cNvPr id="49" name="Picture Placeholder 48">
            <a:extLst>
              <a:ext uri="{FF2B5EF4-FFF2-40B4-BE49-F238E27FC236}">
                <a16:creationId xmlns:a16="http://schemas.microsoft.com/office/drawing/2014/main" id="{C2792DB3-7352-DB25-FCA9-FF38F17EE46D}"/>
              </a:ext>
            </a:extLst>
          </p:cNvPr>
          <p:cNvPicPr preferRelativeResize="0">
            <a:picLocks noGrp="1"/>
          </p:cNvPicPr>
          <p:nvPr>
            <p:ph type="pic" sz="quarter" idx="2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1" b="1321"/>
          <a:stretch/>
        </p:blipFill>
        <p:spPr>
          <a:xfrm>
            <a:off x="409178" y="1732572"/>
            <a:ext cx="11157746" cy="276581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20589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A5A2D-D59D-65C1-1605-C34C5ABB8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FA7CAFCA-1DDF-A874-C8BE-F789FDAE3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Real-World Adaptation Challenges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D456FF8-CB09-98DB-E118-237C9C179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9E98-54A4-43F9-9249-7D6B5CD88EDB}" type="datetime4">
              <a:rPr lang="de-DE" smtClean="0"/>
              <a:pPr/>
              <a:t>17. Oktober 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7831B2EE-1352-AD87-0F2A-88D7443E7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543BFB6F-8651-D697-159E-602A4F9A1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0696CB7-4437-C138-B3DC-C2F98C4ED5E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9"/>
            <a:ext cx="7522747" cy="234566"/>
          </a:xfrm>
        </p:spPr>
        <p:txBody>
          <a:bodyPr/>
          <a:lstStyle/>
          <a:p>
            <a:r>
              <a:rPr lang="en-IN" dirty="0"/>
              <a:t>Why </a:t>
            </a:r>
            <a:r>
              <a:rPr lang="en-IN" dirty="0" err="1"/>
              <a:t>promptable</a:t>
            </a:r>
            <a:r>
              <a:rPr lang="en-IN" dirty="0"/>
              <a:t> segmentation models require continual few-shot adaptation?</a:t>
            </a:r>
          </a:p>
          <a:p>
            <a:endParaRPr lang="en-IN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2AEB5B8-FB75-57E5-A64C-56B03721F05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02A6977B-7EE1-359C-8E2D-EF7D27975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2783" y="1537782"/>
            <a:ext cx="3180898" cy="4581056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3FB93567-BE6D-A400-D144-ACCE5C3DC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398" y="1437993"/>
            <a:ext cx="2748229" cy="4680845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FA664CEE-8D8F-86A4-3136-F5C564492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3154" y="1437994"/>
            <a:ext cx="4080418" cy="4680844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5A606B16-B238-67FC-7843-EC32FDE764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319" y="1440776"/>
            <a:ext cx="2366106" cy="468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145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28F2F-1120-FB84-B47B-C89007D7F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2F8613F6-867A-DE83-AB0C-7ADA877F633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8663390" cy="945387"/>
          </a:xfrm>
        </p:spPr>
        <p:txBody>
          <a:bodyPr/>
          <a:lstStyle/>
          <a:p>
            <a:r>
              <a:rPr lang="en-IN" dirty="0"/>
              <a:t>Systematic evaluation of continual learning for </a:t>
            </a:r>
            <a:r>
              <a:rPr lang="en-IN" dirty="0" err="1"/>
              <a:t>promptable</a:t>
            </a:r>
            <a:r>
              <a:rPr lang="en-IN" dirty="0"/>
              <a:t> 3D medical image segmentation</a:t>
            </a:r>
          </a:p>
          <a:p>
            <a:endParaRPr lang="en-IN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0404AD3-8533-806A-9538-F47FADDE8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Thesis Scope and Research Question</a:t>
            </a:r>
            <a:endParaRPr lang="en-IN" dirty="0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D67A19C-6F21-E14A-7DB6-166F68617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9E98-54A4-43F9-9249-7D6B5CD88EDB}" type="datetime4">
              <a:rPr lang="de-DE" smtClean="0"/>
              <a:pPr/>
              <a:t>17. Oktober 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96B950B-1F90-9EB0-24AE-C65F27B35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804E5A1-894E-0153-5496-E8243493A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3A0BA03E-5D81-3A7E-290B-7A76A6972277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EDF560-4DE6-F592-331D-4E19EDA53E94}"/>
              </a:ext>
            </a:extLst>
          </p:cNvPr>
          <p:cNvSpPr txBox="1"/>
          <p:nvPr/>
        </p:nvSpPr>
        <p:spPr>
          <a:xfrm>
            <a:off x="627651" y="4942509"/>
            <a:ext cx="11378820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IN" sz="1600" dirty="0"/>
              <a:t>Which continual learning strategy provides the best trade-off between adaptation performance and catastrophic forgetting during few-shot adaptation of free-text </a:t>
            </a:r>
            <a:r>
              <a:rPr lang="en-IN" sz="1600" dirty="0" err="1"/>
              <a:t>promptable</a:t>
            </a:r>
            <a:r>
              <a:rPr lang="en-IN" sz="1600" dirty="0"/>
              <a:t> universal 3D medical image segmentation models?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E091914-0C8B-8BD0-FB13-733775D3CA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87773"/>
              </p:ext>
            </p:extLst>
          </p:nvPr>
        </p:nvGraphicFramePr>
        <p:xfrm>
          <a:off x="821927" y="1587692"/>
          <a:ext cx="10445017" cy="234820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878732">
                  <a:extLst>
                    <a:ext uri="{9D8B030D-6E8A-4147-A177-3AD203B41FA5}">
                      <a16:colId xmlns:a16="http://schemas.microsoft.com/office/drawing/2014/main" val="4005475"/>
                    </a:ext>
                  </a:extLst>
                </a:gridCol>
                <a:gridCol w="5566285">
                  <a:extLst>
                    <a:ext uri="{9D8B030D-6E8A-4147-A177-3AD203B41FA5}">
                      <a16:colId xmlns:a16="http://schemas.microsoft.com/office/drawing/2014/main" val="3049896064"/>
                    </a:ext>
                  </a:extLst>
                </a:gridCol>
              </a:tblGrid>
              <a:tr h="538509">
                <a:tc>
                  <a:txBody>
                    <a:bodyPr/>
                    <a:lstStyle/>
                    <a:p>
                      <a:pPr algn="l"/>
                      <a:r>
                        <a:rPr lang="en-IN" sz="1600" dirty="0"/>
                        <a:t>What’s Missing?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/>
                        <a:t>Thesis Scope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54997"/>
                  </a:ext>
                </a:extLst>
              </a:tr>
              <a:tr h="658515">
                <a:tc>
                  <a:txBody>
                    <a:bodyPr/>
                    <a:lstStyle/>
                    <a:p>
                      <a:pPr algn="l"/>
                      <a:r>
                        <a:rPr lang="en-IN" sz="1600" dirty="0"/>
                        <a:t>No benchmark for </a:t>
                      </a:r>
                      <a:r>
                        <a:rPr lang="en-IN" sz="1600" b="0" dirty="0"/>
                        <a:t>few-shot continual adaptation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/>
                        <a:t>Offline class-incremental benchmark with </a:t>
                      </a:r>
                      <a:r>
                        <a:rPr lang="en-IN" sz="1600" dirty="0" err="1"/>
                        <a:t>VoxTell</a:t>
                      </a:r>
                      <a:endParaRPr lang="en-I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7024593"/>
                  </a:ext>
                </a:extLst>
              </a:tr>
              <a:tr h="612671">
                <a:tc>
                  <a:txBody>
                    <a:bodyPr/>
                    <a:lstStyle/>
                    <a:p>
                      <a:pPr algn="l"/>
                      <a:r>
                        <a:rPr lang="en-IN" sz="1600" dirty="0"/>
                        <a:t>No systematic evaluation of CL strategies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/>
                        <a:t>FT • </a:t>
                      </a:r>
                      <a:r>
                        <a:rPr lang="en-IN" sz="1600" dirty="0" err="1"/>
                        <a:t>LoRA</a:t>
                      </a:r>
                      <a:r>
                        <a:rPr lang="en-IN" sz="1600" dirty="0"/>
                        <a:t> • CPE-CLIP • ZSCL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4717452"/>
                  </a:ext>
                </a:extLst>
              </a:tr>
              <a:tr h="538509">
                <a:tc>
                  <a:txBody>
                    <a:bodyPr/>
                    <a:lstStyle/>
                    <a:p>
                      <a:pPr algn="l"/>
                      <a:r>
                        <a:rPr lang="en-IN" sz="1600" dirty="0"/>
                        <a:t>Unknown adaptation–forgetting trade-off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/>
                        <a:t>Quantitative comparison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5947230"/>
                  </a:ext>
                </a:extLst>
              </a:tr>
            </a:tbl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6EC71978-DC5F-76CF-15E1-E781761F2D28}"/>
              </a:ext>
            </a:extLst>
          </p:cNvPr>
          <p:cNvSpPr/>
          <p:nvPr/>
        </p:nvSpPr>
        <p:spPr>
          <a:xfrm>
            <a:off x="518320" y="4685845"/>
            <a:ext cx="11157743" cy="9453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4C01F3-1FCB-7954-E982-D302E8577AAA}"/>
              </a:ext>
            </a:extLst>
          </p:cNvPr>
          <p:cNvSpPr/>
          <p:nvPr/>
        </p:nvSpPr>
        <p:spPr>
          <a:xfrm>
            <a:off x="821930" y="4354384"/>
            <a:ext cx="2623931" cy="518627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IN" sz="1600" b="1" dirty="0">
                <a:solidFill>
                  <a:schemeClr val="bg1"/>
                </a:solidFill>
                <a:latin typeface="Arial"/>
              </a:rPr>
              <a:t>Research Question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98563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01864-F0EC-182B-9FB4-6FF51B97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6B8B3F9-9162-3370-10A6-F10F1F03A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Continual Learning Settings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F33DCE-F3BF-6F2E-8ED8-B60177A95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4C7B6-65DB-4651-9D6D-787BD251B230}" type="datetime4">
              <a:rPr lang="de-DE" smtClean="0"/>
              <a:pPr/>
              <a:t>17. Oktober 2026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34B2E1-F1D3-1318-9C3A-A07BA1715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63952-5151-D2E1-7517-8C2F8A3B2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118DB9E-3EF6-16F4-94A0-E4A6C2AFA07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IN" dirty="0"/>
              <a:t>Task, domain, and class-incremental learning paradigms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E5148969-AD85-A237-816E-020875220E11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D6D6B5-4FB9-DDF5-2C2F-100347F032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80"/>
          <a:stretch>
            <a:fillRect/>
          </a:stretch>
        </p:blipFill>
        <p:spPr>
          <a:xfrm>
            <a:off x="1744764" y="1414065"/>
            <a:ext cx="8486573" cy="42704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298EF5C-1CC8-8578-822C-8ACD3F6BD579}"/>
              </a:ext>
            </a:extLst>
          </p:cNvPr>
          <p:cNvSpPr txBox="1"/>
          <p:nvPr/>
        </p:nvSpPr>
        <p:spPr>
          <a:xfrm>
            <a:off x="742640" y="5684509"/>
            <a:ext cx="109334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Offline Continual Learning</a:t>
            </a:r>
            <a:r>
              <a:rPr lang="en-IN" sz="1600" dirty="0"/>
              <a:t>: Sequence of distinct tasks over time, with the data for each task provided as a complete, multi-epoch batch rather than a stream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0D0121-C5E3-3359-B689-E154298DDDA7}"/>
              </a:ext>
            </a:extLst>
          </p:cNvPr>
          <p:cNvSpPr txBox="1"/>
          <p:nvPr/>
        </p:nvSpPr>
        <p:spPr>
          <a:xfrm>
            <a:off x="9360026" y="5320824"/>
            <a:ext cx="21220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000" dirty="0">
                <a:effectLst/>
              </a:rPr>
              <a:t>Source: Yang, </a:t>
            </a:r>
            <a:r>
              <a:rPr lang="en-IN" sz="1000" dirty="0" err="1">
                <a:effectLst/>
              </a:rPr>
              <a:t>Yutao</a:t>
            </a:r>
            <a:r>
              <a:rPr lang="en-IN" sz="1000" dirty="0">
                <a:effectLst/>
              </a:rPr>
              <a:t>, et al. (2025)</a:t>
            </a:r>
          </a:p>
        </p:txBody>
      </p:sp>
    </p:spTree>
    <p:extLst>
      <p:ext uri="{BB962C8B-B14F-4D97-AF65-F5344CB8AC3E}">
        <p14:creationId xmlns:p14="http://schemas.microsoft.com/office/powerpoint/2010/main" val="38419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3E627-09D9-67AA-DFF3-2C8D3CD48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85427AD-713D-C40E-B207-DB5AC1CBF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Multimodal Continual Learning Strategies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FFE511-CEB9-28FA-52EF-5B24A29FB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4C7B6-65DB-4651-9D6D-787BD251B230}" type="datetime4">
              <a:rPr lang="de-DE" smtClean="0"/>
              <a:pPr/>
              <a:t>17. Oktober 2026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07F3DD-BF0B-8DF5-BCA3-6BFBC1B3C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32917-6486-6565-2EEC-D0130B66F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D317B37-0279-7450-503F-85B4C5E4508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IN" dirty="0"/>
              <a:t>Representative approaches for mitigating catastrophic forgetting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B61047D-3F7E-82DD-71CB-5A0A9FD8E720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229097-023A-8AF3-EB1C-6B881B8351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4" b="1154"/>
          <a:stretch/>
        </p:blipFill>
        <p:spPr>
          <a:xfrm>
            <a:off x="1643651" y="1361662"/>
            <a:ext cx="8741295" cy="391601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55522F0-9BBF-38D1-F1A1-EF02F1CA9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1425" y="5297557"/>
            <a:ext cx="6125746" cy="120760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9A86670-E738-7FB7-4E1F-CCF4FBD0AB2F}"/>
              </a:ext>
            </a:extLst>
          </p:cNvPr>
          <p:cNvSpPr txBox="1"/>
          <p:nvPr/>
        </p:nvSpPr>
        <p:spPr>
          <a:xfrm>
            <a:off x="9225997" y="5297557"/>
            <a:ext cx="21220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000" dirty="0">
                <a:effectLst/>
              </a:rPr>
              <a:t>Source: Liu, Yuyang, et al. (2026)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3B2CF8-63E0-8C87-72D4-456DEA69BB65}"/>
              </a:ext>
            </a:extLst>
          </p:cNvPr>
          <p:cNvSpPr txBox="1"/>
          <p:nvPr/>
        </p:nvSpPr>
        <p:spPr>
          <a:xfrm>
            <a:off x="9028321" y="6278816"/>
            <a:ext cx="21220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000" dirty="0">
                <a:effectLst/>
              </a:rPr>
              <a:t>Source: Görner, Martin. (2025)</a:t>
            </a:r>
          </a:p>
        </p:txBody>
      </p:sp>
    </p:spTree>
    <p:extLst>
      <p:ext uri="{BB962C8B-B14F-4D97-AF65-F5344CB8AC3E}">
        <p14:creationId xmlns:p14="http://schemas.microsoft.com/office/powerpoint/2010/main" val="2691198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0C28A-C5BB-9057-E1B5-21DD67ABB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EF02EF6-2995-B795-75C5-2F95D7B55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Evolution of Multimodal Continual Learning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85EE4B-95E7-9274-2D14-11D906F88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4C7B6-65DB-4651-9D6D-787BD251B230}" type="datetime4">
              <a:rPr lang="de-DE" smtClean="0"/>
              <a:pPr/>
              <a:t>17. Oktober 2026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221964-1398-3BE5-0E3D-E61F1340C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BF7BAC-58EC-C600-5633-281935BC0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837AC47-7FF5-FA20-58A0-4CCC832A95E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IN" dirty="0"/>
              <a:t>Key developments leading to the methods evaluated in this thesis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244578A-924F-D1DA-644B-3180F760DD60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DEFB903-A403-D64B-FACB-F9D209DE83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70"/>
          <a:stretch>
            <a:fillRect/>
          </a:stretch>
        </p:blipFill>
        <p:spPr>
          <a:xfrm>
            <a:off x="374427" y="1407701"/>
            <a:ext cx="11817573" cy="3834472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F57C08C-6E04-3AA8-CADE-FD92FD1E4B40}"/>
              </a:ext>
            </a:extLst>
          </p:cNvPr>
          <p:cNvSpPr/>
          <p:nvPr/>
        </p:nvSpPr>
        <p:spPr>
          <a:xfrm>
            <a:off x="2365512" y="3574433"/>
            <a:ext cx="1093305" cy="566529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85455CA-EF19-C282-ABCC-3147AED1F4D4}"/>
              </a:ext>
            </a:extLst>
          </p:cNvPr>
          <p:cNvSpPr/>
          <p:nvPr/>
        </p:nvSpPr>
        <p:spPr>
          <a:xfrm>
            <a:off x="3531703" y="3577747"/>
            <a:ext cx="1093305" cy="566529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03F8978-9C1D-0732-0DDA-01119B1154BE}"/>
              </a:ext>
            </a:extLst>
          </p:cNvPr>
          <p:cNvSpPr/>
          <p:nvPr/>
        </p:nvSpPr>
        <p:spPr>
          <a:xfrm>
            <a:off x="9677377" y="3561181"/>
            <a:ext cx="1093305" cy="566529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212EB9-6B5D-FC88-F4CB-5DCBBC79A1BF}"/>
              </a:ext>
            </a:extLst>
          </p:cNvPr>
          <p:cNvSpPr txBox="1"/>
          <p:nvPr/>
        </p:nvSpPr>
        <p:spPr>
          <a:xfrm>
            <a:off x="374427" y="5147356"/>
            <a:ext cx="11817572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CPE-CLIP links layer-specific prompts by defining vision prompts as a function of language prompts.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82E65594-B056-887B-AEC0-54E492D72E44}"/>
              </a:ext>
            </a:extLst>
          </p:cNvPr>
          <p:cNvSpPr/>
          <p:nvPr/>
        </p:nvSpPr>
        <p:spPr>
          <a:xfrm>
            <a:off x="4896673" y="4117769"/>
            <a:ext cx="1093305" cy="566529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941C1FB-CEA5-7253-1C7E-D75DDB51B4CC}"/>
              </a:ext>
            </a:extLst>
          </p:cNvPr>
          <p:cNvSpPr txBox="1"/>
          <p:nvPr/>
        </p:nvSpPr>
        <p:spPr>
          <a:xfrm>
            <a:off x="374426" y="5978879"/>
            <a:ext cx="11687590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C-CLIP and </a:t>
            </a:r>
            <a:r>
              <a:rPr lang="en-IN" sz="1600" dirty="0" err="1"/>
              <a:t>CoLeCLIP</a:t>
            </a:r>
            <a:r>
              <a:rPr lang="en-IN" sz="1600" dirty="0"/>
              <a:t> applied </a:t>
            </a:r>
            <a:r>
              <a:rPr lang="en-IN" sz="1600" dirty="0" err="1"/>
              <a:t>LoRA</a:t>
            </a:r>
            <a:r>
              <a:rPr lang="en-IN" sz="1600" dirty="0"/>
              <a:t> to the attention matrices inside Vision and language encoders.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54464BA-4749-F57B-B268-324022BA8128}"/>
              </a:ext>
            </a:extLst>
          </p:cNvPr>
          <p:cNvSpPr txBox="1"/>
          <p:nvPr/>
        </p:nvSpPr>
        <p:spPr>
          <a:xfrm>
            <a:off x="374426" y="5563118"/>
            <a:ext cx="11687590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ZSCL avoids alignment degeneration by matching the current model's cross-modal similarity with its initial state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2CE32FF-F6B6-4FD8-1F72-C99315E851C0}"/>
              </a:ext>
            </a:extLst>
          </p:cNvPr>
          <p:cNvSpPr txBox="1"/>
          <p:nvPr/>
        </p:nvSpPr>
        <p:spPr>
          <a:xfrm>
            <a:off x="8202268" y="4948104"/>
            <a:ext cx="21220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000" dirty="0">
                <a:effectLst/>
              </a:rPr>
              <a:t>Source: Liu, Yuyang, et al. (2024)</a:t>
            </a:r>
          </a:p>
        </p:txBody>
      </p:sp>
    </p:spTree>
    <p:extLst>
      <p:ext uri="{BB962C8B-B14F-4D97-AF65-F5344CB8AC3E}">
        <p14:creationId xmlns:p14="http://schemas.microsoft.com/office/powerpoint/2010/main" val="2592129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9" grpId="0" animBg="1"/>
      <p:bldP spid="31" grpId="0" animBg="1"/>
      <p:bldP spid="33" grpId="0"/>
      <p:bldP spid="37" grpId="0" animBg="1"/>
      <p:bldP spid="39" grpId="0"/>
      <p:bldP spid="4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6AAF9-4D59-D89E-3B21-245A6CF5E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A71240AB-C9CB-0F70-CD2B-79134A3A9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9E98-54A4-43F9-9249-7D6B5CD88EDB}" type="datetime4">
              <a:rPr lang="de-DE" smtClean="0"/>
              <a:pPr/>
              <a:t>17. Oktober 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E7D68F23-17A7-98D4-6755-30B5A1320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6D69F1B-076D-8314-38DC-FB68AC793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ECF0DC38-186C-C1EB-C256-D40CECFF14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6" y="1631156"/>
            <a:ext cx="4846786" cy="125200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1F2328"/>
                </a:solidFill>
                <a:latin typeface="Arial" panose="020B0604020202020204" pitchFamily="34" charset="0"/>
              </a:rPr>
              <a:t>Trained on 158 public sources with over 62k </a:t>
            </a:r>
            <a:r>
              <a:rPr lang="en-US" dirty="0">
                <a:solidFill>
                  <a:srgbClr val="1F2328"/>
                </a:solidFill>
                <a:latin typeface="Arial" panose="020B0604020202020204" pitchFamily="34" charset="0"/>
              </a:rPr>
              <a:t>CT, MRI, and PET volumes spanning 1K+ anatomical and pathological classes</a:t>
            </a:r>
          </a:p>
          <a:p>
            <a:endParaRPr lang="en-IN" dirty="0">
              <a:solidFill>
                <a:srgbClr val="1F2328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B7CC8B9-25A8-BBEF-4461-8E8B2BA65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VoxTell</a:t>
            </a:r>
            <a:r>
              <a:rPr lang="en-IN" dirty="0"/>
              <a:t> Foundation Model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576A638-8EF0-8C96-74E6-2B5CFEC3674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sz="6400" dirty="0"/>
              <a:t>Free-text </a:t>
            </a:r>
            <a:r>
              <a:rPr lang="en-IN" sz="6400" dirty="0" err="1"/>
              <a:t>promptable</a:t>
            </a:r>
            <a:r>
              <a:rPr lang="en-IN" sz="6400" dirty="0"/>
              <a:t> 3D medical image segmentation architecture</a:t>
            </a:r>
          </a:p>
          <a:p>
            <a:endParaRPr lang="en-IN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C727AB-4BBB-1098-42A0-C98EAB7C72C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A21968-EA25-C1C2-5318-D38A81807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296" y="1489077"/>
            <a:ext cx="9048100" cy="471169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EE5A1BD-D24A-5F63-CC12-75C40D8F8208}"/>
              </a:ext>
            </a:extLst>
          </p:cNvPr>
          <p:cNvSpPr txBox="1"/>
          <p:nvPr/>
        </p:nvSpPr>
        <p:spPr>
          <a:xfrm>
            <a:off x="443672" y="2499720"/>
            <a:ext cx="2775390" cy="1308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1F232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3D Vision-language model</a:t>
            </a:r>
          </a:p>
          <a:p>
            <a:pPr marL="285750" marR="0" lvl="0" indent="-2857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1F232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Multi-stage vision–language fusion </a:t>
            </a:r>
          </a:p>
        </p:txBody>
      </p:sp>
    </p:spTree>
    <p:extLst>
      <p:ext uri="{BB962C8B-B14F-4D97-AF65-F5344CB8AC3E}">
        <p14:creationId xmlns:p14="http://schemas.microsoft.com/office/powerpoint/2010/main" val="1551901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7F754-A8FB-12CB-E92C-A61FB917E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D3FF11A-ABD1-D0B7-01E2-66920AABE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LoRA</a:t>
            </a:r>
            <a:r>
              <a:rPr lang="en-IN" dirty="0"/>
              <a:t>-based Continual Adaptation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458347F-9C01-4ECD-BF82-5C88DE6B3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9E98-54A4-43F9-9249-7D6B5CD88EDB}" type="datetime4">
              <a:rPr lang="de-DE" smtClean="0"/>
              <a:pPr/>
              <a:t>17. Oktober 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AF2DFAC3-2EAB-351D-E8D9-CB3121626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A7563C60-2D73-9A65-D9BC-3B2F01A16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93AD54B-0A26-8070-7160-5E8A0B16814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332399"/>
          </a:xfrm>
        </p:spPr>
        <p:txBody>
          <a:bodyPr/>
          <a:lstStyle/>
          <a:p>
            <a:r>
              <a:rPr lang="en-IN" dirty="0"/>
              <a:t>Parameter-efficient adaptation of </a:t>
            </a:r>
            <a:r>
              <a:rPr lang="en-IN" dirty="0" err="1"/>
              <a:t>VoxTell</a:t>
            </a:r>
            <a:r>
              <a:rPr lang="en-IN" dirty="0"/>
              <a:t> using low-rank updates</a:t>
            </a:r>
          </a:p>
          <a:p>
            <a:endParaRPr lang="en-IN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EF129BA-FA14-F2E6-6221-2335C0BF23DB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D071218-6364-E924-5CFD-E8A926B1EF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011"/>
          <a:stretch>
            <a:fillRect/>
          </a:stretch>
        </p:blipFill>
        <p:spPr>
          <a:xfrm>
            <a:off x="1484603" y="1381539"/>
            <a:ext cx="6712502" cy="5079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504BC7-F0AE-972B-2279-5858646D9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5940" y="1451849"/>
            <a:ext cx="2756159" cy="481419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FE237CC-D5B9-F105-0B27-6F20D57FE86E}"/>
              </a:ext>
            </a:extLst>
          </p:cNvPr>
          <p:cNvCxnSpPr/>
          <p:nvPr/>
        </p:nvCxnSpPr>
        <p:spPr>
          <a:xfrm>
            <a:off x="8398565" y="1451849"/>
            <a:ext cx="0" cy="4899255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1702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37D7F-B58E-BCDE-C129-1CC00F8B1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CB961D8-07AB-8978-4527-E395F9FAE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Prompt-based Continual Adaptation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D0C55575-B67B-0422-1539-9933CA213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9E98-54A4-43F9-9249-7D6B5CD88EDB}" type="datetime4">
              <a:rPr lang="de-DE" smtClean="0"/>
              <a:pPr/>
              <a:t>17. Oktober 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0AFC42E-87CC-F309-927B-D32652CC2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CE053B70-43B6-DB36-7665-C1E5B3C0B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F79FCD1-1E6D-D1CA-0763-5C09D518612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332399"/>
          </a:xfrm>
        </p:spPr>
        <p:txBody>
          <a:bodyPr/>
          <a:lstStyle/>
          <a:p>
            <a:r>
              <a:rPr lang="en-IN" dirty="0"/>
              <a:t>Prompt learning for continual adaptation of </a:t>
            </a:r>
            <a:r>
              <a:rPr lang="en-IN" dirty="0" err="1"/>
              <a:t>VoxTell</a:t>
            </a:r>
            <a:endParaRPr lang="en-IN" dirty="0"/>
          </a:p>
          <a:p>
            <a:endParaRPr lang="en-IN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C1D6F57-7D24-67A0-11C0-318A9430A7C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91D1A8B-08FD-E8BD-A866-EAC244871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877" y="1590261"/>
            <a:ext cx="10445222" cy="4511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070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82BEA-152D-066B-3506-FA798550C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734306DC-A7EB-4584-6E2B-5A29BF056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Regularisation-based Continual Adaptation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C6FFACF7-C0CB-C3B4-182E-5DEB3C199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9E98-54A4-43F9-9249-7D6B5CD88EDB}" type="datetime4">
              <a:rPr lang="de-DE" smtClean="0"/>
              <a:pPr/>
              <a:t>17. Oktober 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AFB94258-27D2-8B78-7511-8E8D08767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AF18645E-583E-4426-D326-EE25D5A6A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DC06D9B-0AEC-E413-C513-45D83EEC4E9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9"/>
            <a:ext cx="7617015" cy="332400"/>
          </a:xfrm>
        </p:spPr>
        <p:txBody>
          <a:bodyPr/>
          <a:lstStyle/>
          <a:p>
            <a:r>
              <a:rPr lang="en-IN" dirty="0"/>
              <a:t>Knowledge-preserving optimization using Zero-Shot Continual Learning (ZSCL)</a:t>
            </a:r>
          </a:p>
          <a:p>
            <a:endParaRPr lang="en-IN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A9CEDE6-2C60-2923-87CB-F02386BAFB6C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4626C6A-B4EC-25CE-CA78-7A272BA83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190" y="1264630"/>
            <a:ext cx="10495722" cy="5259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23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1590E-3546-2A2B-FC75-6575A81E0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79E447E-3404-15D1-6390-152070997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C23F023D-9572-AFF3-D610-85B1DCA3C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9E98-54A4-43F9-9249-7D6B5CD88EDB}" type="datetime4">
              <a:rPr lang="de-DE" smtClean="0"/>
              <a:pPr/>
              <a:t>17. Oktober 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B8700F9-E6D2-9101-7009-23832A3BB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89E6B48-8961-76B5-6DE1-A512FFEBF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F43FB71-D895-6991-E31B-BE18700E2DE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332399"/>
          </a:xfrm>
        </p:spPr>
        <p:txBody>
          <a:bodyPr/>
          <a:lstStyle/>
          <a:p>
            <a:r>
              <a:rPr lang="en-IN" dirty="0"/>
              <a:t>Benchmark datasets for adaptation and retention evaluation</a:t>
            </a:r>
          </a:p>
          <a:p>
            <a:endParaRPr lang="en-IN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AA8D69BC-7380-5D1D-0972-F33BFFE44F40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417E14-6FA9-AF50-21C6-4C181A996B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011"/>
          <a:stretch>
            <a:fillRect/>
          </a:stretch>
        </p:blipFill>
        <p:spPr>
          <a:xfrm>
            <a:off x="9030053" y="1551076"/>
            <a:ext cx="2452046" cy="21230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799364-BC6F-6311-1BAD-257DDD3BA873}"/>
              </a:ext>
            </a:extLst>
          </p:cNvPr>
          <p:cNvSpPr txBox="1"/>
          <p:nvPr/>
        </p:nvSpPr>
        <p:spPr>
          <a:xfrm>
            <a:off x="630634" y="1550182"/>
            <a:ext cx="76891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IN" sz="1600" b="1" i="0" dirty="0">
                <a:solidFill>
                  <a:srgbClr val="1F2328"/>
                </a:solidFill>
                <a:effectLst/>
              </a:rPr>
              <a:t>Training Dataset: </a:t>
            </a:r>
            <a:r>
              <a:rPr lang="en-IN" sz="1600" dirty="0">
                <a:solidFill>
                  <a:srgbClr val="1F2328"/>
                </a:solidFill>
              </a:rPr>
              <a:t>Stanford Knee MRI Multi-Task Evaluation (SKM-TEA)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B462B2-CC62-00B5-3341-7805D8601E46}"/>
              </a:ext>
            </a:extLst>
          </p:cNvPr>
          <p:cNvSpPr txBox="1"/>
          <p:nvPr/>
        </p:nvSpPr>
        <p:spPr>
          <a:xfrm>
            <a:off x="630634" y="4220079"/>
            <a:ext cx="52451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IN" sz="1600" b="1" i="0" dirty="0">
                <a:solidFill>
                  <a:srgbClr val="1F2328"/>
                </a:solidFill>
                <a:effectLst/>
              </a:rPr>
              <a:t>Retention Dataset: </a:t>
            </a:r>
            <a:r>
              <a:rPr lang="en-IN" sz="1600" i="0" dirty="0" err="1">
                <a:solidFill>
                  <a:srgbClr val="1F2328"/>
                </a:solidFill>
                <a:effectLst/>
              </a:rPr>
              <a:t>AeroPath</a:t>
            </a:r>
            <a:endParaRPr lang="en-IN" sz="1600" i="0" dirty="0">
              <a:solidFill>
                <a:srgbClr val="1F2328"/>
              </a:solidFill>
              <a:effectLst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21869F-25EB-7293-0666-E0D70BED57A1}"/>
              </a:ext>
            </a:extLst>
          </p:cNvPr>
          <p:cNvSpPr txBox="1"/>
          <p:nvPr/>
        </p:nvSpPr>
        <p:spPr>
          <a:xfrm>
            <a:off x="828711" y="4637448"/>
            <a:ext cx="66128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1F2328"/>
                </a:solidFill>
                <a:effectLst/>
              </a:rPr>
              <a:t>27 CTs with corresponding airways and lung annotations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b="0" i="0" dirty="0">
              <a:solidFill>
                <a:srgbClr val="1F2328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1F2328"/>
                </a:solidFill>
              </a:rPr>
              <a:t>Used only Lung Annotations for the Retention Task</a:t>
            </a:r>
            <a:endParaRPr lang="en-IN" sz="16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DEEB276-6CFA-0837-F889-DE2E66B907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718" t="11044" r="53595" b="52819"/>
          <a:stretch>
            <a:fillRect/>
          </a:stretch>
        </p:blipFill>
        <p:spPr>
          <a:xfrm>
            <a:off x="9007470" y="4220079"/>
            <a:ext cx="2497211" cy="1868613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08BB5A1-D024-5D00-7F6D-27BD93D831BA}"/>
              </a:ext>
            </a:extLst>
          </p:cNvPr>
          <p:cNvCxnSpPr/>
          <p:nvPr/>
        </p:nvCxnSpPr>
        <p:spPr>
          <a:xfrm>
            <a:off x="518319" y="4023360"/>
            <a:ext cx="10963780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B64D8A7-CC94-B58E-866D-D4C9174BD2A0}"/>
              </a:ext>
            </a:extLst>
          </p:cNvPr>
          <p:cNvSpPr txBox="1"/>
          <p:nvPr/>
        </p:nvSpPr>
        <p:spPr>
          <a:xfrm>
            <a:off x="828711" y="2021141"/>
            <a:ext cx="789924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1F2328"/>
                </a:solidFill>
                <a:effectLst/>
              </a:rPr>
              <a:t>155 MRI </a:t>
            </a:r>
            <a:r>
              <a:rPr lang="en-IN" sz="1600" dirty="0">
                <a:solidFill>
                  <a:srgbClr val="1F2328"/>
                </a:solidFill>
              </a:rPr>
              <a:t>k</a:t>
            </a:r>
            <a:r>
              <a:rPr lang="en-IN" sz="1600" b="0" i="0" dirty="0">
                <a:solidFill>
                  <a:srgbClr val="1F2328"/>
                </a:solidFill>
                <a:effectLst/>
              </a:rPr>
              <a:t>nee </a:t>
            </a:r>
            <a:r>
              <a:rPr lang="en-IN" sz="1600" dirty="0">
                <a:solidFill>
                  <a:srgbClr val="1F2328"/>
                </a:solidFill>
              </a:rPr>
              <a:t>scans </a:t>
            </a:r>
            <a:r>
              <a:rPr lang="en-IN" sz="1600" b="0" i="0" dirty="0">
                <a:solidFill>
                  <a:srgbClr val="1F2328"/>
                </a:solidFill>
                <a:effectLst/>
              </a:rPr>
              <a:t>with segmentations of six tissues as follows: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b="0" i="0" dirty="0">
              <a:solidFill>
                <a:srgbClr val="1F2328"/>
              </a:solidFill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1F2328"/>
                </a:solidFill>
                <a:effectLst/>
              </a:rPr>
              <a:t>Patellar Cartilage, Femoral Cartilage, Lateral Tibial Cartilage, Medial Meniscus, Lateral Meniscus, Medial Tibial Cartilage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600" dirty="0">
              <a:solidFill>
                <a:srgbClr val="1F232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~161 slices/volume on average (25,000 slices / 155 scans)</a:t>
            </a:r>
            <a:endParaRPr lang="en-IN" sz="1600" b="0" i="0" dirty="0">
              <a:solidFill>
                <a:srgbClr val="1F2328"/>
              </a:solidFill>
              <a:effectLst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2316D9-5790-F7FB-F082-B04AE5B51781}"/>
              </a:ext>
            </a:extLst>
          </p:cNvPr>
          <p:cNvSpPr txBox="1"/>
          <p:nvPr/>
        </p:nvSpPr>
        <p:spPr>
          <a:xfrm>
            <a:off x="9526300" y="3701129"/>
            <a:ext cx="21497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0" i="0" dirty="0">
                <a:solidFill>
                  <a:srgbClr val="222222"/>
                </a:solidFill>
                <a:effectLst/>
                <a:latin typeface="avenirnextltpro"/>
              </a:rPr>
              <a:t>Source: Desai, Arjun D., et al. </a:t>
            </a:r>
            <a:r>
              <a:rPr lang="en-IN" sz="1000" dirty="0">
                <a:solidFill>
                  <a:srgbClr val="222222"/>
                </a:solidFill>
                <a:latin typeface="avenirnextltpro"/>
              </a:rPr>
              <a:t>(2021)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3408126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26D2B-15E8-01A1-3883-4F81E2E37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69DE043-4179-4896-4016-B65A7E007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Experimental Protocol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D18A71F-B301-2C1C-22A1-D491C1928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9E98-54A4-43F9-9249-7D6B5CD88EDB}" type="datetime4">
              <a:rPr lang="de-DE" smtClean="0"/>
              <a:pPr/>
              <a:t>17. Oktober 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5C374E32-3C94-A4F9-997A-834FE8E4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AEAFAC56-F902-FEC1-29FB-C6C6B541F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6CCB163C-AD9F-7B6A-5442-A4FB9817944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332399"/>
          </a:xfrm>
        </p:spPr>
        <p:txBody>
          <a:bodyPr/>
          <a:lstStyle/>
          <a:p>
            <a:r>
              <a:rPr lang="en-IN" dirty="0"/>
              <a:t>Offline class-incremental benchmark and controlled training protocol</a:t>
            </a:r>
          </a:p>
          <a:p>
            <a:endParaRPr lang="en-IN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A08ABACD-DA5A-62D1-5C62-34E1B6D22C40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88FDD90-BC3B-8E1E-BBAD-6E94E35069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950672"/>
              </p:ext>
            </p:extLst>
          </p:nvPr>
        </p:nvGraphicFramePr>
        <p:xfrm>
          <a:off x="583631" y="4585442"/>
          <a:ext cx="4287290" cy="1584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94254">
                  <a:extLst>
                    <a:ext uri="{9D8B030D-6E8A-4147-A177-3AD203B41FA5}">
                      <a16:colId xmlns:a16="http://schemas.microsoft.com/office/drawing/2014/main" val="2503898492"/>
                    </a:ext>
                  </a:extLst>
                </a:gridCol>
                <a:gridCol w="2193036">
                  <a:extLst>
                    <a:ext uri="{9D8B030D-6E8A-4147-A177-3AD203B41FA5}">
                      <a16:colId xmlns:a16="http://schemas.microsoft.com/office/drawing/2014/main" val="1592229441"/>
                    </a:ext>
                  </a:extLst>
                </a:gridCol>
              </a:tblGrid>
              <a:tr h="244530">
                <a:tc>
                  <a:txBody>
                    <a:bodyPr/>
                    <a:lstStyle/>
                    <a:p>
                      <a:r>
                        <a:rPr lang="en-IN" sz="1600" dirty="0"/>
                        <a:t>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Setting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960689"/>
                  </a:ext>
                </a:extLst>
              </a:tr>
              <a:tr h="2835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Train / Val / Test 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600" dirty="0"/>
                        <a:t>108 / 23 / 24 volumes (Random)</a:t>
                      </a:r>
                      <a:endParaRPr lang="en-I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3185430"/>
                  </a:ext>
                </a:extLst>
              </a:tr>
              <a:tr h="2835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Epochs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0025787"/>
                  </a:ext>
                </a:extLst>
              </a:tr>
              <a:tr h="2835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Patch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192 x 192 x 192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002734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B750705-5D47-625C-683F-32539BCC80C1}"/>
              </a:ext>
            </a:extLst>
          </p:cNvPr>
          <p:cNvSpPr txBox="1"/>
          <p:nvPr/>
        </p:nvSpPr>
        <p:spPr>
          <a:xfrm>
            <a:off x="583631" y="2640233"/>
            <a:ext cx="4074555" cy="20503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IN" sz="1600" b="1" dirty="0">
                <a:solidFill>
                  <a:prstClr val="black"/>
                </a:solidFill>
                <a:latin typeface="+mj-lt"/>
              </a:rPr>
              <a:t>Methods Compared:</a:t>
            </a:r>
          </a:p>
          <a:p>
            <a:pPr marL="285750" marR="0" indent="-285750" algn="l" defTabSz="914400" rtl="0" eaLnBrk="1" fontAlgn="auto" latinLnBrk="0" hangingPunct="1"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1600" dirty="0">
                <a:solidFill>
                  <a:prstClr val="black"/>
                </a:solidFill>
              </a:rPr>
              <a:t>Sequential Fine-tuning (baseline)</a:t>
            </a:r>
          </a:p>
          <a:p>
            <a:pPr marL="285750" marR="0" indent="-285750" algn="l" defTabSz="914400" rtl="0" eaLnBrk="1" fontAlgn="auto" latinLnBrk="0" hangingPunct="1"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1600" dirty="0"/>
              <a:t>Task Incremental </a:t>
            </a:r>
            <a:r>
              <a:rPr lang="en-IN" sz="1600" dirty="0" err="1"/>
              <a:t>LoRA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Class Incremental </a:t>
            </a:r>
            <a:r>
              <a:rPr lang="en-IN" sz="1600" dirty="0" err="1"/>
              <a:t>LoRA</a:t>
            </a:r>
            <a:r>
              <a:rPr lang="en-IN" sz="1600" dirty="0"/>
              <a:t> (Shared </a:t>
            </a:r>
            <a:r>
              <a:rPr lang="en-IN" sz="1600" dirty="0" err="1"/>
              <a:t>LoRA</a:t>
            </a:r>
            <a:r>
              <a:rPr lang="en-IN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Class Incremental </a:t>
            </a:r>
            <a:r>
              <a:rPr lang="en-IN" sz="1600" dirty="0" err="1"/>
              <a:t>LoRA</a:t>
            </a:r>
            <a:r>
              <a:rPr lang="en-IN" sz="1600" dirty="0"/>
              <a:t> with replay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Prompt-based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prstClr val="black"/>
                </a:solidFill>
              </a:rPr>
              <a:t>Regularisation-based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3C3A28F-0726-8853-2668-FBC34DB40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953" y="1378417"/>
            <a:ext cx="6844385" cy="511737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072E612-0F12-C62D-277E-57FF114FE95C}"/>
              </a:ext>
            </a:extLst>
          </p:cNvPr>
          <p:cNvSpPr txBox="1"/>
          <p:nvPr/>
        </p:nvSpPr>
        <p:spPr>
          <a:xfrm>
            <a:off x="518317" y="1436049"/>
            <a:ext cx="7080813" cy="10464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IN" sz="1600" b="1" dirty="0">
                <a:solidFill>
                  <a:prstClr val="black"/>
                </a:solidFill>
                <a:latin typeface="+mj-lt"/>
              </a:rPr>
              <a:t>Continual Learning Task Order (SKM-TEA Dataset):</a:t>
            </a:r>
          </a:p>
          <a:p>
            <a:pPr lvl="1">
              <a:spcAft>
                <a:spcPts val="1200"/>
              </a:spcAft>
            </a:pPr>
            <a:r>
              <a:rPr lang="en-IN" sz="1600" dirty="0">
                <a:solidFill>
                  <a:prstClr val="black"/>
                </a:solidFill>
                <a:latin typeface="+mj-lt"/>
              </a:rPr>
              <a:t>Lateral Tibial </a:t>
            </a:r>
            <a:r>
              <a:rPr lang="en-IN" sz="1600" dirty="0">
                <a:solidFill>
                  <a:prstClr val="black"/>
                </a:solidFill>
                <a:latin typeface="+mj-lt"/>
                <a:sym typeface="Wingdings" panose="05000000000000000000" pitchFamily="2" charset="2"/>
              </a:rPr>
              <a:t> Medial Tibial  Femoral  Patellar  Medial Meniscus</a:t>
            </a:r>
            <a:endParaRPr lang="en-IN" sz="1600" dirty="0">
              <a:solidFill>
                <a:prstClr val="black"/>
              </a:solidFill>
              <a:latin typeface="+mj-lt"/>
            </a:endParaRPr>
          </a:p>
          <a:p>
            <a:pPr marL="0" marR="0" indent="0" algn="l" defTabSz="914400" rtl="0" eaLnBrk="1" fontAlgn="auto" latinLnBrk="0" hangingPunct="1"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90F76F-EF4F-B2FB-8A39-083E6CEA57B3}"/>
              </a:ext>
            </a:extLst>
          </p:cNvPr>
          <p:cNvSpPr txBox="1"/>
          <p:nvPr/>
        </p:nvSpPr>
        <p:spPr>
          <a:xfrm>
            <a:off x="580627" y="2236268"/>
            <a:ext cx="684438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IN" sz="1600" b="1" dirty="0">
                <a:solidFill>
                  <a:prstClr val="black"/>
                </a:solidFill>
                <a:latin typeface="+mj-lt"/>
              </a:rPr>
              <a:t>Retention Task: </a:t>
            </a:r>
            <a:r>
              <a:rPr lang="en-IN" sz="1600" dirty="0" err="1">
                <a:solidFill>
                  <a:prstClr val="black"/>
                </a:solidFill>
                <a:latin typeface="+mj-lt"/>
              </a:rPr>
              <a:t>AeroPath</a:t>
            </a:r>
            <a:r>
              <a:rPr lang="en-IN" sz="1600" dirty="0">
                <a:solidFill>
                  <a:prstClr val="black"/>
                </a:solidFill>
                <a:latin typeface="+mj-lt"/>
              </a:rPr>
              <a:t> Dataset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4888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8A9C6-C70B-57E4-B8E4-02F9D38C8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78676323-1C7F-0FB5-47E3-0CD1BB080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Evaluation Metrics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437CC19F-0944-55C5-C29E-705C3F4CF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9E98-54A4-43F9-9249-7D6B5CD88EDB}" type="datetime4">
              <a:rPr lang="de-DE" smtClean="0"/>
              <a:pPr/>
              <a:t>17. Oktober 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88B32D4-A68C-C65D-B360-8FF5496B2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954BFC4-A9D4-22D6-55FE-09CC8568A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15</a:t>
            </a:fld>
            <a:endParaRPr lang="de-DE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17EF02A3-E5D5-480D-291A-FE0B2F6CC36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332399"/>
          </a:xfrm>
        </p:spPr>
        <p:txBody>
          <a:bodyPr/>
          <a:lstStyle/>
          <a:p>
            <a:r>
              <a:rPr lang="en-IN" dirty="0"/>
              <a:t>Quantifying adaptation, forgetting, transfer and retention drop</a:t>
            </a:r>
          </a:p>
          <a:p>
            <a:endParaRPr lang="en-IN" dirty="0"/>
          </a:p>
        </p:txBody>
      </p:sp>
      <p:sp>
        <p:nvSpPr>
          <p:cNvPr id="50" name="Picture Placeholder 49">
            <a:extLst>
              <a:ext uri="{FF2B5EF4-FFF2-40B4-BE49-F238E27FC236}">
                <a16:creationId xmlns:a16="http://schemas.microsoft.com/office/drawing/2014/main" id="{7B4929F5-181C-587A-E1E3-54C589483E8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222371C-15D7-2692-A08F-B19F49200C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690233"/>
              </p:ext>
            </p:extLst>
          </p:nvPr>
        </p:nvGraphicFramePr>
        <p:xfrm>
          <a:off x="518317" y="1610063"/>
          <a:ext cx="4215606" cy="3474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491456">
                  <a:extLst>
                    <a:ext uri="{9D8B030D-6E8A-4147-A177-3AD203B41FA5}">
                      <a16:colId xmlns:a16="http://schemas.microsoft.com/office/drawing/2014/main" val="1650068075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160009539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3024796957"/>
                    </a:ext>
                  </a:extLst>
                </a:gridCol>
              </a:tblGrid>
              <a:tr h="2739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Metric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Measures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Goal</a:t>
                      </a:r>
                      <a:endParaRPr lang="en-I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8288678"/>
                  </a:ext>
                </a:extLst>
              </a:tr>
              <a:tr h="47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Dice Similarity Coefficient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Segmentation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0" dirty="0"/>
                        <a:t>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1928236"/>
                  </a:ext>
                </a:extLst>
              </a:tr>
              <a:tr h="47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Final Average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Average Performance at the last 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8495266"/>
                  </a:ext>
                </a:extLst>
              </a:tr>
              <a:tr h="47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Final Forgetting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Knowledge loss over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1102531"/>
                  </a:ext>
                </a:extLst>
              </a:tr>
              <a:tr h="47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Zero-Shot Transfer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Generalization to unseen tasks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9887648"/>
                  </a:ext>
                </a:extLst>
              </a:tr>
              <a:tr h="47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Retention Drop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Degradation of pretrained capability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8559148"/>
                  </a:ext>
                </a:extLst>
              </a:tr>
            </a:tbl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0E5BDECD-1E6E-5E2D-F1D7-C950AC704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93" r="8522" b="4453"/>
          <a:stretch>
            <a:fillRect/>
          </a:stretch>
        </p:blipFill>
        <p:spPr>
          <a:xfrm>
            <a:off x="5044484" y="1644206"/>
            <a:ext cx="6844385" cy="4426494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26C37BBE-32DA-F8DC-732F-1F9A69C6D934}"/>
              </a:ext>
            </a:extLst>
          </p:cNvPr>
          <p:cNvSpPr/>
          <p:nvPr/>
        </p:nvSpPr>
        <p:spPr>
          <a:xfrm>
            <a:off x="9251373" y="5510455"/>
            <a:ext cx="424873" cy="5362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381B1F8-BF84-7B1E-4325-313D131AD9CF}"/>
              </a:ext>
            </a:extLst>
          </p:cNvPr>
          <p:cNvSpPr/>
          <p:nvPr/>
        </p:nvSpPr>
        <p:spPr>
          <a:xfrm>
            <a:off x="483221" y="5335619"/>
            <a:ext cx="4250702" cy="7110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2FCDEC0-8118-6E2F-C3D8-7C7933929F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81"/>
          <a:stretch>
            <a:fillRect/>
          </a:stretch>
        </p:blipFill>
        <p:spPr>
          <a:xfrm>
            <a:off x="688635" y="5408706"/>
            <a:ext cx="3902415" cy="588468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671119A-788B-9CB4-1ACC-C0F5E3467741}"/>
              </a:ext>
            </a:extLst>
          </p:cNvPr>
          <p:cNvSpPr txBox="1"/>
          <p:nvPr/>
        </p:nvSpPr>
        <p:spPr>
          <a:xfrm>
            <a:off x="9578109" y="6131204"/>
            <a:ext cx="21220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000" dirty="0">
                <a:effectLst/>
              </a:rPr>
              <a:t>Source: Liu, Yuyang, et al. (2026)</a:t>
            </a:r>
          </a:p>
        </p:txBody>
      </p:sp>
    </p:spTree>
    <p:extLst>
      <p:ext uri="{BB962C8B-B14F-4D97-AF65-F5344CB8AC3E}">
        <p14:creationId xmlns:p14="http://schemas.microsoft.com/office/powerpoint/2010/main" val="38921123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5C2AD8F-D349-BC73-5BEC-A60ED2460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BBF45A5-45F3-0CFF-2D08-A407645AB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Baseline Performance: Sequential Fine-Tuning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AC20526-A4FA-EE10-9011-1CA38DE7E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9E98-54A4-43F9-9249-7D6B5CD88EDB}" type="datetime4">
              <a:rPr lang="de-DE" smtClean="0"/>
              <a:pPr/>
              <a:t>17. Oktober 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99300286-4A3F-0E25-103E-BA765518B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BEED72D-46FA-A6C4-EB52-4673B4CD0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16</a:t>
            </a:fld>
            <a:endParaRPr lang="de-DE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79B39899-E726-BFFB-8336-ED874937803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332399"/>
          </a:xfrm>
        </p:spPr>
        <p:txBody>
          <a:bodyPr/>
          <a:lstStyle/>
          <a:p>
            <a:r>
              <a:rPr lang="en-IN" dirty="0"/>
              <a:t>Establishing the reference for continual learning evaluation</a:t>
            </a:r>
          </a:p>
          <a:p>
            <a:endParaRPr lang="en-IN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8969BAAD-06D1-5874-64F3-A984E409C446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56A4E87-F568-1F08-17CE-343AAE6A20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826690"/>
              </p:ext>
            </p:extLst>
          </p:nvPr>
        </p:nvGraphicFramePr>
        <p:xfrm>
          <a:off x="918516" y="2503909"/>
          <a:ext cx="6548430" cy="197867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87950">
                  <a:extLst>
                    <a:ext uri="{9D8B030D-6E8A-4147-A177-3AD203B41FA5}">
                      <a16:colId xmlns:a16="http://schemas.microsoft.com/office/drawing/2014/main" val="2316959904"/>
                    </a:ext>
                  </a:extLst>
                </a:gridCol>
                <a:gridCol w="1590390">
                  <a:extLst>
                    <a:ext uri="{9D8B030D-6E8A-4147-A177-3AD203B41FA5}">
                      <a16:colId xmlns:a16="http://schemas.microsoft.com/office/drawing/2014/main" val="2331293725"/>
                    </a:ext>
                  </a:extLst>
                </a:gridCol>
                <a:gridCol w="1441675">
                  <a:extLst>
                    <a:ext uri="{9D8B030D-6E8A-4147-A177-3AD203B41FA5}">
                      <a16:colId xmlns:a16="http://schemas.microsoft.com/office/drawing/2014/main" val="4064480913"/>
                    </a:ext>
                  </a:extLst>
                </a:gridCol>
                <a:gridCol w="1203648">
                  <a:extLst>
                    <a:ext uri="{9D8B030D-6E8A-4147-A177-3AD203B41FA5}">
                      <a16:colId xmlns:a16="http://schemas.microsoft.com/office/drawing/2014/main" val="2011177113"/>
                    </a:ext>
                  </a:extLst>
                </a:gridCol>
                <a:gridCol w="1224767">
                  <a:extLst>
                    <a:ext uri="{9D8B030D-6E8A-4147-A177-3AD203B41FA5}">
                      <a16:colId xmlns:a16="http://schemas.microsoft.com/office/drawing/2014/main" val="985909246"/>
                    </a:ext>
                  </a:extLst>
                </a:gridCol>
              </a:tblGrid>
              <a:tr h="867572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Task 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Final Average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Forgetting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Transfer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Retention Drop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69790"/>
                  </a:ext>
                </a:extLst>
              </a:tr>
              <a:tr h="555550"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Original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0.130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0.812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06504339"/>
                  </a:ext>
                </a:extLst>
              </a:tr>
              <a:tr h="555550"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Reverse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0.135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0.794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5754898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85F22A7-D65A-0D85-48EA-EFB1C7610A2A}"/>
              </a:ext>
            </a:extLst>
          </p:cNvPr>
          <p:cNvSpPr txBox="1"/>
          <p:nvPr/>
        </p:nvSpPr>
        <p:spPr>
          <a:xfrm>
            <a:off x="8980146" y="2537343"/>
            <a:ext cx="2380661" cy="19118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</a:pPr>
            <a:r>
              <a:rPr lang="en-IN" sz="1600" dirty="0">
                <a:solidFill>
                  <a:prstClr val="black"/>
                </a:solidFill>
                <a:latin typeface="Arial"/>
              </a:rPr>
              <a:t>High Forgetting</a:t>
            </a:r>
            <a:br>
              <a:rPr lang="en-IN" sz="1600" dirty="0">
                <a:solidFill>
                  <a:prstClr val="black"/>
                </a:solidFill>
                <a:latin typeface="Arial"/>
              </a:rPr>
            </a:br>
            <a:endParaRPr lang="en-IN" sz="1600" dirty="0">
              <a:solidFill>
                <a:prstClr val="black"/>
              </a:solidFill>
              <a:latin typeface="Arial"/>
            </a:endParaRPr>
          </a:p>
          <a:p>
            <a:pPr marR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Poor Zero-shot Transfer</a:t>
            </a:r>
            <a:b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R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</a:pPr>
            <a:r>
              <a:rPr lang="en-IN" sz="1600" dirty="0">
                <a:solidFill>
                  <a:prstClr val="black"/>
                </a:solidFill>
                <a:latin typeface="Arial"/>
              </a:rPr>
              <a:t>Poor Pre-trained Knowledge Retention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035EE3-3423-F78C-026D-C80028E9D6B1}"/>
              </a:ext>
            </a:extLst>
          </p:cNvPr>
          <p:cNvSpPr txBox="1"/>
          <p:nvPr/>
        </p:nvSpPr>
        <p:spPr>
          <a:xfrm>
            <a:off x="8385319" y="2313251"/>
            <a:ext cx="5948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solidFill>
                  <a:srgbClr val="FF0000"/>
                </a:solidFill>
                <a:latin typeface="Arial"/>
                <a:sym typeface="Wingdings" panose="05000000000000000000" pitchFamily="2" charset="2"/>
              </a:rPr>
              <a:t>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4A4FF1-92E8-1AA3-A803-BC3B27FE818A}"/>
              </a:ext>
            </a:extLst>
          </p:cNvPr>
          <p:cNvSpPr txBox="1"/>
          <p:nvPr/>
        </p:nvSpPr>
        <p:spPr>
          <a:xfrm>
            <a:off x="8385318" y="3021137"/>
            <a:ext cx="5948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solidFill>
                  <a:srgbClr val="FF0000"/>
                </a:solidFill>
                <a:latin typeface="Arial"/>
                <a:sym typeface="Wingdings" panose="05000000000000000000" pitchFamily="2" charset="2"/>
              </a:rPr>
              <a:t>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DB0C57-EB53-F5FF-EBE2-558D0EB8FB8F}"/>
              </a:ext>
            </a:extLst>
          </p:cNvPr>
          <p:cNvSpPr txBox="1"/>
          <p:nvPr/>
        </p:nvSpPr>
        <p:spPr>
          <a:xfrm>
            <a:off x="8385318" y="3836864"/>
            <a:ext cx="5948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solidFill>
                  <a:srgbClr val="FF0000"/>
                </a:solidFill>
                <a:latin typeface="Arial"/>
                <a:sym typeface="Wingdings" panose="05000000000000000000" pitchFamily="2" charset="2"/>
              </a:rPr>
              <a:t>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8262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1496EE2-AE78-F6EA-D977-D66922BBC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8F68E5B-8FF9-57BE-0E4D-DC3E66E96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7183381" cy="332399"/>
          </a:xfrm>
        </p:spPr>
        <p:txBody>
          <a:bodyPr/>
          <a:lstStyle/>
          <a:p>
            <a:r>
              <a:rPr lang="en-IN" dirty="0"/>
              <a:t>Task Incremental </a:t>
            </a:r>
            <a:r>
              <a:rPr lang="en-IN" dirty="0" err="1"/>
              <a:t>LoRA</a:t>
            </a:r>
            <a:endParaRPr lang="en-IN" dirty="0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D9279969-D865-A0D0-962D-986FF74D1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9E98-54A4-43F9-9249-7D6B5CD88EDB}" type="datetime4">
              <a:rPr lang="de-DE" smtClean="0"/>
              <a:pPr/>
              <a:t>17. Oktober 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6DCE5D2A-6FDB-F868-A368-5011F0F91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3149404-410C-1C1A-6B69-0CC44A374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17</a:t>
            </a:fld>
            <a:endParaRPr lang="de-DE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8702C9C-D7BF-C23C-5B5C-51DF8FF9DF9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/>
          <a:lstStyle/>
          <a:p>
            <a:r>
              <a:rPr lang="en-US" dirty="0"/>
              <a:t>TIL-</a:t>
            </a:r>
            <a:r>
              <a:rPr lang="en-US" dirty="0" err="1"/>
              <a:t>LoRA</a:t>
            </a:r>
            <a:r>
              <a:rPr lang="en-US" dirty="0"/>
              <a:t> has best performance but requires Task ID during Evaluation</a:t>
            </a:r>
            <a:endParaRPr lang="en-IN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84FC27F9-42C4-88D7-E196-EDA9CCE72A91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386B97-80B9-B37D-4FB9-88D76F06E1CA}"/>
              </a:ext>
            </a:extLst>
          </p:cNvPr>
          <p:cNvSpPr txBox="1"/>
          <p:nvPr/>
        </p:nvSpPr>
        <p:spPr>
          <a:xfrm>
            <a:off x="7987512" y="1630185"/>
            <a:ext cx="3688551" cy="45402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</a:pPr>
            <a:r>
              <a:rPr lang="en-IN" sz="1600" dirty="0">
                <a:solidFill>
                  <a:prstClr val="black"/>
                </a:solidFill>
                <a:latin typeface="Arial"/>
              </a:rPr>
              <a:t>Zero Forgetting</a:t>
            </a:r>
            <a:br>
              <a:rPr lang="en-IN" sz="1600" dirty="0">
                <a:solidFill>
                  <a:prstClr val="black"/>
                </a:solidFill>
                <a:latin typeface="Arial"/>
              </a:rPr>
            </a:br>
            <a:endParaRPr lang="en-IN" sz="1600" dirty="0">
              <a:solidFill>
                <a:prstClr val="black"/>
              </a:solidFill>
              <a:latin typeface="Arial"/>
            </a:endParaRPr>
          </a:p>
          <a:p>
            <a:pPr marR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High Performance at rank = 8</a:t>
            </a:r>
            <a:endParaRPr lang="en-IN" sz="1600" dirty="0">
              <a:solidFill>
                <a:prstClr val="black"/>
              </a:solidFill>
              <a:latin typeface="Arial"/>
            </a:endParaRPr>
          </a:p>
          <a:p>
            <a:pPr marR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</a:pPr>
            <a:br>
              <a:rPr lang="en-IN" sz="1600" dirty="0">
                <a:solidFill>
                  <a:prstClr val="black"/>
                </a:solidFill>
                <a:latin typeface="Arial"/>
              </a:rPr>
            </a:br>
            <a:r>
              <a:rPr lang="en-IN" sz="1600" dirty="0">
                <a:solidFill>
                  <a:prstClr val="black"/>
                </a:solidFill>
                <a:latin typeface="Arial"/>
              </a:rPr>
              <a:t>Full Pre-trained Knowledge Retention</a:t>
            </a:r>
            <a:br>
              <a:rPr lang="en-IN" sz="1600" dirty="0">
                <a:solidFill>
                  <a:prstClr val="black"/>
                </a:solidFill>
                <a:latin typeface="Arial"/>
              </a:rPr>
            </a:br>
            <a:endParaRPr lang="en-IN" sz="1600" dirty="0">
              <a:solidFill>
                <a:prstClr val="black"/>
              </a:solidFill>
              <a:latin typeface="Arial"/>
            </a:endParaRPr>
          </a:p>
          <a:p>
            <a:pPr marR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</a:pPr>
            <a:r>
              <a:rPr lang="en-IN" sz="1600" dirty="0">
                <a:solidFill>
                  <a:prstClr val="black"/>
                </a:solidFill>
                <a:latin typeface="Arial"/>
              </a:rPr>
              <a:t>Low Task Order Sensitivity (Nearly same results for Reverse order as well)</a:t>
            </a:r>
          </a:p>
          <a:p>
            <a:pPr marR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</a:pPr>
            <a:br>
              <a:rPr lang="en-IN" sz="1600" noProof="0" dirty="0">
                <a:solidFill>
                  <a:prstClr val="black"/>
                </a:solidFill>
                <a:latin typeface="Arial"/>
              </a:rPr>
            </a:br>
            <a:r>
              <a:rPr lang="en-IN" sz="1600" noProof="0" dirty="0">
                <a:solidFill>
                  <a:prstClr val="black"/>
                </a:solidFill>
                <a:latin typeface="Arial"/>
              </a:rPr>
              <a:t>Requires Task ID during Evaluation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br>
              <a:rPr kumimoji="0" lang="en-IN" sz="16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IN" sz="16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Storage space linearly scales with number of tasks (</a:t>
            </a:r>
            <a:r>
              <a:rPr kumimoji="0" lang="en-IN" sz="1600" b="0" i="0" u="none" strike="noStrike" kern="1200" cap="none" spc="0" normalizeH="0" baseline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LoRA</a:t>
            </a:r>
            <a:r>
              <a:rPr kumimoji="0" lang="en-IN" sz="16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with rank=</a:t>
            </a:r>
            <a:r>
              <a:rPr lang="en-IN" sz="1600" dirty="0">
                <a:solidFill>
                  <a:prstClr val="black"/>
                </a:solidFill>
              </a:rPr>
              <a:t>8 </a:t>
            </a:r>
            <a:r>
              <a:rPr lang="en-IN" sz="1600" dirty="0">
                <a:solidFill>
                  <a:prstClr val="black"/>
                </a:solidFill>
                <a:sym typeface="Wingdings" panose="05000000000000000000" pitchFamily="2" charset="2"/>
              </a:rPr>
              <a:t>has </a:t>
            </a:r>
            <a:r>
              <a:rPr lang="en-IN" sz="1600" b="1" dirty="0">
                <a:solidFill>
                  <a:prstClr val="black"/>
                </a:solidFill>
                <a:sym typeface="Wingdings" panose="05000000000000000000" pitchFamily="2" charset="2"/>
              </a:rPr>
              <a:t>393k</a:t>
            </a:r>
            <a:r>
              <a:rPr lang="en-IN" sz="1600" dirty="0">
                <a:solidFill>
                  <a:prstClr val="black"/>
                </a:solidFill>
                <a:sym typeface="Wingdings" panose="05000000000000000000" pitchFamily="2" charset="2"/>
              </a:rPr>
              <a:t> </a:t>
            </a:r>
            <a:r>
              <a:rPr lang="en-IN" sz="1600" dirty="0">
                <a:solidFill>
                  <a:prstClr val="black"/>
                </a:solidFill>
              </a:rPr>
              <a:t>parameters)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C22FB5-C917-6991-EC9B-8A2072B54D02}"/>
              </a:ext>
            </a:extLst>
          </p:cNvPr>
          <p:cNvSpPr txBox="1"/>
          <p:nvPr/>
        </p:nvSpPr>
        <p:spPr>
          <a:xfrm>
            <a:off x="7315658" y="1494321"/>
            <a:ext cx="5689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00B050"/>
                </a:solidFill>
                <a:latin typeface="Arial"/>
                <a:sym typeface="Wingdings" panose="05000000000000000000" pitchFamily="2" charset="2"/>
              </a:rPr>
              <a:t>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64C229-3F36-DD5C-0C75-8E3E63D71261}"/>
              </a:ext>
            </a:extLst>
          </p:cNvPr>
          <p:cNvSpPr txBox="1"/>
          <p:nvPr/>
        </p:nvSpPr>
        <p:spPr>
          <a:xfrm>
            <a:off x="7315657" y="2236544"/>
            <a:ext cx="5689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00B050"/>
                </a:solidFill>
                <a:latin typeface="Arial"/>
                <a:sym typeface="Wingdings" panose="05000000000000000000" pitchFamily="2" charset="2"/>
              </a:rPr>
              <a:t>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168E80-14A7-114C-F8D6-851CBD7EF89B}"/>
              </a:ext>
            </a:extLst>
          </p:cNvPr>
          <p:cNvSpPr txBox="1"/>
          <p:nvPr/>
        </p:nvSpPr>
        <p:spPr>
          <a:xfrm>
            <a:off x="7315657" y="3020834"/>
            <a:ext cx="5689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00B050"/>
                </a:solidFill>
                <a:latin typeface="Arial"/>
                <a:sym typeface="Wingdings" panose="05000000000000000000" pitchFamily="2" charset="2"/>
              </a:rPr>
              <a:t>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192667-664B-C61F-F846-75A002557D2A}"/>
              </a:ext>
            </a:extLst>
          </p:cNvPr>
          <p:cNvSpPr txBox="1"/>
          <p:nvPr/>
        </p:nvSpPr>
        <p:spPr>
          <a:xfrm>
            <a:off x="7315657" y="4547667"/>
            <a:ext cx="5689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Arial"/>
                <a:sym typeface="Wingdings" panose="05000000000000000000" pitchFamily="2" charset="2"/>
              </a:rPr>
              <a:t>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133F3F-3AAB-8AA0-4E37-98028A722F49}"/>
              </a:ext>
            </a:extLst>
          </p:cNvPr>
          <p:cNvSpPr txBox="1"/>
          <p:nvPr/>
        </p:nvSpPr>
        <p:spPr>
          <a:xfrm>
            <a:off x="7315657" y="5379175"/>
            <a:ext cx="5689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Arial"/>
                <a:sym typeface="Wingdings" panose="05000000000000000000" pitchFamily="2" charset="2"/>
              </a:rPr>
              <a:t>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F08934-DAEB-4DEB-50D2-A9AC8B6D5E64}"/>
              </a:ext>
            </a:extLst>
          </p:cNvPr>
          <p:cNvSpPr txBox="1"/>
          <p:nvPr/>
        </p:nvSpPr>
        <p:spPr>
          <a:xfrm>
            <a:off x="7315657" y="3721490"/>
            <a:ext cx="5689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00B050"/>
                </a:solidFill>
                <a:latin typeface="Arial"/>
                <a:sym typeface="Wingdings" panose="05000000000000000000" pitchFamily="2" charset="2"/>
              </a:rPr>
              <a:t></a:t>
            </a:r>
            <a:endParaRPr lang="en-IN" dirty="0">
              <a:solidFill>
                <a:srgbClr val="00B050"/>
              </a:solidFill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D76D7E0-D677-1330-AE01-BDEEB09B9A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7876979"/>
              </p:ext>
            </p:extLst>
          </p:nvPr>
        </p:nvGraphicFramePr>
        <p:xfrm>
          <a:off x="515937" y="1382322"/>
          <a:ext cx="6799720" cy="49485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202835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5D60551-9810-C72E-E39B-4289A6E37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9712645F-F385-907D-EF86-612F5E9D7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7183381" cy="332399"/>
          </a:xfrm>
        </p:spPr>
        <p:txBody>
          <a:bodyPr/>
          <a:lstStyle/>
          <a:p>
            <a:r>
              <a:rPr lang="en-IN" dirty="0"/>
              <a:t>Class-Incremental </a:t>
            </a:r>
            <a:r>
              <a:rPr lang="en-IN" dirty="0" err="1"/>
              <a:t>LoRA</a:t>
            </a:r>
            <a:endParaRPr lang="en-IN" dirty="0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4475829B-6265-C0DB-3DA4-34B6D31CA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9E98-54A4-43F9-9249-7D6B5CD88EDB}" type="datetime4">
              <a:rPr lang="de-DE" smtClean="0"/>
              <a:pPr/>
              <a:t>17. Oktober 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4F7D8C33-B8A5-887D-FBC3-6CE206FD7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13B484F-6498-DAD0-24A8-63B77C780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18</a:t>
            </a:fld>
            <a:endParaRPr lang="de-DE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7A161A54-2898-F9E2-4571-96EC4A3DF01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/>
          <a:lstStyle/>
          <a:p>
            <a:r>
              <a:rPr lang="en-IN" dirty="0"/>
              <a:t>Shared </a:t>
            </a:r>
            <a:r>
              <a:rPr lang="en-IN" dirty="0" err="1"/>
              <a:t>LoRA</a:t>
            </a:r>
            <a:r>
              <a:rPr lang="en-IN" dirty="0"/>
              <a:t> Shows Severe Performance Collapse</a:t>
            </a:r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D1BBEEB1-CAB3-214F-0F5E-923CDEBBA497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7CBBF9F-8629-BA95-195B-BEED7B9BA8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4284957"/>
              </p:ext>
            </p:extLst>
          </p:nvPr>
        </p:nvGraphicFramePr>
        <p:xfrm>
          <a:off x="600075" y="2004689"/>
          <a:ext cx="7620000" cy="356269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86317">
                  <a:extLst>
                    <a:ext uri="{9D8B030D-6E8A-4147-A177-3AD203B41FA5}">
                      <a16:colId xmlns:a16="http://schemas.microsoft.com/office/drawing/2014/main" val="2316959904"/>
                    </a:ext>
                  </a:extLst>
                </a:gridCol>
                <a:gridCol w="1789986">
                  <a:extLst>
                    <a:ext uri="{9D8B030D-6E8A-4147-A177-3AD203B41FA5}">
                      <a16:colId xmlns:a16="http://schemas.microsoft.com/office/drawing/2014/main" val="2331293725"/>
                    </a:ext>
                  </a:extLst>
                </a:gridCol>
                <a:gridCol w="1244917">
                  <a:extLst>
                    <a:ext uri="{9D8B030D-6E8A-4147-A177-3AD203B41FA5}">
                      <a16:colId xmlns:a16="http://schemas.microsoft.com/office/drawing/2014/main" val="4064480913"/>
                    </a:ext>
                  </a:extLst>
                </a:gridCol>
                <a:gridCol w="1041591">
                  <a:extLst>
                    <a:ext uri="{9D8B030D-6E8A-4147-A177-3AD203B41FA5}">
                      <a16:colId xmlns:a16="http://schemas.microsoft.com/office/drawing/2014/main" val="2011177113"/>
                    </a:ext>
                  </a:extLst>
                </a:gridCol>
                <a:gridCol w="1257189">
                  <a:extLst>
                    <a:ext uri="{9D8B030D-6E8A-4147-A177-3AD203B41FA5}">
                      <a16:colId xmlns:a16="http://schemas.microsoft.com/office/drawing/2014/main" val="985909246"/>
                    </a:ext>
                  </a:extLst>
                </a:gridCol>
              </a:tblGrid>
              <a:tr h="749948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Configuration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Final Average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Forgetting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Transfer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Retention Drop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6979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Fine-Tuning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0.130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0.812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9819678"/>
                  </a:ext>
                </a:extLst>
              </a:tr>
              <a:tr h="555550"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Rank 16 (Original)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7620" marR="7620" marT="7620" marB="0" anchor="ctr">
                    <a:solidFill>
                      <a:srgbClr val="FFBD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0.731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0.091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06504339"/>
                  </a:ext>
                </a:extLst>
              </a:tr>
              <a:tr h="555550"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Rank 128 (Original)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7620" marR="7620" marT="7620" marB="0" anchor="ctr">
                    <a:solidFill>
                      <a:srgbClr val="FFBD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0.670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0.202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57548987"/>
                  </a:ext>
                </a:extLst>
              </a:tr>
              <a:tr h="555550"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Rank 128 (Reverse)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0.178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0.443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0.102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90480846"/>
                  </a:ext>
                </a:extLst>
              </a:tr>
              <a:tr h="555550"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Rank 128 (Best Order)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0.195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0.569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0.201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0.774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7047011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9B38EA1-40AC-A0A0-4614-36FFFEEC1E7A}"/>
              </a:ext>
            </a:extLst>
          </p:cNvPr>
          <p:cNvSpPr txBox="1"/>
          <p:nvPr/>
        </p:nvSpPr>
        <p:spPr>
          <a:xfrm>
            <a:off x="8754471" y="2888613"/>
            <a:ext cx="3041953" cy="17948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</a:pPr>
            <a:r>
              <a:rPr lang="en-IN" sz="1600" b="1" dirty="0">
                <a:solidFill>
                  <a:prstClr val="black"/>
                </a:solidFill>
                <a:latin typeface="Arial"/>
              </a:rPr>
              <a:t>Key Findings:</a:t>
            </a:r>
          </a:p>
          <a:p>
            <a:pPr marL="285750" indent="-285750">
              <a:lnSpc>
                <a:spcPct val="11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Last-task degeneration</a:t>
            </a:r>
          </a:p>
          <a:p>
            <a:pPr marL="285750" indent="-285750">
              <a:lnSpc>
                <a:spcPct val="11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Strong task-order sensitivity</a:t>
            </a:r>
          </a:p>
          <a:p>
            <a:pPr marL="285750" indent="-285750">
              <a:lnSpc>
                <a:spcPct val="11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Increasing rank improves performance and transfer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23729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DB830F1-FC1B-5416-EAB6-B42FE59D1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714F7ED9-6933-AE92-1F1F-B6BBCC493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7183381" cy="332399"/>
          </a:xfrm>
        </p:spPr>
        <p:txBody>
          <a:bodyPr/>
          <a:lstStyle/>
          <a:p>
            <a:r>
              <a:rPr lang="en-IN" dirty="0"/>
              <a:t>CIL-</a:t>
            </a:r>
            <a:r>
              <a:rPr lang="en-IN" dirty="0" err="1"/>
              <a:t>LoRA</a:t>
            </a:r>
            <a:r>
              <a:rPr lang="en-IN" dirty="0"/>
              <a:t> Failure Analysis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31E2497-09AD-2B95-4642-2EAEA257E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9E98-54A4-43F9-9249-7D6B5CD88EDB}" type="datetime4">
              <a:rPr lang="de-DE" smtClean="0"/>
              <a:pPr/>
              <a:t>17. Oktober 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9B0516F-90DB-ABEE-93C4-E7A8D97D9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B9450DB-C38D-EC0E-C6F2-FBF2893E0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19</a:t>
            </a:fld>
            <a:endParaRPr lang="de-DE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82AF5281-5BE4-5B35-8A8C-4B4B753F9DD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7991201" cy="520655"/>
          </a:xfrm>
        </p:spPr>
        <p:txBody>
          <a:bodyPr/>
          <a:lstStyle/>
          <a:p>
            <a:r>
              <a:rPr lang="en-IN" dirty="0"/>
              <a:t>Shared </a:t>
            </a:r>
            <a:r>
              <a:rPr lang="en-IN" dirty="0" err="1"/>
              <a:t>LoRA</a:t>
            </a:r>
            <a:r>
              <a:rPr lang="en-IN" dirty="0"/>
              <a:t> updates overwrite previous task knowledge, causing task interference</a:t>
            </a:r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A8432357-27B5-B1FC-627B-BDB211D61AA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4C6F477-5676-F598-EB60-00454C71AC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818016"/>
              </p:ext>
            </p:extLst>
          </p:nvPr>
        </p:nvGraphicFramePr>
        <p:xfrm>
          <a:off x="518317" y="2379174"/>
          <a:ext cx="5591902" cy="3456810"/>
        </p:xfrm>
        <a:graphic>
          <a:graphicData uri="http://schemas.openxmlformats.org/drawingml/2006/table">
            <a:tbl>
              <a:tblPr/>
              <a:tblGrid>
                <a:gridCol w="949832">
                  <a:extLst>
                    <a:ext uri="{9D8B030D-6E8A-4147-A177-3AD203B41FA5}">
                      <a16:colId xmlns:a16="http://schemas.microsoft.com/office/drawing/2014/main" val="243142045"/>
                    </a:ext>
                  </a:extLst>
                </a:gridCol>
                <a:gridCol w="929971">
                  <a:extLst>
                    <a:ext uri="{9D8B030D-6E8A-4147-A177-3AD203B41FA5}">
                      <a16:colId xmlns:a16="http://schemas.microsoft.com/office/drawing/2014/main" val="2606963503"/>
                    </a:ext>
                  </a:extLst>
                </a:gridCol>
                <a:gridCol w="688143">
                  <a:extLst>
                    <a:ext uri="{9D8B030D-6E8A-4147-A177-3AD203B41FA5}">
                      <a16:colId xmlns:a16="http://schemas.microsoft.com/office/drawing/2014/main" val="1789724868"/>
                    </a:ext>
                  </a:extLst>
                </a:gridCol>
                <a:gridCol w="717220">
                  <a:extLst>
                    <a:ext uri="{9D8B030D-6E8A-4147-A177-3AD203B41FA5}">
                      <a16:colId xmlns:a16="http://schemas.microsoft.com/office/drawing/2014/main" val="3187175135"/>
                    </a:ext>
                  </a:extLst>
                </a:gridCol>
                <a:gridCol w="755990">
                  <a:extLst>
                    <a:ext uri="{9D8B030D-6E8A-4147-A177-3AD203B41FA5}">
                      <a16:colId xmlns:a16="http://schemas.microsoft.com/office/drawing/2014/main" val="1393725666"/>
                    </a:ext>
                  </a:extLst>
                </a:gridCol>
                <a:gridCol w="717220">
                  <a:extLst>
                    <a:ext uri="{9D8B030D-6E8A-4147-A177-3AD203B41FA5}">
                      <a16:colId xmlns:a16="http://schemas.microsoft.com/office/drawing/2014/main" val="2597862109"/>
                    </a:ext>
                  </a:extLst>
                </a:gridCol>
                <a:gridCol w="833526">
                  <a:extLst>
                    <a:ext uri="{9D8B030D-6E8A-4147-A177-3AD203B41FA5}">
                      <a16:colId xmlns:a16="http://schemas.microsoft.com/office/drawing/2014/main" val="2481530409"/>
                    </a:ext>
                  </a:extLst>
                </a:gridCol>
              </a:tblGrid>
              <a:tr h="6964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Pretrained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Lateral Tibial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Medial Tibial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Femoral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Patellar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Medial Meniscus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8444600"/>
                  </a:ext>
                </a:extLst>
              </a:tr>
              <a:tr h="4332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Lateral Tibial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071295"/>
                  </a:ext>
                </a:extLst>
              </a:tr>
              <a:tr h="4332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Medial Tibial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0.537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65883"/>
                  </a:ext>
                </a:extLst>
              </a:tr>
              <a:tr h="4290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Femoral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0.684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0.638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0.734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901906"/>
                  </a:ext>
                </a:extLst>
              </a:tr>
              <a:tr h="4290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Patellar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0.984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357157"/>
                  </a:ext>
                </a:extLst>
              </a:tr>
              <a:tr h="4915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Medial Meniscus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0.043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0.082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100408"/>
                  </a:ext>
                </a:extLst>
              </a:tr>
              <a:tr h="5419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Aeropath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(Retention)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0.979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0.974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0.881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0.957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0.219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84136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4C4EA4C-8A6A-D941-B512-41EF21AC04AB}"/>
              </a:ext>
            </a:extLst>
          </p:cNvPr>
          <p:cNvSpPr txBox="1"/>
          <p:nvPr/>
        </p:nvSpPr>
        <p:spPr>
          <a:xfrm>
            <a:off x="351698" y="1629005"/>
            <a:ext cx="56363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/>
              <a:t>Dice coefficient heatmap evaluation matrix for CIL-</a:t>
            </a:r>
            <a:r>
              <a:rPr lang="en-IN" sz="1600" dirty="0" err="1"/>
              <a:t>LoRA</a:t>
            </a:r>
            <a:r>
              <a:rPr lang="en-IN" sz="1600" dirty="0"/>
              <a:t> (rank 128) with Original Task Order </a:t>
            </a:r>
            <a:endParaRPr lang="en-IN" dirty="0"/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D2F1B457-757E-9A4F-955F-CA17E1440A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2103568"/>
              </p:ext>
            </p:extLst>
          </p:nvPr>
        </p:nvGraphicFramePr>
        <p:xfrm>
          <a:off x="6203951" y="1593909"/>
          <a:ext cx="5762442" cy="4082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1A3E0E2B-91CE-1AA6-9D84-CFB21BB2066E}"/>
              </a:ext>
            </a:extLst>
          </p:cNvPr>
          <p:cNvSpPr/>
          <p:nvPr/>
        </p:nvSpPr>
        <p:spPr>
          <a:xfrm flipH="1">
            <a:off x="8202652" y="6021556"/>
            <a:ext cx="76199" cy="9525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41E42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FC8954-B8F8-2124-C788-AFC183B2E66C}"/>
              </a:ext>
            </a:extLst>
          </p:cNvPr>
          <p:cNvSpPr/>
          <p:nvPr/>
        </p:nvSpPr>
        <p:spPr>
          <a:xfrm>
            <a:off x="9290598" y="6008214"/>
            <a:ext cx="76200" cy="952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41E42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6664C3-5FA8-3104-50E8-0811AE912B73}"/>
              </a:ext>
            </a:extLst>
          </p:cNvPr>
          <p:cNvSpPr txBox="1"/>
          <p:nvPr/>
        </p:nvSpPr>
        <p:spPr>
          <a:xfrm>
            <a:off x="8374303" y="5959888"/>
            <a:ext cx="617157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41E42"/>
                </a:solidFill>
                <a:effectLst/>
                <a:uLnTx/>
                <a:uFillTx/>
                <a:ea typeface="+mn-ea"/>
                <a:cs typeface="+mn-cs"/>
              </a:rPr>
              <a:t>Original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1B323E-F959-85F9-45BC-EBF49CBECF34}"/>
              </a:ext>
            </a:extLst>
          </p:cNvPr>
          <p:cNvSpPr txBox="1"/>
          <p:nvPr/>
        </p:nvSpPr>
        <p:spPr>
          <a:xfrm>
            <a:off x="9471824" y="5959888"/>
            <a:ext cx="666849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41E42"/>
                </a:solidFill>
                <a:effectLst/>
                <a:uLnTx/>
                <a:uFillTx/>
                <a:ea typeface="+mn-ea"/>
                <a:cs typeface="+mn-cs"/>
              </a:rPr>
              <a:t>Reverse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8873EF0-9DE5-AE39-0FAD-128566FF6772}"/>
                  </a:ext>
                </a:extLst>
              </p:cNvPr>
              <p:cNvSpPr txBox="1"/>
              <p:nvPr/>
            </p:nvSpPr>
            <p:spPr>
              <a:xfrm>
                <a:off x="10699167" y="5299692"/>
                <a:ext cx="706732" cy="7218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IN" sz="1600" i="1" dirty="0">
                              <a:solidFill>
                                <a:srgbClr val="041E4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1600" i="1" dirty="0">
                                  <a:solidFill>
                                    <a:srgbClr val="041E4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IN" sz="1600" i="0" dirty="0">
                                      <a:solidFill>
                                        <a:srgbClr val="041E4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1600" i="0" dirty="0">
                                      <a:solidFill>
                                        <a:srgbClr val="041E42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IN" sz="1600" i="1" dirty="0">
                                      <a:solidFill>
                                        <a:srgbClr val="041E42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</m:d>
                            </m:e>
                            <m:sub>
                              <m:r>
                                <a:rPr lang="en-IN" sz="1600" i="1" dirty="0">
                                  <a:solidFill>
                                    <a:srgbClr val="041E42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1600" i="1" dirty="0">
                                  <a:solidFill>
                                    <a:srgbClr val="041E4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IN" sz="1600" i="1" dirty="0">
                                      <a:solidFill>
                                        <a:srgbClr val="041E4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600" i="1" dirty="0">
                                      <a:solidFill>
                                        <a:srgbClr val="041E42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</m:d>
                            </m:e>
                            <m:sub>
                              <m:r>
                                <a:rPr lang="en-IN" sz="1600" i="1" dirty="0">
                                  <a:solidFill>
                                    <a:srgbClr val="041E42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41E4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8873EF0-9DE5-AE39-0FAD-128566FF6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9167" y="5299692"/>
                <a:ext cx="706732" cy="7218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33093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6040319-B21B-0F18-CC69-F575B92C9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800B2CE-3ADB-3AE0-9004-7E3680736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9" y="301185"/>
            <a:ext cx="7206456" cy="664797"/>
          </a:xfrm>
        </p:spPr>
        <p:txBody>
          <a:bodyPr/>
          <a:lstStyle/>
          <a:p>
            <a:r>
              <a:rPr lang="en-IN" dirty="0"/>
              <a:t>Replay-based Mitigation of CIL </a:t>
            </a:r>
            <a:r>
              <a:rPr lang="en-IN" dirty="0" err="1"/>
              <a:t>LoRA</a:t>
            </a:r>
            <a:r>
              <a:rPr lang="en-IN" dirty="0"/>
              <a:t> Interference</a:t>
            </a:r>
            <a:endParaRPr lang="en-IN" b="0" dirty="0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6867BB2-1FC8-9519-941B-AD1372EEF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9E98-54A4-43F9-9249-7D6B5CD88EDB}" type="datetime4">
              <a:rPr lang="de-DE" smtClean="0"/>
              <a:pPr/>
              <a:t>17. Oktober 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5422818B-7390-B31C-3A0C-7A18D5DB8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A976600C-F996-49DF-E2DA-9E32F4D08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20</a:t>
            </a:fld>
            <a:endParaRPr lang="de-DE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064CF690-C809-AB37-7700-99514159C13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/>
          <a:lstStyle/>
          <a:p>
            <a:r>
              <a:rPr lang="en-IN" dirty="0"/>
              <a:t>Reducing parameter drift by preserving previous task information</a:t>
            </a:r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624F0789-8B7B-A027-5F93-6B54F6C743E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76D143F-36B2-2324-D72F-BCE03CBDBD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78453"/>
              </p:ext>
            </p:extLst>
          </p:nvPr>
        </p:nvGraphicFramePr>
        <p:xfrm>
          <a:off x="1169340" y="5214227"/>
          <a:ext cx="6091245" cy="11381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56231">
                  <a:extLst>
                    <a:ext uri="{9D8B030D-6E8A-4147-A177-3AD203B41FA5}">
                      <a16:colId xmlns:a16="http://schemas.microsoft.com/office/drawing/2014/main" val="2316959904"/>
                    </a:ext>
                  </a:extLst>
                </a:gridCol>
                <a:gridCol w="1488473">
                  <a:extLst>
                    <a:ext uri="{9D8B030D-6E8A-4147-A177-3AD203B41FA5}">
                      <a16:colId xmlns:a16="http://schemas.microsoft.com/office/drawing/2014/main" val="2331293725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4064480913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11177113"/>
                    </a:ext>
                  </a:extLst>
                </a:gridCol>
                <a:gridCol w="1198641">
                  <a:extLst>
                    <a:ext uri="{9D8B030D-6E8A-4147-A177-3AD203B41FA5}">
                      <a16:colId xmlns:a16="http://schemas.microsoft.com/office/drawing/2014/main" val="985909246"/>
                    </a:ext>
                  </a:extLst>
                </a:gridCol>
              </a:tblGrid>
              <a:tr h="484063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+mn-lt"/>
                        </a:rPr>
                        <a:t>Task 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+mn-lt"/>
                        </a:rPr>
                        <a:t>Final Average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+mn-lt"/>
                        </a:rPr>
                        <a:t>Forgetting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+mn-lt"/>
                        </a:rPr>
                        <a:t>Transfer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+mn-lt"/>
                        </a:rPr>
                        <a:t>Retention Drop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69790"/>
                  </a:ext>
                </a:extLst>
              </a:tr>
              <a:tr h="309970"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+mn-lt"/>
                        </a:rPr>
                        <a:t>Original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0.353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0.363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0.129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0.545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06504339"/>
                  </a:ext>
                </a:extLst>
              </a:tr>
              <a:tr h="309970"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+mn-lt"/>
                        </a:rPr>
                        <a:t>Reverse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0.516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0.158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0.114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0.255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57548987"/>
                  </a:ext>
                </a:extLst>
              </a:tr>
            </a:tbl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7086640-4456-9C73-1B87-F6843B2AA5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0970998"/>
              </p:ext>
            </p:extLst>
          </p:nvPr>
        </p:nvGraphicFramePr>
        <p:xfrm>
          <a:off x="891457" y="1473590"/>
          <a:ext cx="6979991" cy="36566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CBFF6B0-D261-3120-E496-2E0556594178}"/>
              </a:ext>
            </a:extLst>
          </p:cNvPr>
          <p:cNvSpPr txBox="1"/>
          <p:nvPr/>
        </p:nvSpPr>
        <p:spPr>
          <a:xfrm>
            <a:off x="8040096" y="2446821"/>
            <a:ext cx="5689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00B050"/>
                </a:solidFill>
                <a:latin typeface="Arial"/>
                <a:sym typeface="Wingdings" panose="05000000000000000000" pitchFamily="2" charset="2"/>
              </a:rPr>
              <a:t>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266321-E5AB-4DC9-E28F-FD7760A20E61}"/>
              </a:ext>
            </a:extLst>
          </p:cNvPr>
          <p:cNvSpPr txBox="1"/>
          <p:nvPr/>
        </p:nvSpPr>
        <p:spPr>
          <a:xfrm>
            <a:off x="8609017" y="2568135"/>
            <a:ext cx="3249607" cy="342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US" sz="1600" dirty="0"/>
              <a:t>Eliminates Last-task degeneration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5E50D9-B584-9B17-EF88-5FAFC08BBA1E}"/>
              </a:ext>
            </a:extLst>
          </p:cNvPr>
          <p:cNvSpPr txBox="1"/>
          <p:nvPr/>
        </p:nvSpPr>
        <p:spPr>
          <a:xfrm>
            <a:off x="8059146" y="3018321"/>
            <a:ext cx="5689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00B050"/>
                </a:solidFill>
                <a:latin typeface="Arial"/>
                <a:sym typeface="Wingdings" panose="05000000000000000000" pitchFamily="2" charset="2"/>
              </a:rPr>
              <a:t>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CD3D45-EC85-BE71-B50B-90CE3A93F62D}"/>
              </a:ext>
            </a:extLst>
          </p:cNvPr>
          <p:cNvSpPr txBox="1"/>
          <p:nvPr/>
        </p:nvSpPr>
        <p:spPr>
          <a:xfrm>
            <a:off x="8628067" y="3139635"/>
            <a:ext cx="3249607" cy="342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US" sz="1600" dirty="0"/>
              <a:t>Reduces Forgetting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8A4F78-AABE-824A-D478-33C1856FBFBC}"/>
              </a:ext>
            </a:extLst>
          </p:cNvPr>
          <p:cNvSpPr txBox="1"/>
          <p:nvPr/>
        </p:nvSpPr>
        <p:spPr>
          <a:xfrm>
            <a:off x="8087721" y="3732696"/>
            <a:ext cx="5689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00B050"/>
                </a:solidFill>
                <a:latin typeface="Arial"/>
                <a:sym typeface="Wingdings" panose="05000000000000000000" pitchFamily="2" charset="2"/>
              </a:rPr>
              <a:t>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14D4B8-7C89-7B75-7609-DB8BF6ECAFDF}"/>
              </a:ext>
            </a:extLst>
          </p:cNvPr>
          <p:cNvSpPr txBox="1"/>
          <p:nvPr/>
        </p:nvSpPr>
        <p:spPr>
          <a:xfrm>
            <a:off x="8656642" y="3701610"/>
            <a:ext cx="3249607" cy="612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US" sz="1600" dirty="0"/>
              <a:t>Improves Pre-trained Knowledge Retention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6EA918-FEF3-E691-1159-E36C2CCB84B4}"/>
              </a:ext>
            </a:extLst>
          </p:cNvPr>
          <p:cNvSpPr txBox="1"/>
          <p:nvPr/>
        </p:nvSpPr>
        <p:spPr>
          <a:xfrm>
            <a:off x="8078195" y="4443304"/>
            <a:ext cx="5689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Arial"/>
                <a:sym typeface="Wingdings" panose="05000000000000000000" pitchFamily="2" charset="2"/>
              </a:rPr>
              <a:t>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E5AF7FC-C461-EA9E-53FD-A359BDB7235F}"/>
              </a:ext>
            </a:extLst>
          </p:cNvPr>
          <p:cNvSpPr txBox="1"/>
          <p:nvPr/>
        </p:nvSpPr>
        <p:spPr>
          <a:xfrm>
            <a:off x="8656642" y="4564618"/>
            <a:ext cx="3249607" cy="342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US" sz="1600" dirty="0"/>
              <a:t>Slight decrease in Transfer</a:t>
            </a:r>
          </a:p>
        </p:txBody>
      </p:sp>
    </p:spTree>
    <p:extLst>
      <p:ext uri="{BB962C8B-B14F-4D97-AF65-F5344CB8AC3E}">
        <p14:creationId xmlns:p14="http://schemas.microsoft.com/office/powerpoint/2010/main" val="4109990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75A6B3E-6C84-F806-ABD4-907DB093F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55EDE69-CA10-06A2-C703-3877E4CE3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8131160" cy="664797"/>
          </a:xfrm>
        </p:spPr>
        <p:txBody>
          <a:bodyPr/>
          <a:lstStyle/>
          <a:p>
            <a:r>
              <a:rPr lang="en-IN" dirty="0"/>
              <a:t>Evaluation of Alternative Continual Learning Strategies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95FB3A2-564B-66BB-9728-488C42BC3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9E98-54A4-43F9-9249-7D6B5CD88EDB}" type="datetime4">
              <a:rPr lang="de-DE" smtClean="0"/>
              <a:pPr/>
              <a:t>17. Oktober 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7EA008E9-3A9C-9EDE-6F82-123B39D96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A91133FB-9CB1-DA4B-DE1C-E4DD3781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21</a:t>
            </a:fld>
            <a:endParaRPr lang="de-DE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180C9DEF-E73E-F1BB-4786-AE9CF1D1926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9387683" cy="520655"/>
          </a:xfrm>
        </p:spPr>
        <p:txBody>
          <a:bodyPr/>
          <a:lstStyle/>
          <a:p>
            <a:r>
              <a:rPr lang="en-IN" dirty="0"/>
              <a:t>Prompt-based and regularisation-based approaches provide limited improvement over fine-tuning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3B12C7F-EF12-1EEF-29D6-72E5429D10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746206"/>
              </p:ext>
            </p:extLst>
          </p:nvPr>
        </p:nvGraphicFramePr>
        <p:xfrm>
          <a:off x="2286000" y="1687075"/>
          <a:ext cx="7620000" cy="245159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86317">
                  <a:extLst>
                    <a:ext uri="{9D8B030D-6E8A-4147-A177-3AD203B41FA5}">
                      <a16:colId xmlns:a16="http://schemas.microsoft.com/office/drawing/2014/main" val="2316959904"/>
                    </a:ext>
                  </a:extLst>
                </a:gridCol>
                <a:gridCol w="1789986">
                  <a:extLst>
                    <a:ext uri="{9D8B030D-6E8A-4147-A177-3AD203B41FA5}">
                      <a16:colId xmlns:a16="http://schemas.microsoft.com/office/drawing/2014/main" val="2331293725"/>
                    </a:ext>
                  </a:extLst>
                </a:gridCol>
                <a:gridCol w="1244917">
                  <a:extLst>
                    <a:ext uri="{9D8B030D-6E8A-4147-A177-3AD203B41FA5}">
                      <a16:colId xmlns:a16="http://schemas.microsoft.com/office/drawing/2014/main" val="4064480913"/>
                    </a:ext>
                  </a:extLst>
                </a:gridCol>
                <a:gridCol w="1041591">
                  <a:extLst>
                    <a:ext uri="{9D8B030D-6E8A-4147-A177-3AD203B41FA5}">
                      <a16:colId xmlns:a16="http://schemas.microsoft.com/office/drawing/2014/main" val="2011177113"/>
                    </a:ext>
                  </a:extLst>
                </a:gridCol>
                <a:gridCol w="1257189">
                  <a:extLst>
                    <a:ext uri="{9D8B030D-6E8A-4147-A177-3AD203B41FA5}">
                      <a16:colId xmlns:a16="http://schemas.microsoft.com/office/drawing/2014/main" val="985909246"/>
                    </a:ext>
                  </a:extLst>
                </a:gridCol>
              </a:tblGrid>
              <a:tr h="749948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Configuration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Final Average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Forgetting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Transfer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Retention Drop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6979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Fine-Tuning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0.130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0.812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9819678"/>
                  </a:ext>
                </a:extLst>
              </a:tr>
              <a:tr h="555550"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Prompt-based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0.115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0.753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0.044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90480846"/>
                  </a:ext>
                </a:extLst>
              </a:tr>
              <a:tr h="555550"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Regularisation-based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0.110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0.837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7047011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2362200-DE26-1456-4451-27137A21C95E}"/>
              </a:ext>
            </a:extLst>
          </p:cNvPr>
          <p:cNvSpPr txBox="1"/>
          <p:nvPr/>
        </p:nvSpPr>
        <p:spPr>
          <a:xfrm>
            <a:off x="1667288" y="4561987"/>
            <a:ext cx="5689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00B050"/>
                </a:solidFill>
                <a:latin typeface="Arial"/>
                <a:sym typeface="Wingdings" panose="05000000000000000000" pitchFamily="2" charset="2"/>
              </a:rPr>
              <a:t>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A01850-8ED0-46FE-2424-B2C2446776AC}"/>
              </a:ext>
            </a:extLst>
          </p:cNvPr>
          <p:cNvSpPr txBox="1"/>
          <p:nvPr/>
        </p:nvSpPr>
        <p:spPr>
          <a:xfrm>
            <a:off x="2351509" y="4669709"/>
            <a:ext cx="8490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Prompt-based adaptation provides marginal improvement over fine-tuning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4EF085-9293-1BF6-F7ED-57F79C7820C9}"/>
              </a:ext>
            </a:extLst>
          </p:cNvPr>
          <p:cNvSpPr txBox="1"/>
          <p:nvPr/>
        </p:nvSpPr>
        <p:spPr>
          <a:xfrm>
            <a:off x="2351509" y="5239108"/>
            <a:ext cx="8173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Regularisation-based approach does not prevent forgetting in this setting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92B644-A384-2B23-64E8-4B876B14A6EB}"/>
              </a:ext>
            </a:extLst>
          </p:cNvPr>
          <p:cNvSpPr txBox="1"/>
          <p:nvPr/>
        </p:nvSpPr>
        <p:spPr>
          <a:xfrm>
            <a:off x="1667288" y="5131386"/>
            <a:ext cx="5689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Arial"/>
                <a:sym typeface="Wingdings" panose="05000000000000000000" pitchFamily="2" charset="2"/>
              </a:rPr>
              <a:t>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4203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19D8C7-7C9F-CA8A-3EF9-954F61728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5BF87BD7-0552-1D53-F69C-9D0F4E44D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7" y="301185"/>
            <a:ext cx="8093837" cy="332399"/>
          </a:xfrm>
        </p:spPr>
        <p:txBody>
          <a:bodyPr/>
          <a:lstStyle/>
          <a:p>
            <a:r>
              <a:rPr lang="en-IN" dirty="0"/>
              <a:t>Few-Shot Adaptation: Evaluating the Best Trade-off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4A6BF8BA-9402-5DB2-2AA8-1B5EE428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9E98-54A4-43F9-9249-7D6B5CD88EDB}" type="datetime4">
              <a:rPr lang="de-DE" smtClean="0"/>
              <a:pPr/>
              <a:t>17. Oktober 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D9078B73-2B60-25FD-C8A4-3BB767088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68CBDA5E-F098-0236-979E-EA159BCF1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22</a:t>
            </a:fld>
            <a:endParaRPr lang="de-DE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4FEAA3C5-A7F2-9A87-5D1B-A6A50A41315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6" y="687598"/>
            <a:ext cx="9358605" cy="520655"/>
          </a:xfrm>
        </p:spPr>
        <p:txBody>
          <a:bodyPr/>
          <a:lstStyle/>
          <a:p>
            <a:r>
              <a:rPr lang="en-IN" dirty="0"/>
              <a:t>Replay mitigates forgetting in the task-agnostic setting, but few-shot adaptation remains challenging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63B8B4A-5908-A207-0315-B8AD73D662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3290917"/>
              </p:ext>
            </p:extLst>
          </p:nvPr>
        </p:nvGraphicFramePr>
        <p:xfrm>
          <a:off x="518318" y="1520890"/>
          <a:ext cx="5291544" cy="4268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DA27991C-9EC9-6BC9-4A56-9E232E33CE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9252449"/>
              </p:ext>
            </p:extLst>
          </p:nvPr>
        </p:nvGraphicFramePr>
        <p:xfrm>
          <a:off x="5988051" y="1520890"/>
          <a:ext cx="5685632" cy="4268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678403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92FB670-C388-A089-1F88-F4F582660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A1F6F41-FE29-F0D7-43E0-ADFDD953F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7" y="301185"/>
            <a:ext cx="8093837" cy="664797"/>
          </a:xfrm>
        </p:spPr>
        <p:txBody>
          <a:bodyPr/>
          <a:lstStyle/>
          <a:p>
            <a:r>
              <a:rPr lang="en-IN" dirty="0"/>
              <a:t>Overall Comparison of Continual Learning Approaches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0CB5F23-8C7A-F488-2E18-3C9A583E3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9E98-54A4-43F9-9249-7D6B5CD88EDB}" type="datetime4">
              <a:rPr lang="de-DE" smtClean="0"/>
              <a:pPr/>
              <a:t>17. Oktober 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E26BDE05-CE9C-6499-277D-39B4B8E0B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3FCDFED-1CEC-A9D4-1EDD-A75FB30DC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23</a:t>
            </a:fld>
            <a:endParaRPr lang="de-DE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FD5C6E41-2001-7774-ADD6-4FA2A798580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8373756" cy="520655"/>
          </a:xfrm>
        </p:spPr>
        <p:txBody>
          <a:bodyPr/>
          <a:lstStyle/>
          <a:p>
            <a:r>
              <a:rPr lang="en-IN" dirty="0"/>
              <a:t>Trade-off between performance, retention, and parameter efficiency across approaches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3D06700-3DAD-77CC-2E37-5D980AE920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0850352"/>
              </p:ext>
            </p:extLst>
          </p:nvPr>
        </p:nvGraphicFramePr>
        <p:xfrm>
          <a:off x="349524" y="1709315"/>
          <a:ext cx="7680051" cy="4347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A66C781-2052-CEA4-00C5-DE1F6B0F4F54}"/>
              </a:ext>
            </a:extLst>
          </p:cNvPr>
          <p:cNvSpPr txBox="1"/>
          <p:nvPr/>
        </p:nvSpPr>
        <p:spPr>
          <a:xfrm>
            <a:off x="8062116" y="2220982"/>
            <a:ext cx="37803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TIL-</a:t>
            </a:r>
            <a:r>
              <a:rPr lang="en-IN" b="1" dirty="0" err="1"/>
              <a:t>LoRA</a:t>
            </a:r>
            <a:r>
              <a:rPr lang="en-IN" b="1" dirty="0"/>
              <a:t>:</a:t>
            </a:r>
            <a:r>
              <a:rPr lang="en-IN" dirty="0"/>
              <a:t> </a:t>
            </a:r>
            <a:br>
              <a:rPr lang="en-IN" dirty="0"/>
            </a:br>
            <a:r>
              <a:rPr lang="en-IN" dirty="0"/>
              <a:t>Best performance, </a:t>
            </a:r>
          </a:p>
          <a:p>
            <a:r>
              <a:rPr lang="en-IN" dirty="0"/>
              <a:t>but requires task-specific adapters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ED50DA-9827-807F-6D9A-8F9D25E346E6}"/>
              </a:ext>
            </a:extLst>
          </p:cNvPr>
          <p:cNvSpPr txBox="1"/>
          <p:nvPr/>
        </p:nvSpPr>
        <p:spPr>
          <a:xfrm>
            <a:off x="8062116" y="3290500"/>
            <a:ext cx="39203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CIL-</a:t>
            </a:r>
            <a:r>
              <a:rPr lang="en-IN" b="1" dirty="0" err="1"/>
              <a:t>LoRA</a:t>
            </a:r>
            <a:r>
              <a:rPr lang="en-IN" b="1" dirty="0"/>
              <a:t>:</a:t>
            </a:r>
            <a:r>
              <a:rPr lang="en-IN" dirty="0"/>
              <a:t> </a:t>
            </a:r>
            <a:br>
              <a:rPr lang="en-IN" dirty="0"/>
            </a:br>
            <a:r>
              <a:rPr lang="en-IN" dirty="0"/>
              <a:t>Suffers from interference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B4DCF9-F53C-B94E-62A8-52EFBD7EA7A5}"/>
              </a:ext>
            </a:extLst>
          </p:cNvPr>
          <p:cNvSpPr txBox="1"/>
          <p:nvPr/>
        </p:nvSpPr>
        <p:spPr>
          <a:xfrm>
            <a:off x="8062116" y="4083020"/>
            <a:ext cx="35785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CIL-</a:t>
            </a:r>
            <a:r>
              <a:rPr lang="en-IN" b="1" dirty="0" err="1"/>
              <a:t>LoRA</a:t>
            </a:r>
            <a:r>
              <a:rPr lang="en-IN" b="1" dirty="0"/>
              <a:t> + Replay:</a:t>
            </a:r>
            <a:r>
              <a:rPr lang="en-IN" dirty="0"/>
              <a:t> </a:t>
            </a:r>
            <a:br>
              <a:rPr lang="en-IN" dirty="0"/>
            </a:br>
            <a:r>
              <a:rPr lang="en-IN" dirty="0"/>
              <a:t>Closes the gap while maintaining a shared adapter</a:t>
            </a:r>
          </a:p>
        </p:txBody>
      </p:sp>
    </p:spTree>
    <p:extLst>
      <p:ext uri="{BB962C8B-B14F-4D97-AF65-F5344CB8AC3E}">
        <p14:creationId xmlns:p14="http://schemas.microsoft.com/office/powerpoint/2010/main" val="31770426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2045317-66D1-F352-6C07-F2B7363A7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CFA867E-1933-30AA-BF9B-C48B58C88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7" y="301185"/>
            <a:ext cx="8093837" cy="332399"/>
          </a:xfrm>
        </p:spPr>
        <p:txBody>
          <a:bodyPr/>
          <a:lstStyle/>
          <a:p>
            <a:r>
              <a:rPr lang="en-IN" dirty="0"/>
              <a:t>Limitations &amp; Future Work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A3DF85F3-58EB-2A79-E672-5051F3CE9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9E98-54A4-43F9-9249-7D6B5CD88EDB}" type="datetime4">
              <a:rPr lang="de-DE" smtClean="0"/>
              <a:pPr/>
              <a:t>17. Oktober 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188EEF1-B379-105A-FD06-FE4590965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98ACA83-5E7A-A086-DDB2-62E7429BE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24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776876-0E2D-A291-6009-335D922CDD2F}"/>
              </a:ext>
            </a:extLst>
          </p:cNvPr>
          <p:cNvSpPr txBox="1"/>
          <p:nvPr/>
        </p:nvSpPr>
        <p:spPr>
          <a:xfrm>
            <a:off x="518317" y="1504280"/>
            <a:ext cx="8425542" cy="1948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Limitations:</a:t>
            </a:r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Few-shot CIL remains challenging</a:t>
            </a:r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Limited replay exploration</a:t>
            </a:r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Limited task and sequence diversity</a:t>
            </a:r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Computational constraints limited broader hyperparameter exploration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584979-D44D-BC56-0736-0197CF1C9F98}"/>
              </a:ext>
            </a:extLst>
          </p:cNvPr>
          <p:cNvSpPr txBox="1"/>
          <p:nvPr/>
        </p:nvSpPr>
        <p:spPr>
          <a:xfrm>
            <a:off x="518317" y="3815231"/>
            <a:ext cx="11000791" cy="22872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Future Work:</a:t>
            </a:r>
          </a:p>
          <a:p>
            <a:pPr marL="285750" indent="-285750">
              <a:lnSpc>
                <a:spcPct val="11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Improve few-shot CIL adaptation: Investigate replay strategies specifically designed for highly data-constrained adaptation.</a:t>
            </a:r>
          </a:p>
          <a:p>
            <a:pPr marL="285750" indent="-285750">
              <a:lnSpc>
                <a:spcPct val="11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Adaptive replay strategies: Dynamic allocation of replay samples rather than using a fixed replay fraction</a:t>
            </a:r>
          </a:p>
          <a:p>
            <a:pPr marL="285750" indent="-285750">
              <a:lnSpc>
                <a:spcPct val="11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Larger and more diverse task sequences</a:t>
            </a:r>
          </a:p>
          <a:p>
            <a:pPr marL="285750" indent="-285750">
              <a:lnSpc>
                <a:spcPct val="11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Explore adaptive </a:t>
            </a:r>
            <a:r>
              <a:rPr lang="en-IN" sz="1600" dirty="0" err="1"/>
              <a:t>LoRA</a:t>
            </a:r>
            <a:r>
              <a:rPr lang="en-IN" sz="1600" dirty="0"/>
              <a:t> allocation, dynamic adapters, or mixture-of-</a:t>
            </a:r>
            <a:r>
              <a:rPr lang="en-IN" sz="1600" dirty="0" err="1"/>
              <a:t>LoRA</a:t>
            </a:r>
            <a:r>
              <a:rPr lang="en-IN" sz="1600" dirty="0"/>
              <a:t> approaches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37573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3AB0F57-C301-715F-316A-FD89C85D7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2B4CBF0-A108-6E33-2F28-9EEFFFCDF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7" y="301185"/>
            <a:ext cx="8093837" cy="332399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02D5D45-A7AF-6E57-2A90-1E45008AA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9E98-54A4-43F9-9249-7D6B5CD88EDB}" type="datetime4">
              <a:rPr lang="de-DE" smtClean="0"/>
              <a:pPr/>
              <a:t>17. Oktober 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1DDC6B73-095F-3197-5C0C-DD0D515F2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A12F599A-C715-10C4-1706-55596F2B3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25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7A95A1-53D7-E0BE-E1D7-50195A7D37B5}"/>
              </a:ext>
            </a:extLst>
          </p:cNvPr>
          <p:cNvSpPr txBox="1"/>
          <p:nvPr/>
        </p:nvSpPr>
        <p:spPr>
          <a:xfrm>
            <a:off x="518317" y="1539114"/>
            <a:ext cx="11377900" cy="23857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600" b="1" dirty="0"/>
              <a:t>Key Findings: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b="1" dirty="0"/>
              <a:t>TIL-</a:t>
            </a:r>
            <a:r>
              <a:rPr lang="en-IN" sz="1600" b="1" dirty="0" err="1"/>
              <a:t>LoRA</a:t>
            </a:r>
            <a:r>
              <a:rPr lang="en-IN" sz="1600" b="1" dirty="0"/>
              <a:t>:</a:t>
            </a:r>
            <a:r>
              <a:rPr lang="en-IN" sz="1600" dirty="0"/>
              <a:t> Strong adaptation and no forgetting, but requires task ID.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b="1" dirty="0"/>
              <a:t>CIL-</a:t>
            </a:r>
            <a:r>
              <a:rPr lang="en-IN" sz="1600" b="1" dirty="0" err="1"/>
              <a:t>LoRA</a:t>
            </a:r>
            <a:r>
              <a:rPr lang="en-IN" sz="1600" b="1" dirty="0"/>
              <a:t>:</a:t>
            </a:r>
            <a:r>
              <a:rPr lang="en-IN" sz="1600" dirty="0"/>
              <a:t> Task-ID independent, but suffers from severe interference and forgetting.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b="1" dirty="0"/>
              <a:t>CIL-</a:t>
            </a:r>
            <a:r>
              <a:rPr lang="en-IN" sz="1600" b="1" dirty="0" err="1"/>
              <a:t>LoRA</a:t>
            </a:r>
            <a:r>
              <a:rPr lang="en-IN" sz="1600" b="1" dirty="0"/>
              <a:t> + Replay:</a:t>
            </a:r>
            <a:r>
              <a:rPr lang="en-IN" sz="1600" dirty="0"/>
              <a:t> Best adaptation–retention trade-off in the full-data setting.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b="1" dirty="0"/>
              <a:t>Few-shot CIL:</a:t>
            </a:r>
            <a:r>
              <a:rPr lang="en-IN" sz="1600" dirty="0"/>
              <a:t> Replay improves retention but does not maintain strong adaptation performance.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D3EE86-6D24-8B6C-FABA-3D244D01473B}"/>
              </a:ext>
            </a:extLst>
          </p:cNvPr>
          <p:cNvSpPr txBox="1"/>
          <p:nvPr/>
        </p:nvSpPr>
        <p:spPr>
          <a:xfrm>
            <a:off x="534884" y="5008335"/>
            <a:ext cx="11046035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IN" sz="1600" dirty="0"/>
              <a:t>Parameter-efficient adaptation combined with replay is a promising approach for task-ID-independent continual adaptation of free-text </a:t>
            </a:r>
            <a:r>
              <a:rPr lang="en-IN" sz="1600" dirty="0" err="1"/>
              <a:t>promptable</a:t>
            </a:r>
            <a:r>
              <a:rPr lang="en-IN" sz="1600" dirty="0"/>
              <a:t> 3D medical segmentation models, but further work is required to achieve robust few-shot performance. &lt;Mention the </a:t>
            </a:r>
            <a:r>
              <a:rPr lang="en-IN" sz="1600"/>
              <a:t>further work&gt;</a:t>
            </a:r>
            <a:endParaRPr lang="en-IN" sz="1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6EEABD-8610-D1E5-3D10-E504499DBB95}"/>
              </a:ext>
            </a:extLst>
          </p:cNvPr>
          <p:cNvSpPr/>
          <p:nvPr/>
        </p:nvSpPr>
        <p:spPr>
          <a:xfrm>
            <a:off x="425554" y="4751671"/>
            <a:ext cx="11340892" cy="12105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60B39A-88CE-B7E8-CE67-73E06A37A35D}"/>
              </a:ext>
            </a:extLst>
          </p:cNvPr>
          <p:cNvSpPr/>
          <p:nvPr/>
        </p:nvSpPr>
        <p:spPr>
          <a:xfrm>
            <a:off x="729164" y="4420210"/>
            <a:ext cx="3768191" cy="518627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IN" sz="1600" b="1" noProof="0" dirty="0">
                <a:solidFill>
                  <a:schemeClr val="bg1"/>
                </a:solidFill>
                <a:latin typeface="Arial"/>
              </a:rPr>
              <a:t>Answer to Research Question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5871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76644-AE2E-5DC6-2ED8-F566F2449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F9DC18E-1185-2F5A-16CD-0677F16685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Bildplatzhalter 8" descr="Ein Bild, das Text, Geschirr enthält.&#10;&#10;Automatisch generierte Beschreibung">
            <a:extLst>
              <a:ext uri="{FF2B5EF4-FFF2-40B4-BE49-F238E27FC236}">
                <a16:creationId xmlns:a16="http://schemas.microsoft.com/office/drawing/2014/main" id="{1F9C7164-4ABF-88C5-64B6-A158485EBAF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75" b="11875"/>
          <a:stretch/>
        </p:blipFill>
        <p:spPr>
          <a:xfrm>
            <a:off x="0" y="1628775"/>
            <a:ext cx="12192000" cy="5229226"/>
          </a:xfrm>
        </p:spPr>
      </p:pic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CC1A202F-BAA2-2030-EC30-594B3EFA5C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2647985"/>
            <a:ext cx="11157745" cy="1562031"/>
          </a:xfrm>
        </p:spPr>
        <p:txBody>
          <a:bodyPr/>
          <a:lstStyle/>
          <a:p>
            <a:r>
              <a:rPr lang="de-DE" dirty="0"/>
              <a:t>Thank you</a:t>
            </a:r>
          </a:p>
          <a:p>
            <a:r>
              <a:rPr lang="de-DE" dirty="0"/>
              <a:t>For your Attention!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F39603-EF8D-27AE-5DAF-B736DE6FAAB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19119248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8EF60C-FD02-EE17-8458-11B821C91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FA7B5C00-BA04-7FC1-3960-A75A29E62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Baseline Performance: Sequential Fine-Tuning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E67749-6058-A057-6C96-22F13466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9E98-54A4-43F9-9249-7D6B5CD88EDB}" type="datetime4">
              <a:rPr lang="de-DE" smtClean="0"/>
              <a:pPr/>
              <a:t>17. Oktober 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7A1563CB-4737-939E-664E-1C39BF7EC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3B23132-34B1-20F4-9033-DCEA05021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27</a:t>
            </a:fld>
            <a:endParaRPr lang="de-DE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05EF2A88-1D11-14E7-03B3-ACF077AAB7F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332399"/>
          </a:xfrm>
        </p:spPr>
        <p:txBody>
          <a:bodyPr/>
          <a:lstStyle/>
          <a:p>
            <a:r>
              <a:rPr lang="en-IN" dirty="0"/>
              <a:t>Establishing the reference for continual learning evaluation</a:t>
            </a:r>
          </a:p>
          <a:p>
            <a:endParaRPr lang="en-IN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C2BF2849-1234-0CDA-3690-704D4DBABCA0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A310307-4B79-7116-F697-EEB2286ECA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832425"/>
              </p:ext>
            </p:extLst>
          </p:nvPr>
        </p:nvGraphicFramePr>
        <p:xfrm>
          <a:off x="518319" y="2243017"/>
          <a:ext cx="8595864" cy="3743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3211">
                  <a:extLst>
                    <a:ext uri="{9D8B030D-6E8A-4147-A177-3AD203B41FA5}">
                      <a16:colId xmlns:a16="http://schemas.microsoft.com/office/drawing/2014/main" val="234834347"/>
                    </a:ext>
                  </a:extLst>
                </a:gridCol>
                <a:gridCol w="1101124">
                  <a:extLst>
                    <a:ext uri="{9D8B030D-6E8A-4147-A177-3AD203B41FA5}">
                      <a16:colId xmlns:a16="http://schemas.microsoft.com/office/drawing/2014/main" val="2056590576"/>
                    </a:ext>
                  </a:extLst>
                </a:gridCol>
                <a:gridCol w="1310886">
                  <a:extLst>
                    <a:ext uri="{9D8B030D-6E8A-4147-A177-3AD203B41FA5}">
                      <a16:colId xmlns:a16="http://schemas.microsoft.com/office/drawing/2014/main" val="3330814310"/>
                    </a:ext>
                  </a:extLst>
                </a:gridCol>
                <a:gridCol w="1285073">
                  <a:extLst>
                    <a:ext uri="{9D8B030D-6E8A-4147-A177-3AD203B41FA5}">
                      <a16:colId xmlns:a16="http://schemas.microsoft.com/office/drawing/2014/main" val="2046389111"/>
                    </a:ext>
                  </a:extLst>
                </a:gridCol>
                <a:gridCol w="1147630">
                  <a:extLst>
                    <a:ext uri="{9D8B030D-6E8A-4147-A177-3AD203B41FA5}">
                      <a16:colId xmlns:a16="http://schemas.microsoft.com/office/drawing/2014/main" val="2787742289"/>
                    </a:ext>
                  </a:extLst>
                </a:gridCol>
                <a:gridCol w="1135797">
                  <a:extLst>
                    <a:ext uri="{9D8B030D-6E8A-4147-A177-3AD203B41FA5}">
                      <a16:colId xmlns:a16="http://schemas.microsoft.com/office/drawing/2014/main" val="2682989068"/>
                    </a:ext>
                  </a:extLst>
                </a:gridCol>
                <a:gridCol w="1172143">
                  <a:extLst>
                    <a:ext uri="{9D8B030D-6E8A-4147-A177-3AD203B41FA5}">
                      <a16:colId xmlns:a16="http://schemas.microsoft.com/office/drawing/2014/main" val="2717655805"/>
                    </a:ext>
                  </a:extLst>
                </a:gridCol>
              </a:tblGrid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Train </a:t>
                      </a: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  <a:sym typeface="Wingdings" panose="05000000000000000000" pitchFamily="2" charset="2"/>
                        </a:rPr>
                        <a:t>/ Test  </a:t>
                      </a: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Pretrained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Lateral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Femoral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Patellar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Medial Meniscus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0528004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Lateral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0.712</a:t>
                      </a:r>
                      <a:endParaRPr lang="en-IN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0.007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0.003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128910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0.803</a:t>
                      </a:r>
                      <a:endParaRPr lang="en-IN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0.004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0.008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438933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Femoral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0.684</a:t>
                      </a:r>
                      <a:endParaRPr lang="en-IN" sz="1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0.003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0.752</a:t>
                      </a:r>
                      <a:endParaRPr lang="en-IN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0.003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5246837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Patellar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0.003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0.993</a:t>
                      </a:r>
                      <a:endParaRPr lang="en-IN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0221321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Medial Meniscus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0.015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0.003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0.641</a:t>
                      </a:r>
                      <a:endParaRPr lang="en-IN" sz="1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047210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Aeropath</a:t>
                      </a: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(Retention)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0.979</a:t>
                      </a:r>
                      <a:endParaRPr lang="en-IN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0.006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0.217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339262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8FBA0162-628E-237F-890E-3B099BE259F5}"/>
              </a:ext>
            </a:extLst>
          </p:cNvPr>
          <p:cNvSpPr txBox="1"/>
          <p:nvPr/>
        </p:nvSpPr>
        <p:spPr>
          <a:xfrm>
            <a:off x="518319" y="1455069"/>
            <a:ext cx="82821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/>
              <a:t>Full-dataset baseline results: Dice coefficient heatmap matrix for sequential fine-tuning across trained (rows) and tested (columns) tasks.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286444-3927-D766-93F7-1AE05C04309E}"/>
              </a:ext>
            </a:extLst>
          </p:cNvPr>
          <p:cNvSpPr txBox="1"/>
          <p:nvPr/>
        </p:nvSpPr>
        <p:spPr>
          <a:xfrm>
            <a:off x="9417378" y="3008174"/>
            <a:ext cx="2554664" cy="1948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IN" sz="1600" dirty="0" err="1"/>
              <a:t>A</a:t>
            </a:r>
            <a:r>
              <a:rPr lang="en-IN" sz="1600" baseline="-25000" dirty="0" err="1"/>
              <a:t>Medial</a:t>
            </a:r>
            <a:r>
              <a:rPr lang="en-IN" sz="1600" baseline="-25000" dirty="0"/>
              <a:t> Meniscus</a:t>
            </a:r>
            <a:r>
              <a:rPr lang="en-IN" sz="1600" dirty="0">
                <a:solidFill>
                  <a:prstClr val="black"/>
                </a:solidFill>
              </a:rPr>
              <a:t> = 0.13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IN" sz="1600" dirty="0" err="1"/>
              <a:t>F</a:t>
            </a:r>
            <a:r>
              <a:rPr lang="en-IN" sz="1600" baseline="-25000" dirty="0" err="1"/>
              <a:t>Medial</a:t>
            </a:r>
            <a:r>
              <a:rPr lang="en-IN" sz="1600" baseline="-25000" dirty="0"/>
              <a:t> Meniscus</a:t>
            </a:r>
            <a:r>
              <a:rPr lang="en-IN" sz="1600" baseline="-25000" dirty="0">
                <a:solidFill>
                  <a:prstClr val="black"/>
                </a:solidFill>
              </a:rPr>
              <a:t> </a:t>
            </a:r>
            <a:r>
              <a:rPr lang="en-IN" sz="1600" dirty="0">
                <a:solidFill>
                  <a:prstClr val="black"/>
                </a:solidFill>
              </a:rPr>
              <a:t>= 0.812</a:t>
            </a:r>
            <a:endParaRPr lang="en-IN" sz="1600" dirty="0">
              <a:solidFill>
                <a:prstClr val="black"/>
              </a:solidFill>
              <a:latin typeface="Arial"/>
            </a:endParaRP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Avg. Transfer = 0.002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IN" sz="1600" dirty="0" err="1">
                <a:solidFill>
                  <a:prstClr val="black"/>
                </a:solidFill>
                <a:latin typeface="Arial"/>
              </a:rPr>
              <a:t>Avg</a:t>
            </a:r>
            <a:r>
              <a:rPr lang="en-IN" sz="1600" dirty="0">
                <a:solidFill>
                  <a:prstClr val="black"/>
                </a:solidFill>
                <a:latin typeface="Arial"/>
              </a:rPr>
              <a:t> Retention Drop = 0.934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lang="en-IN" sz="1600" dirty="0">
              <a:solidFill>
                <a:prstClr val="black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8021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8F2E350-CD27-2597-804C-5DE6EF16B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2E11606-0A97-0317-5DD1-A5E516A8F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Baseline Performance: Sequential Fine-Tuning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C0F012E-56AF-B3EA-1299-B6A58B96F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9E98-54A4-43F9-9249-7D6B5CD88EDB}" type="datetime4">
              <a:rPr lang="de-DE" smtClean="0"/>
              <a:pPr/>
              <a:t>17. Oktober 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E64969FF-C7F4-BC8B-83D3-EB242C6C4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3553A4D-B6A5-0034-B88B-8C3BF427B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28</a:t>
            </a:fld>
            <a:endParaRPr lang="de-DE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6C92DD7A-CE72-C91F-EE71-269D31E1940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332399"/>
          </a:xfrm>
        </p:spPr>
        <p:txBody>
          <a:bodyPr/>
          <a:lstStyle/>
          <a:p>
            <a:r>
              <a:rPr lang="en-IN" dirty="0"/>
              <a:t>Establishing the reference for continual learning evaluation</a:t>
            </a:r>
          </a:p>
          <a:p>
            <a:endParaRPr lang="en-IN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740477F6-AAE1-BF7A-6EBE-AC2B80E8474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DD29309-6A79-C5B0-4721-FFB118964E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3190489"/>
              </p:ext>
            </p:extLst>
          </p:nvPr>
        </p:nvGraphicFramePr>
        <p:xfrm>
          <a:off x="518319" y="2243017"/>
          <a:ext cx="8595864" cy="3743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3211">
                  <a:extLst>
                    <a:ext uri="{9D8B030D-6E8A-4147-A177-3AD203B41FA5}">
                      <a16:colId xmlns:a16="http://schemas.microsoft.com/office/drawing/2014/main" val="234834347"/>
                    </a:ext>
                  </a:extLst>
                </a:gridCol>
                <a:gridCol w="1101124">
                  <a:extLst>
                    <a:ext uri="{9D8B030D-6E8A-4147-A177-3AD203B41FA5}">
                      <a16:colId xmlns:a16="http://schemas.microsoft.com/office/drawing/2014/main" val="2056590576"/>
                    </a:ext>
                  </a:extLst>
                </a:gridCol>
                <a:gridCol w="1310886">
                  <a:extLst>
                    <a:ext uri="{9D8B030D-6E8A-4147-A177-3AD203B41FA5}">
                      <a16:colId xmlns:a16="http://schemas.microsoft.com/office/drawing/2014/main" val="3330814310"/>
                    </a:ext>
                  </a:extLst>
                </a:gridCol>
                <a:gridCol w="1285073">
                  <a:extLst>
                    <a:ext uri="{9D8B030D-6E8A-4147-A177-3AD203B41FA5}">
                      <a16:colId xmlns:a16="http://schemas.microsoft.com/office/drawing/2014/main" val="2046389111"/>
                    </a:ext>
                  </a:extLst>
                </a:gridCol>
                <a:gridCol w="1147630">
                  <a:extLst>
                    <a:ext uri="{9D8B030D-6E8A-4147-A177-3AD203B41FA5}">
                      <a16:colId xmlns:a16="http://schemas.microsoft.com/office/drawing/2014/main" val="2787742289"/>
                    </a:ext>
                  </a:extLst>
                </a:gridCol>
                <a:gridCol w="1135797">
                  <a:extLst>
                    <a:ext uri="{9D8B030D-6E8A-4147-A177-3AD203B41FA5}">
                      <a16:colId xmlns:a16="http://schemas.microsoft.com/office/drawing/2014/main" val="2682989068"/>
                    </a:ext>
                  </a:extLst>
                </a:gridCol>
                <a:gridCol w="1172143">
                  <a:extLst>
                    <a:ext uri="{9D8B030D-6E8A-4147-A177-3AD203B41FA5}">
                      <a16:colId xmlns:a16="http://schemas.microsoft.com/office/drawing/2014/main" val="2717655805"/>
                    </a:ext>
                  </a:extLst>
                </a:gridCol>
              </a:tblGrid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Train </a:t>
                      </a: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  <a:sym typeface="Wingdings" panose="05000000000000000000" pitchFamily="2" charset="2"/>
                        </a:rPr>
                        <a:t>/ Test  </a:t>
                      </a: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Pretrained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Medial Meniscus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Patellar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Femoral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Lateral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0528004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Medial Meniscus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0.814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128910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Patellar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0.998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438933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Femoral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0.684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0.707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5246837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0.670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0221321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Lateral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0.666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047210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Aeropath</a:t>
                      </a: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(Retention)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0.979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0.261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339262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F9EE3B2D-2B2C-E533-ED63-48B9289CCF5A}"/>
              </a:ext>
            </a:extLst>
          </p:cNvPr>
          <p:cNvSpPr txBox="1"/>
          <p:nvPr/>
        </p:nvSpPr>
        <p:spPr>
          <a:xfrm>
            <a:off x="518319" y="1455069"/>
            <a:ext cx="82821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/>
              <a:t>Full-dataset baseline results: Dice coefficient heatmap matrix for sequential fine-tuning across trained (rows) and tested (columns) tasks (Reversed)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041EE6-F12A-ECDA-5F39-6DBFBC7A9C0A}"/>
              </a:ext>
            </a:extLst>
          </p:cNvPr>
          <p:cNvSpPr txBox="1"/>
          <p:nvPr/>
        </p:nvSpPr>
        <p:spPr>
          <a:xfrm>
            <a:off x="9417378" y="3008174"/>
            <a:ext cx="2554664" cy="1948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IN" sz="1600" dirty="0" err="1"/>
              <a:t>A</a:t>
            </a:r>
            <a:r>
              <a:rPr lang="en-IN" sz="1600" baseline="-25000" dirty="0" err="1"/>
              <a:t>Medial</a:t>
            </a:r>
            <a:r>
              <a:rPr lang="en-IN" sz="1600" baseline="-25000" dirty="0"/>
              <a:t> Meniscus</a:t>
            </a:r>
            <a:r>
              <a:rPr lang="en-IN" sz="1600" dirty="0">
                <a:solidFill>
                  <a:prstClr val="black"/>
                </a:solidFill>
              </a:rPr>
              <a:t> = 0.135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IN" sz="1600" dirty="0" err="1"/>
              <a:t>F</a:t>
            </a:r>
            <a:r>
              <a:rPr lang="en-IN" sz="1600" baseline="-25000" dirty="0" err="1"/>
              <a:t>Medial</a:t>
            </a:r>
            <a:r>
              <a:rPr lang="en-IN" sz="1600" baseline="-25000" dirty="0"/>
              <a:t> Meniscus</a:t>
            </a:r>
            <a:r>
              <a:rPr lang="en-IN" sz="1600" baseline="-25000" dirty="0">
                <a:solidFill>
                  <a:prstClr val="black"/>
                </a:solidFill>
              </a:rPr>
              <a:t> </a:t>
            </a:r>
            <a:r>
              <a:rPr lang="en-IN" sz="1600" dirty="0">
                <a:solidFill>
                  <a:prstClr val="black"/>
                </a:solidFill>
              </a:rPr>
              <a:t>= 0.794</a:t>
            </a:r>
            <a:endParaRPr lang="en-IN" sz="1600" dirty="0">
              <a:solidFill>
                <a:prstClr val="black"/>
              </a:solidFill>
              <a:latin typeface="Arial"/>
            </a:endParaRP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Avg. Transfer = 0.002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IN" sz="1600" dirty="0" err="1">
                <a:solidFill>
                  <a:prstClr val="black"/>
                </a:solidFill>
                <a:latin typeface="Arial"/>
              </a:rPr>
              <a:t>Avg</a:t>
            </a:r>
            <a:r>
              <a:rPr lang="en-IN" sz="1600" dirty="0">
                <a:solidFill>
                  <a:prstClr val="black"/>
                </a:solidFill>
                <a:latin typeface="Arial"/>
              </a:rPr>
              <a:t> Retention Drop = 0.927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lang="en-IN" sz="1600" dirty="0">
              <a:solidFill>
                <a:prstClr val="black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99755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43E60B4-4665-CDE8-855B-E56602926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3A6C5D6-53A7-3098-9345-E3A37DC60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7183381" cy="332399"/>
          </a:xfrm>
        </p:spPr>
        <p:txBody>
          <a:bodyPr/>
          <a:lstStyle/>
          <a:p>
            <a:r>
              <a:rPr lang="en-IN" dirty="0"/>
              <a:t>Task Incremental </a:t>
            </a:r>
            <a:r>
              <a:rPr lang="en-IN" dirty="0" err="1"/>
              <a:t>LoRA</a:t>
            </a:r>
            <a:r>
              <a:rPr lang="en-IN" dirty="0"/>
              <a:t> CL Performance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A58735B1-5D0F-F356-4BF2-218D41296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9E98-54A4-43F9-9249-7D6B5CD88EDB}" type="datetime4">
              <a:rPr lang="de-DE" smtClean="0"/>
              <a:pPr/>
              <a:t>17. Oktober 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2C3CA3C-1584-4926-FCD7-DFF6E380D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A3526CB0-6355-3060-2CB7-F55D93C6B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29</a:t>
            </a:fld>
            <a:endParaRPr lang="de-DE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902092C6-FF49-3C5E-CA2F-2AC97D98DA9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/>
          <a:lstStyle/>
          <a:p>
            <a:r>
              <a:rPr lang="en-US" dirty="0"/>
              <a:t>Evaluation matrix and results for Task-specific </a:t>
            </a:r>
            <a:r>
              <a:rPr lang="en-US" dirty="0" err="1"/>
              <a:t>LoRA</a:t>
            </a:r>
            <a:r>
              <a:rPr lang="en-US" dirty="0"/>
              <a:t> for </a:t>
            </a:r>
            <a:r>
              <a:rPr lang="en-US" dirty="0" err="1"/>
              <a:t>Voxtell</a:t>
            </a:r>
            <a:endParaRPr lang="en-IN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87FAC45D-1D01-8E08-BC33-2A6823C65F1E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A17B1B0-911F-DE04-1872-BE1BCEC9E7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614117"/>
              </p:ext>
            </p:extLst>
          </p:nvPr>
        </p:nvGraphicFramePr>
        <p:xfrm>
          <a:off x="518319" y="2243017"/>
          <a:ext cx="8595864" cy="3743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3211">
                  <a:extLst>
                    <a:ext uri="{9D8B030D-6E8A-4147-A177-3AD203B41FA5}">
                      <a16:colId xmlns:a16="http://schemas.microsoft.com/office/drawing/2014/main" val="234834347"/>
                    </a:ext>
                  </a:extLst>
                </a:gridCol>
                <a:gridCol w="1101124">
                  <a:extLst>
                    <a:ext uri="{9D8B030D-6E8A-4147-A177-3AD203B41FA5}">
                      <a16:colId xmlns:a16="http://schemas.microsoft.com/office/drawing/2014/main" val="2056590576"/>
                    </a:ext>
                  </a:extLst>
                </a:gridCol>
                <a:gridCol w="1310886">
                  <a:extLst>
                    <a:ext uri="{9D8B030D-6E8A-4147-A177-3AD203B41FA5}">
                      <a16:colId xmlns:a16="http://schemas.microsoft.com/office/drawing/2014/main" val="3330814310"/>
                    </a:ext>
                  </a:extLst>
                </a:gridCol>
                <a:gridCol w="1285073">
                  <a:extLst>
                    <a:ext uri="{9D8B030D-6E8A-4147-A177-3AD203B41FA5}">
                      <a16:colId xmlns:a16="http://schemas.microsoft.com/office/drawing/2014/main" val="2046389111"/>
                    </a:ext>
                  </a:extLst>
                </a:gridCol>
                <a:gridCol w="1147630">
                  <a:extLst>
                    <a:ext uri="{9D8B030D-6E8A-4147-A177-3AD203B41FA5}">
                      <a16:colId xmlns:a16="http://schemas.microsoft.com/office/drawing/2014/main" val="2787742289"/>
                    </a:ext>
                  </a:extLst>
                </a:gridCol>
                <a:gridCol w="1135797">
                  <a:extLst>
                    <a:ext uri="{9D8B030D-6E8A-4147-A177-3AD203B41FA5}">
                      <a16:colId xmlns:a16="http://schemas.microsoft.com/office/drawing/2014/main" val="2682989068"/>
                    </a:ext>
                  </a:extLst>
                </a:gridCol>
                <a:gridCol w="1172143">
                  <a:extLst>
                    <a:ext uri="{9D8B030D-6E8A-4147-A177-3AD203B41FA5}">
                      <a16:colId xmlns:a16="http://schemas.microsoft.com/office/drawing/2014/main" val="2717655805"/>
                    </a:ext>
                  </a:extLst>
                </a:gridCol>
              </a:tblGrid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Train </a:t>
                      </a: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  <a:sym typeface="Wingdings" panose="05000000000000000000" pitchFamily="2" charset="2"/>
                        </a:rPr>
                        <a:t>/ Test  </a:t>
                      </a: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Pretrained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Lateral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Femoral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Patellar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Medial Meniscus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0528004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Lateral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0.523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0.090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128910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0.261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0.516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0.093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438933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Femoral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0.684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0.598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0.488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0.748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0.619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246837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Patellar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0.980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0221321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Medial Meniscus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0.029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0.077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0.526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047210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Aeropath</a:t>
                      </a: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(Retention)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0.979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0.925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0.899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0.980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0.229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0.915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39262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091ECC0A-5DE8-7484-F541-6A602D792037}"/>
              </a:ext>
            </a:extLst>
          </p:cNvPr>
          <p:cNvSpPr txBox="1"/>
          <p:nvPr/>
        </p:nvSpPr>
        <p:spPr>
          <a:xfrm>
            <a:off x="518319" y="1455069"/>
            <a:ext cx="82821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/>
              <a:t>Dice coefficient heatmap matrix for Task Specific </a:t>
            </a:r>
            <a:r>
              <a:rPr lang="en-IN" sz="1600" dirty="0" err="1"/>
              <a:t>LoRA</a:t>
            </a:r>
            <a:r>
              <a:rPr lang="en-IN" sz="1600" dirty="0"/>
              <a:t> (rank=8) CL across trained (rows) and tested (columns) tasks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2683C8-A038-1547-8E47-E188A0888D48}"/>
              </a:ext>
            </a:extLst>
          </p:cNvPr>
          <p:cNvSpPr txBox="1"/>
          <p:nvPr/>
        </p:nvSpPr>
        <p:spPr>
          <a:xfrm>
            <a:off x="9417378" y="3008174"/>
            <a:ext cx="2554664" cy="1948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IN" sz="1600" dirty="0" err="1"/>
              <a:t>A</a:t>
            </a:r>
            <a:r>
              <a:rPr lang="en-IN" sz="1600" baseline="-25000" dirty="0" err="1"/>
              <a:t>Medial</a:t>
            </a:r>
            <a:r>
              <a:rPr lang="en-IN" sz="1600" baseline="-25000" dirty="0"/>
              <a:t> Meniscus</a:t>
            </a:r>
            <a:r>
              <a:rPr lang="en-IN" sz="1600" dirty="0">
                <a:solidFill>
                  <a:prstClr val="black"/>
                </a:solidFill>
              </a:rPr>
              <a:t> = 0.248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IN" sz="1600" dirty="0" err="1"/>
              <a:t>F</a:t>
            </a:r>
            <a:r>
              <a:rPr lang="en-IN" sz="1600" baseline="-25000" dirty="0" err="1"/>
              <a:t>Medial</a:t>
            </a:r>
            <a:r>
              <a:rPr lang="en-IN" sz="1600" baseline="-25000" dirty="0"/>
              <a:t> Meniscus</a:t>
            </a:r>
            <a:r>
              <a:rPr lang="en-IN" sz="1600" baseline="-25000" dirty="0">
                <a:solidFill>
                  <a:prstClr val="black"/>
                </a:solidFill>
              </a:rPr>
              <a:t> </a:t>
            </a:r>
            <a:r>
              <a:rPr lang="en-IN" sz="1600" dirty="0">
                <a:solidFill>
                  <a:prstClr val="black"/>
                </a:solidFill>
              </a:rPr>
              <a:t>= 0.513</a:t>
            </a:r>
            <a:endParaRPr lang="en-IN" sz="1600" dirty="0">
              <a:solidFill>
                <a:prstClr val="black"/>
              </a:solidFill>
              <a:latin typeface="Arial"/>
            </a:endParaRP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Avg. Transfer = 0.208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IN" sz="1600" dirty="0" err="1">
                <a:solidFill>
                  <a:prstClr val="black"/>
                </a:solidFill>
                <a:latin typeface="Arial"/>
              </a:rPr>
              <a:t>Avg</a:t>
            </a:r>
            <a:r>
              <a:rPr lang="en-IN" sz="1600" dirty="0">
                <a:solidFill>
                  <a:prstClr val="black"/>
                </a:solidFill>
                <a:latin typeface="Arial"/>
              </a:rPr>
              <a:t> Retention Drop = 0.190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lang="en-IN" sz="1600" dirty="0">
              <a:solidFill>
                <a:prstClr val="black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05650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2AAEB7B-C4DA-916D-4FEC-87E502B07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2459A2C-F390-4CFB-5C80-E7C92FF43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7183381" cy="332399"/>
          </a:xfrm>
        </p:spPr>
        <p:txBody>
          <a:bodyPr/>
          <a:lstStyle/>
          <a:p>
            <a:r>
              <a:rPr lang="en-IN" dirty="0"/>
              <a:t>Task Incremental </a:t>
            </a:r>
            <a:r>
              <a:rPr lang="en-IN" dirty="0" err="1"/>
              <a:t>LoRA</a:t>
            </a:r>
            <a:r>
              <a:rPr lang="en-IN" dirty="0"/>
              <a:t> CL Performance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78E2275B-9626-8199-5846-7211AF217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9E98-54A4-43F9-9249-7D6B5CD88EDB}" type="datetime4">
              <a:rPr lang="de-DE" smtClean="0"/>
              <a:pPr/>
              <a:t>17. Oktober 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4A21D4E1-A361-EDEB-D076-D1D842171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CBB9B3B3-D29C-17AA-DE9D-39B2CDBB4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30</a:t>
            </a:fld>
            <a:endParaRPr lang="de-DE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1F72AD0-90F5-F6FD-F8BA-B9E1B44CE41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/>
          <a:lstStyle/>
          <a:p>
            <a:r>
              <a:rPr lang="en-US" dirty="0"/>
              <a:t>Evaluation matrix and results for Task-specific </a:t>
            </a:r>
            <a:r>
              <a:rPr lang="en-US" dirty="0" err="1"/>
              <a:t>LoRA</a:t>
            </a:r>
            <a:r>
              <a:rPr lang="en-US" dirty="0"/>
              <a:t> for </a:t>
            </a:r>
            <a:r>
              <a:rPr lang="en-US" dirty="0" err="1"/>
              <a:t>Voxtell</a:t>
            </a:r>
            <a:endParaRPr lang="en-IN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1F1C6C5D-B9BA-F024-E233-16A3D19402A0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91AB535-918E-7577-2E4A-7B63795353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604962"/>
              </p:ext>
            </p:extLst>
          </p:nvPr>
        </p:nvGraphicFramePr>
        <p:xfrm>
          <a:off x="518319" y="2243017"/>
          <a:ext cx="8595864" cy="3743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3211">
                  <a:extLst>
                    <a:ext uri="{9D8B030D-6E8A-4147-A177-3AD203B41FA5}">
                      <a16:colId xmlns:a16="http://schemas.microsoft.com/office/drawing/2014/main" val="234834347"/>
                    </a:ext>
                  </a:extLst>
                </a:gridCol>
                <a:gridCol w="1101124">
                  <a:extLst>
                    <a:ext uri="{9D8B030D-6E8A-4147-A177-3AD203B41FA5}">
                      <a16:colId xmlns:a16="http://schemas.microsoft.com/office/drawing/2014/main" val="2056590576"/>
                    </a:ext>
                  </a:extLst>
                </a:gridCol>
                <a:gridCol w="1310886">
                  <a:extLst>
                    <a:ext uri="{9D8B030D-6E8A-4147-A177-3AD203B41FA5}">
                      <a16:colId xmlns:a16="http://schemas.microsoft.com/office/drawing/2014/main" val="3330814310"/>
                    </a:ext>
                  </a:extLst>
                </a:gridCol>
                <a:gridCol w="1285073">
                  <a:extLst>
                    <a:ext uri="{9D8B030D-6E8A-4147-A177-3AD203B41FA5}">
                      <a16:colId xmlns:a16="http://schemas.microsoft.com/office/drawing/2014/main" val="2046389111"/>
                    </a:ext>
                  </a:extLst>
                </a:gridCol>
                <a:gridCol w="1147630">
                  <a:extLst>
                    <a:ext uri="{9D8B030D-6E8A-4147-A177-3AD203B41FA5}">
                      <a16:colId xmlns:a16="http://schemas.microsoft.com/office/drawing/2014/main" val="2787742289"/>
                    </a:ext>
                  </a:extLst>
                </a:gridCol>
                <a:gridCol w="1135797">
                  <a:extLst>
                    <a:ext uri="{9D8B030D-6E8A-4147-A177-3AD203B41FA5}">
                      <a16:colId xmlns:a16="http://schemas.microsoft.com/office/drawing/2014/main" val="2682989068"/>
                    </a:ext>
                  </a:extLst>
                </a:gridCol>
                <a:gridCol w="1172143">
                  <a:extLst>
                    <a:ext uri="{9D8B030D-6E8A-4147-A177-3AD203B41FA5}">
                      <a16:colId xmlns:a16="http://schemas.microsoft.com/office/drawing/2014/main" val="2717655805"/>
                    </a:ext>
                  </a:extLst>
                </a:gridCol>
              </a:tblGrid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Train </a:t>
                      </a: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  <a:sym typeface="Wingdings" panose="05000000000000000000" pitchFamily="2" charset="2"/>
                        </a:rPr>
                        <a:t>/ Test  </a:t>
                      </a: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Pretrained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Lateral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Femoral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Patellar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Medial Meniscus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0528004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Lateral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0.024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0.020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128910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0.024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0.198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0.077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438933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Femoral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0.684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0.696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0.683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0.714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0.687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246837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Patellar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0.987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0221321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Medial Meniscus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0.024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0.198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047210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Aeropath</a:t>
                      </a: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(Retention)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0.979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0.979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0.979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0.981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0.220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0.976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39262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97686960-B85D-5373-1A62-BA2F07042044}"/>
              </a:ext>
            </a:extLst>
          </p:cNvPr>
          <p:cNvSpPr txBox="1"/>
          <p:nvPr/>
        </p:nvSpPr>
        <p:spPr>
          <a:xfrm>
            <a:off x="518319" y="1455069"/>
            <a:ext cx="82821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/>
              <a:t>Dice coefficient heatmap matrix for Task Specific </a:t>
            </a:r>
            <a:r>
              <a:rPr lang="en-IN" sz="1600" dirty="0" err="1"/>
              <a:t>LoRA</a:t>
            </a:r>
            <a:r>
              <a:rPr lang="en-IN" sz="1600" dirty="0"/>
              <a:t> (rank=128) CL across trained (rows) and tested (columns) tasks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8E4CF5-428D-8206-B265-09EC5CE8725B}"/>
              </a:ext>
            </a:extLst>
          </p:cNvPr>
          <p:cNvSpPr txBox="1"/>
          <p:nvPr/>
        </p:nvSpPr>
        <p:spPr>
          <a:xfrm>
            <a:off x="9417378" y="3008174"/>
            <a:ext cx="2554664" cy="1948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IN" sz="1600" dirty="0" err="1"/>
              <a:t>A</a:t>
            </a:r>
            <a:r>
              <a:rPr lang="en-IN" sz="1600" baseline="-25000" dirty="0" err="1"/>
              <a:t>Medial</a:t>
            </a:r>
            <a:r>
              <a:rPr lang="en-IN" sz="1600" baseline="-25000" dirty="0"/>
              <a:t> Meniscus</a:t>
            </a:r>
            <a:r>
              <a:rPr lang="en-IN" sz="1600" dirty="0">
                <a:solidFill>
                  <a:prstClr val="black"/>
                </a:solidFill>
              </a:rPr>
              <a:t> = 0.195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IN" sz="1600" dirty="0" err="1"/>
              <a:t>F</a:t>
            </a:r>
            <a:r>
              <a:rPr lang="en-IN" sz="1600" baseline="-25000" dirty="0" err="1"/>
              <a:t>Medial</a:t>
            </a:r>
            <a:r>
              <a:rPr lang="en-IN" sz="1600" baseline="-25000" dirty="0"/>
              <a:t> Meniscus</a:t>
            </a:r>
            <a:r>
              <a:rPr lang="en-IN" sz="1600" baseline="-25000" dirty="0">
                <a:solidFill>
                  <a:prstClr val="black"/>
                </a:solidFill>
              </a:rPr>
              <a:t> </a:t>
            </a:r>
            <a:r>
              <a:rPr lang="en-IN" sz="1600" dirty="0">
                <a:solidFill>
                  <a:prstClr val="black"/>
                </a:solidFill>
              </a:rPr>
              <a:t>= 0.286</a:t>
            </a:r>
            <a:endParaRPr lang="en-IN" sz="1600" dirty="0">
              <a:solidFill>
                <a:prstClr val="black"/>
              </a:solidFill>
              <a:latin typeface="Arial"/>
            </a:endParaRP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Avg. Transfer = 0.180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IN" sz="1600" dirty="0" err="1">
                <a:solidFill>
                  <a:prstClr val="black"/>
                </a:solidFill>
                <a:latin typeface="Arial"/>
              </a:rPr>
              <a:t>Avg</a:t>
            </a:r>
            <a:r>
              <a:rPr lang="en-IN" sz="1600" dirty="0">
                <a:solidFill>
                  <a:prstClr val="black"/>
                </a:solidFill>
                <a:latin typeface="Arial"/>
              </a:rPr>
              <a:t> Retention Drop = 0.152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lang="en-IN" sz="1600" dirty="0">
              <a:solidFill>
                <a:prstClr val="black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900183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B2F44C7-0CC0-1C4B-D02A-C78C217B0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88E7EC3-F48E-32DB-6F36-8BF519D6D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7183381" cy="332399"/>
          </a:xfrm>
        </p:spPr>
        <p:txBody>
          <a:bodyPr/>
          <a:lstStyle/>
          <a:p>
            <a:r>
              <a:rPr lang="en-IN" dirty="0"/>
              <a:t>Task Incremental </a:t>
            </a:r>
            <a:r>
              <a:rPr lang="en-IN" dirty="0" err="1"/>
              <a:t>LoRA</a:t>
            </a:r>
            <a:r>
              <a:rPr lang="en-IN" dirty="0"/>
              <a:t> CL Performance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7C76AF6-4DFA-089B-78A0-9D6BEAF57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9E98-54A4-43F9-9249-7D6B5CD88EDB}" type="datetime4">
              <a:rPr lang="de-DE" smtClean="0"/>
              <a:pPr/>
              <a:t>17. Oktober 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E2EAC0-339B-654D-2907-6CF1E5AB3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59B17ACE-BEA7-B1CD-5FCE-3643602FB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31</a:t>
            </a:fld>
            <a:endParaRPr lang="de-DE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B36C7E8-DD47-7800-D650-1086D8FCB73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/>
          <a:lstStyle/>
          <a:p>
            <a:r>
              <a:rPr lang="en-US" dirty="0"/>
              <a:t>Evaluation matrix and results for Task-specific </a:t>
            </a:r>
            <a:r>
              <a:rPr lang="en-US" dirty="0" err="1"/>
              <a:t>LoRA</a:t>
            </a:r>
            <a:r>
              <a:rPr lang="en-US" dirty="0"/>
              <a:t> for </a:t>
            </a:r>
            <a:r>
              <a:rPr lang="en-US" dirty="0" err="1"/>
              <a:t>Voxtell</a:t>
            </a:r>
            <a:endParaRPr lang="en-IN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3A7B0B03-A605-B50A-91F4-13495CBD854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8B88A8E-E632-530B-35B2-D8A720E63D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279552"/>
              </p:ext>
            </p:extLst>
          </p:nvPr>
        </p:nvGraphicFramePr>
        <p:xfrm>
          <a:off x="518319" y="2243017"/>
          <a:ext cx="8595864" cy="3743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3211">
                  <a:extLst>
                    <a:ext uri="{9D8B030D-6E8A-4147-A177-3AD203B41FA5}">
                      <a16:colId xmlns:a16="http://schemas.microsoft.com/office/drawing/2014/main" val="234834347"/>
                    </a:ext>
                  </a:extLst>
                </a:gridCol>
                <a:gridCol w="1101124">
                  <a:extLst>
                    <a:ext uri="{9D8B030D-6E8A-4147-A177-3AD203B41FA5}">
                      <a16:colId xmlns:a16="http://schemas.microsoft.com/office/drawing/2014/main" val="2056590576"/>
                    </a:ext>
                  </a:extLst>
                </a:gridCol>
                <a:gridCol w="1310886">
                  <a:extLst>
                    <a:ext uri="{9D8B030D-6E8A-4147-A177-3AD203B41FA5}">
                      <a16:colId xmlns:a16="http://schemas.microsoft.com/office/drawing/2014/main" val="3330814310"/>
                    </a:ext>
                  </a:extLst>
                </a:gridCol>
                <a:gridCol w="1285073">
                  <a:extLst>
                    <a:ext uri="{9D8B030D-6E8A-4147-A177-3AD203B41FA5}">
                      <a16:colId xmlns:a16="http://schemas.microsoft.com/office/drawing/2014/main" val="2046389111"/>
                    </a:ext>
                  </a:extLst>
                </a:gridCol>
                <a:gridCol w="1147630">
                  <a:extLst>
                    <a:ext uri="{9D8B030D-6E8A-4147-A177-3AD203B41FA5}">
                      <a16:colId xmlns:a16="http://schemas.microsoft.com/office/drawing/2014/main" val="2787742289"/>
                    </a:ext>
                  </a:extLst>
                </a:gridCol>
                <a:gridCol w="1135797">
                  <a:extLst>
                    <a:ext uri="{9D8B030D-6E8A-4147-A177-3AD203B41FA5}">
                      <a16:colId xmlns:a16="http://schemas.microsoft.com/office/drawing/2014/main" val="2682989068"/>
                    </a:ext>
                  </a:extLst>
                </a:gridCol>
                <a:gridCol w="1172143">
                  <a:extLst>
                    <a:ext uri="{9D8B030D-6E8A-4147-A177-3AD203B41FA5}">
                      <a16:colId xmlns:a16="http://schemas.microsoft.com/office/drawing/2014/main" val="2717655805"/>
                    </a:ext>
                  </a:extLst>
                </a:gridCol>
              </a:tblGrid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Train </a:t>
                      </a: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  <a:sym typeface="Wingdings" panose="05000000000000000000" pitchFamily="2" charset="2"/>
                        </a:rPr>
                        <a:t>/ Test  </a:t>
                      </a: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Pretrained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Medial Meniscus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Patellar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Femoral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Lateral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0528004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Medial Meniscus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0.512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0.077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0.029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128910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Patellar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0.980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438933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Femoral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0.684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0.644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3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0.748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0.488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0.490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246837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0.105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0.516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0.241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221321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Lateral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0.090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0.599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047210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Aeropath</a:t>
                      </a: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(Retention)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0.979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0.960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0.229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0.980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0.899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0.943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39262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84F16942-2BD2-FB69-55F8-03D0A5F0F896}"/>
              </a:ext>
            </a:extLst>
          </p:cNvPr>
          <p:cNvSpPr txBox="1"/>
          <p:nvPr/>
        </p:nvSpPr>
        <p:spPr>
          <a:xfrm>
            <a:off x="518319" y="1455069"/>
            <a:ext cx="82821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/>
              <a:t>Dice coefficient heatmap matrix for Task Specific </a:t>
            </a:r>
            <a:r>
              <a:rPr lang="en-IN" sz="1600" dirty="0" err="1"/>
              <a:t>LoRA</a:t>
            </a:r>
            <a:r>
              <a:rPr lang="en-IN" sz="1600" dirty="0"/>
              <a:t> CL across trained (rows) and tested (columns) tasks (Reversed)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BDA0C7-5A45-30AD-D1BA-00D600AD5F92}"/>
              </a:ext>
            </a:extLst>
          </p:cNvPr>
          <p:cNvSpPr txBox="1"/>
          <p:nvPr/>
        </p:nvSpPr>
        <p:spPr>
          <a:xfrm>
            <a:off x="9417378" y="3008174"/>
            <a:ext cx="2554664" cy="1948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IN" sz="1600" dirty="0" err="1"/>
              <a:t>A</a:t>
            </a:r>
            <a:r>
              <a:rPr lang="en-IN" sz="1600" baseline="-25000" dirty="0" err="1"/>
              <a:t>Medial</a:t>
            </a:r>
            <a:r>
              <a:rPr lang="en-IN" sz="1600" baseline="-25000" dirty="0"/>
              <a:t> Meniscus</a:t>
            </a:r>
            <a:r>
              <a:rPr lang="en-IN" sz="1600" dirty="0">
                <a:solidFill>
                  <a:prstClr val="black"/>
                </a:solidFill>
              </a:rPr>
              <a:t> = 0.271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IN" sz="1600" dirty="0" err="1"/>
              <a:t>F</a:t>
            </a:r>
            <a:r>
              <a:rPr lang="en-IN" sz="1600" baseline="-25000" dirty="0" err="1"/>
              <a:t>Medial</a:t>
            </a:r>
            <a:r>
              <a:rPr lang="en-IN" sz="1600" baseline="-25000" dirty="0"/>
              <a:t> Meniscus</a:t>
            </a:r>
            <a:r>
              <a:rPr lang="en-IN" sz="1600" baseline="-25000" dirty="0">
                <a:solidFill>
                  <a:prstClr val="black"/>
                </a:solidFill>
              </a:rPr>
              <a:t> </a:t>
            </a:r>
            <a:r>
              <a:rPr lang="en-IN" sz="1600" dirty="0">
                <a:solidFill>
                  <a:prstClr val="black"/>
                </a:solidFill>
              </a:rPr>
              <a:t>= 0.499</a:t>
            </a:r>
            <a:endParaRPr lang="en-IN" sz="1600" dirty="0">
              <a:solidFill>
                <a:prstClr val="black"/>
              </a:solidFill>
              <a:latin typeface="Arial"/>
            </a:endParaRP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Avg. Transfer = 0.096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IN" sz="1600" dirty="0" err="1">
                <a:solidFill>
                  <a:prstClr val="black"/>
                </a:solidFill>
                <a:latin typeface="Arial"/>
              </a:rPr>
              <a:t>Avg</a:t>
            </a:r>
            <a:r>
              <a:rPr lang="en-IN" sz="1600" dirty="0">
                <a:solidFill>
                  <a:prstClr val="black"/>
                </a:solidFill>
                <a:latin typeface="Arial"/>
              </a:rPr>
              <a:t> Retention Drop = 0.177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lang="en-IN" sz="1600" dirty="0">
              <a:solidFill>
                <a:prstClr val="black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027097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4F17455-E986-9DF6-D4F8-D54D390BA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C701B82-2ED0-39E2-FA1A-AC361BB9B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7054057" cy="332399"/>
          </a:xfrm>
        </p:spPr>
        <p:txBody>
          <a:bodyPr/>
          <a:lstStyle/>
          <a:p>
            <a:r>
              <a:rPr lang="en-IN" dirty="0"/>
              <a:t>Class Incremental Shared </a:t>
            </a:r>
            <a:r>
              <a:rPr lang="en-IN" dirty="0" err="1"/>
              <a:t>LoRA</a:t>
            </a:r>
            <a:r>
              <a:rPr lang="en-IN" dirty="0"/>
              <a:t> CL Performance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C99EA7E9-CF52-AF2F-65F0-964A1BC92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9E98-54A4-43F9-9249-7D6B5CD88EDB}" type="datetime4">
              <a:rPr lang="de-DE" smtClean="0"/>
              <a:pPr/>
              <a:t>17. Oktober 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4D663817-E942-DB5C-D4BD-7C3C718F9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AD765D7-FAA7-7C3F-BA57-1ECCE66C9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32</a:t>
            </a:fld>
            <a:endParaRPr lang="de-DE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9A7A493-837F-D781-0911-9CB7F580F67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332399"/>
          </a:xfrm>
        </p:spPr>
        <p:txBody>
          <a:bodyPr/>
          <a:lstStyle/>
          <a:p>
            <a:r>
              <a:rPr lang="en-US" dirty="0"/>
              <a:t>Evaluation matrix and results for Task-specific </a:t>
            </a:r>
            <a:r>
              <a:rPr lang="en-US" dirty="0" err="1"/>
              <a:t>LoRA</a:t>
            </a:r>
            <a:r>
              <a:rPr lang="en-US" dirty="0"/>
              <a:t> for </a:t>
            </a:r>
            <a:r>
              <a:rPr lang="en-US" dirty="0" err="1"/>
              <a:t>Voxtell</a:t>
            </a:r>
            <a:endParaRPr lang="en-IN" dirty="0"/>
          </a:p>
          <a:p>
            <a:endParaRPr lang="en-IN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F8FE1D04-2893-F0F2-A026-1FBDB332B506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C84AF26-6214-2FBD-AF70-78662E6586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1016970"/>
              </p:ext>
            </p:extLst>
          </p:nvPr>
        </p:nvGraphicFramePr>
        <p:xfrm>
          <a:off x="518319" y="2243017"/>
          <a:ext cx="8595864" cy="3743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3211">
                  <a:extLst>
                    <a:ext uri="{9D8B030D-6E8A-4147-A177-3AD203B41FA5}">
                      <a16:colId xmlns:a16="http://schemas.microsoft.com/office/drawing/2014/main" val="234834347"/>
                    </a:ext>
                  </a:extLst>
                </a:gridCol>
                <a:gridCol w="1101124">
                  <a:extLst>
                    <a:ext uri="{9D8B030D-6E8A-4147-A177-3AD203B41FA5}">
                      <a16:colId xmlns:a16="http://schemas.microsoft.com/office/drawing/2014/main" val="2056590576"/>
                    </a:ext>
                  </a:extLst>
                </a:gridCol>
                <a:gridCol w="1310886">
                  <a:extLst>
                    <a:ext uri="{9D8B030D-6E8A-4147-A177-3AD203B41FA5}">
                      <a16:colId xmlns:a16="http://schemas.microsoft.com/office/drawing/2014/main" val="3330814310"/>
                    </a:ext>
                  </a:extLst>
                </a:gridCol>
                <a:gridCol w="1285073">
                  <a:extLst>
                    <a:ext uri="{9D8B030D-6E8A-4147-A177-3AD203B41FA5}">
                      <a16:colId xmlns:a16="http://schemas.microsoft.com/office/drawing/2014/main" val="2046389111"/>
                    </a:ext>
                  </a:extLst>
                </a:gridCol>
                <a:gridCol w="1147630">
                  <a:extLst>
                    <a:ext uri="{9D8B030D-6E8A-4147-A177-3AD203B41FA5}">
                      <a16:colId xmlns:a16="http://schemas.microsoft.com/office/drawing/2014/main" val="2787742289"/>
                    </a:ext>
                  </a:extLst>
                </a:gridCol>
                <a:gridCol w="1135797">
                  <a:extLst>
                    <a:ext uri="{9D8B030D-6E8A-4147-A177-3AD203B41FA5}">
                      <a16:colId xmlns:a16="http://schemas.microsoft.com/office/drawing/2014/main" val="2682989068"/>
                    </a:ext>
                  </a:extLst>
                </a:gridCol>
                <a:gridCol w="1172143">
                  <a:extLst>
                    <a:ext uri="{9D8B030D-6E8A-4147-A177-3AD203B41FA5}">
                      <a16:colId xmlns:a16="http://schemas.microsoft.com/office/drawing/2014/main" val="2717655805"/>
                    </a:ext>
                  </a:extLst>
                </a:gridCol>
              </a:tblGrid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Train </a:t>
                      </a: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  <a:sym typeface="Wingdings" panose="05000000000000000000" pitchFamily="2" charset="2"/>
                        </a:rPr>
                        <a:t>/ Test  </a:t>
                      </a: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Pretrained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Lateral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Femoral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Patellar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Medial Meniscus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0528004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Lateral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0.671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0.446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0.114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28910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0.142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0.510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0.137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438933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Femoral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0.684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0.274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0.120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0.755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246837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Patellar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0.988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221321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Medial Meniscus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0.021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0.060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047210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Aeropath</a:t>
                      </a: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(Retention)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0.979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0.197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0.034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0.630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0.224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39262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8BA4E651-987C-4A04-6C7C-D75E036BBB5D}"/>
              </a:ext>
            </a:extLst>
          </p:cNvPr>
          <p:cNvSpPr txBox="1"/>
          <p:nvPr/>
        </p:nvSpPr>
        <p:spPr>
          <a:xfrm>
            <a:off x="518319" y="1455069"/>
            <a:ext cx="82821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/>
              <a:t>Full-dataset baseline results: Dice coefficient heatmap matrix for Shared </a:t>
            </a:r>
            <a:r>
              <a:rPr lang="en-IN" sz="1600" dirty="0" err="1"/>
              <a:t>LoRA</a:t>
            </a:r>
            <a:r>
              <a:rPr lang="en-IN" sz="1600" dirty="0"/>
              <a:t> (rank=16) across trained (rows) and tested (columns) tasks.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104A77-11D9-2DB8-38CB-FEF79D302EA7}"/>
              </a:ext>
            </a:extLst>
          </p:cNvPr>
          <p:cNvSpPr txBox="1"/>
          <p:nvPr/>
        </p:nvSpPr>
        <p:spPr>
          <a:xfrm>
            <a:off x="9417378" y="3008174"/>
            <a:ext cx="2554664" cy="1948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IN" sz="1600" dirty="0" err="1"/>
              <a:t>A</a:t>
            </a:r>
            <a:r>
              <a:rPr lang="en-IN" sz="1600" baseline="-25000" dirty="0" err="1"/>
              <a:t>Medial</a:t>
            </a:r>
            <a:r>
              <a:rPr lang="en-IN" sz="1600" baseline="-25000" dirty="0"/>
              <a:t> Meniscus</a:t>
            </a:r>
            <a:r>
              <a:rPr lang="en-IN" sz="1600" dirty="0">
                <a:solidFill>
                  <a:prstClr val="black"/>
                </a:solidFill>
              </a:rPr>
              <a:t> = 0.0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IN" sz="1600" dirty="0" err="1"/>
              <a:t>F</a:t>
            </a:r>
            <a:r>
              <a:rPr lang="en-IN" sz="1600" baseline="-25000" dirty="0" err="1"/>
              <a:t>Medial</a:t>
            </a:r>
            <a:r>
              <a:rPr lang="en-IN" sz="1600" baseline="-25000" dirty="0"/>
              <a:t> Meniscus</a:t>
            </a:r>
            <a:r>
              <a:rPr lang="en-IN" sz="1600" baseline="-25000" dirty="0">
                <a:solidFill>
                  <a:prstClr val="black"/>
                </a:solidFill>
              </a:rPr>
              <a:t> </a:t>
            </a:r>
            <a:r>
              <a:rPr lang="en-IN" sz="1600" dirty="0">
                <a:solidFill>
                  <a:prstClr val="black"/>
                </a:solidFill>
              </a:rPr>
              <a:t>= 0.731</a:t>
            </a:r>
            <a:endParaRPr lang="en-IN" sz="1600" dirty="0">
              <a:solidFill>
                <a:prstClr val="black"/>
              </a:solidFill>
              <a:latin typeface="Arial"/>
            </a:endParaRP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Avg. Transfer = 0.091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IN" sz="1600" dirty="0" err="1">
                <a:solidFill>
                  <a:prstClr val="black"/>
                </a:solidFill>
                <a:latin typeface="Arial"/>
              </a:rPr>
              <a:t>Avg</a:t>
            </a:r>
            <a:r>
              <a:rPr lang="en-IN" sz="1600" dirty="0">
                <a:solidFill>
                  <a:prstClr val="black"/>
                </a:solidFill>
                <a:latin typeface="Arial"/>
              </a:rPr>
              <a:t> Retention Drop = 0.762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lang="en-IN" sz="1600" dirty="0">
              <a:solidFill>
                <a:prstClr val="black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006843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D4771CC-4A89-CDE4-9D17-6011A8D00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2CF5728-3BA8-3C8C-1533-ED255E61F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7054057" cy="332399"/>
          </a:xfrm>
        </p:spPr>
        <p:txBody>
          <a:bodyPr/>
          <a:lstStyle/>
          <a:p>
            <a:r>
              <a:rPr lang="en-IN" dirty="0"/>
              <a:t>Class Incremental Shared </a:t>
            </a:r>
            <a:r>
              <a:rPr lang="en-IN" dirty="0" err="1"/>
              <a:t>LoRA</a:t>
            </a:r>
            <a:r>
              <a:rPr lang="en-IN" dirty="0"/>
              <a:t> CL Performance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FAD4A688-DFAD-4DA0-B46D-D2C7CADC3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9E98-54A4-43F9-9249-7D6B5CD88EDB}" type="datetime4">
              <a:rPr lang="de-DE" smtClean="0"/>
              <a:pPr/>
              <a:t>17. Oktober 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6DBB323B-26BA-E70A-300A-CF4C7915A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BDABA766-4D64-E935-40B1-9B4287E47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33</a:t>
            </a:fld>
            <a:endParaRPr lang="de-DE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F589D762-10FD-01E9-C69E-76A34C77806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332399"/>
          </a:xfrm>
        </p:spPr>
        <p:txBody>
          <a:bodyPr/>
          <a:lstStyle/>
          <a:p>
            <a:r>
              <a:rPr lang="en-US" dirty="0"/>
              <a:t>Evaluation matrix and results for Task-specific </a:t>
            </a:r>
            <a:r>
              <a:rPr lang="en-US" dirty="0" err="1"/>
              <a:t>LoRA</a:t>
            </a:r>
            <a:r>
              <a:rPr lang="en-US" dirty="0"/>
              <a:t> for </a:t>
            </a:r>
            <a:r>
              <a:rPr lang="en-US" dirty="0" err="1"/>
              <a:t>Voxtell</a:t>
            </a:r>
            <a:endParaRPr lang="en-IN" dirty="0"/>
          </a:p>
          <a:p>
            <a:endParaRPr lang="en-IN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EC103DAD-2B37-915C-3F6A-68AD8F6CB560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8816A3C-F39A-189A-007F-5950626674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658321"/>
              </p:ext>
            </p:extLst>
          </p:nvPr>
        </p:nvGraphicFramePr>
        <p:xfrm>
          <a:off x="518319" y="2243017"/>
          <a:ext cx="8595864" cy="3743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3211">
                  <a:extLst>
                    <a:ext uri="{9D8B030D-6E8A-4147-A177-3AD203B41FA5}">
                      <a16:colId xmlns:a16="http://schemas.microsoft.com/office/drawing/2014/main" val="234834347"/>
                    </a:ext>
                  </a:extLst>
                </a:gridCol>
                <a:gridCol w="1101124">
                  <a:extLst>
                    <a:ext uri="{9D8B030D-6E8A-4147-A177-3AD203B41FA5}">
                      <a16:colId xmlns:a16="http://schemas.microsoft.com/office/drawing/2014/main" val="2056590576"/>
                    </a:ext>
                  </a:extLst>
                </a:gridCol>
                <a:gridCol w="1310886">
                  <a:extLst>
                    <a:ext uri="{9D8B030D-6E8A-4147-A177-3AD203B41FA5}">
                      <a16:colId xmlns:a16="http://schemas.microsoft.com/office/drawing/2014/main" val="3330814310"/>
                    </a:ext>
                  </a:extLst>
                </a:gridCol>
                <a:gridCol w="1285073">
                  <a:extLst>
                    <a:ext uri="{9D8B030D-6E8A-4147-A177-3AD203B41FA5}">
                      <a16:colId xmlns:a16="http://schemas.microsoft.com/office/drawing/2014/main" val="2046389111"/>
                    </a:ext>
                  </a:extLst>
                </a:gridCol>
                <a:gridCol w="1147630">
                  <a:extLst>
                    <a:ext uri="{9D8B030D-6E8A-4147-A177-3AD203B41FA5}">
                      <a16:colId xmlns:a16="http://schemas.microsoft.com/office/drawing/2014/main" val="2787742289"/>
                    </a:ext>
                  </a:extLst>
                </a:gridCol>
                <a:gridCol w="1135797">
                  <a:extLst>
                    <a:ext uri="{9D8B030D-6E8A-4147-A177-3AD203B41FA5}">
                      <a16:colId xmlns:a16="http://schemas.microsoft.com/office/drawing/2014/main" val="2682989068"/>
                    </a:ext>
                  </a:extLst>
                </a:gridCol>
                <a:gridCol w="1172143">
                  <a:extLst>
                    <a:ext uri="{9D8B030D-6E8A-4147-A177-3AD203B41FA5}">
                      <a16:colId xmlns:a16="http://schemas.microsoft.com/office/drawing/2014/main" val="2717655805"/>
                    </a:ext>
                  </a:extLst>
                </a:gridCol>
              </a:tblGrid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Train </a:t>
                      </a: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sym typeface="Wingdings" panose="05000000000000000000" pitchFamily="2" charset="2"/>
                        </a:rPr>
                        <a:t>/ Test  </a:t>
                      </a: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Pretrained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Lateral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Medial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Femoral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Patellar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Medial Meniscus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0528004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Lateral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0.654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0.437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0.128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28910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Medial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0.163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0.511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0.140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438933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Femoral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0.684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0.448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0.178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0.771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246837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Patellar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0.975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221321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Medial Meniscus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0.021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0.038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0.075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047210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Aeropath (Retention)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0.979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0.712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0.257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0.868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0.238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39262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F25D7C37-55BC-685F-A8E8-17907CAF4F24}"/>
              </a:ext>
            </a:extLst>
          </p:cNvPr>
          <p:cNvSpPr txBox="1"/>
          <p:nvPr/>
        </p:nvSpPr>
        <p:spPr>
          <a:xfrm>
            <a:off x="518319" y="1455069"/>
            <a:ext cx="82821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/>
              <a:t>Full-dataset baseline results: Dice coefficient heatmap matrix for Shared </a:t>
            </a:r>
            <a:r>
              <a:rPr lang="en-IN" sz="1600" dirty="0" err="1"/>
              <a:t>LoRA</a:t>
            </a:r>
            <a:r>
              <a:rPr lang="en-IN" sz="1600" dirty="0"/>
              <a:t> (rank=32) across trained (rows) and tested (columns) tasks.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65F093-A5CA-034E-BA39-CF8519DFB726}"/>
              </a:ext>
            </a:extLst>
          </p:cNvPr>
          <p:cNvSpPr txBox="1"/>
          <p:nvPr/>
        </p:nvSpPr>
        <p:spPr>
          <a:xfrm>
            <a:off x="9417378" y="3008174"/>
            <a:ext cx="2554664" cy="1948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IN" sz="1600" dirty="0" err="1"/>
              <a:t>A</a:t>
            </a:r>
            <a:r>
              <a:rPr lang="en-IN" sz="1600" baseline="-25000" dirty="0" err="1"/>
              <a:t>Medial</a:t>
            </a:r>
            <a:r>
              <a:rPr lang="en-IN" sz="1600" baseline="-25000" dirty="0"/>
              <a:t> Meniscus</a:t>
            </a:r>
            <a:r>
              <a:rPr lang="en-IN" sz="1600" dirty="0">
                <a:solidFill>
                  <a:prstClr val="black"/>
                </a:solidFill>
              </a:rPr>
              <a:t> = 0.0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IN" sz="1600" dirty="0" err="1"/>
              <a:t>F</a:t>
            </a:r>
            <a:r>
              <a:rPr lang="en-IN" sz="1600" baseline="-25000" dirty="0" err="1"/>
              <a:t>Medial</a:t>
            </a:r>
            <a:r>
              <a:rPr lang="en-IN" sz="1600" baseline="-25000" dirty="0"/>
              <a:t> Meniscus</a:t>
            </a:r>
            <a:r>
              <a:rPr lang="en-IN" sz="1600" baseline="-25000" dirty="0">
                <a:solidFill>
                  <a:prstClr val="black"/>
                </a:solidFill>
              </a:rPr>
              <a:t> </a:t>
            </a:r>
            <a:r>
              <a:rPr lang="en-IN" sz="1600" dirty="0">
                <a:solidFill>
                  <a:prstClr val="black"/>
                </a:solidFill>
              </a:rPr>
              <a:t>= 0.728</a:t>
            </a:r>
            <a:endParaRPr lang="en-IN" sz="1600" dirty="0">
              <a:solidFill>
                <a:prstClr val="black"/>
              </a:solidFill>
              <a:latin typeface="Arial"/>
            </a:endParaRP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Avg. Transfer = 0.128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IN" sz="1600" dirty="0" err="1">
                <a:solidFill>
                  <a:prstClr val="black"/>
                </a:solidFill>
                <a:latin typeface="Arial"/>
              </a:rPr>
              <a:t>Avg</a:t>
            </a:r>
            <a:r>
              <a:rPr lang="en-IN" sz="1600" dirty="0">
                <a:solidFill>
                  <a:prstClr val="black"/>
                </a:solidFill>
                <a:latin typeface="Arial"/>
              </a:rPr>
              <a:t> Retention Drop = 0.564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lang="en-IN" sz="1600" dirty="0">
              <a:solidFill>
                <a:prstClr val="black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114535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1CE7BCD-0233-0F17-D92F-FE6C370B0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BA07571-3886-E20E-1FE9-F0F163D21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7054057" cy="332399"/>
          </a:xfrm>
        </p:spPr>
        <p:txBody>
          <a:bodyPr/>
          <a:lstStyle/>
          <a:p>
            <a:r>
              <a:rPr lang="en-IN" dirty="0"/>
              <a:t>Class Incremental Shared </a:t>
            </a:r>
            <a:r>
              <a:rPr lang="en-IN" dirty="0" err="1"/>
              <a:t>LoRA</a:t>
            </a:r>
            <a:r>
              <a:rPr lang="en-IN" dirty="0"/>
              <a:t> CL Performance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38FA7FEA-BBE5-B136-B968-7471CC7E1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9E98-54A4-43F9-9249-7D6B5CD88EDB}" type="datetime4">
              <a:rPr lang="de-DE" smtClean="0"/>
              <a:pPr/>
              <a:t>17. Oktober 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152FCD79-2BFC-4FDC-4460-2A41E4A87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BBAE8EB3-D3B6-67E5-1E47-A19F80EB9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34</a:t>
            </a:fld>
            <a:endParaRPr lang="de-DE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12B81BB6-35EC-E423-364D-16D4E7B18C5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332399"/>
          </a:xfrm>
        </p:spPr>
        <p:txBody>
          <a:bodyPr/>
          <a:lstStyle/>
          <a:p>
            <a:r>
              <a:rPr lang="en-US" dirty="0"/>
              <a:t>Evaluation matrix and results for Task-specific </a:t>
            </a:r>
            <a:r>
              <a:rPr lang="en-US" dirty="0" err="1"/>
              <a:t>LoRA</a:t>
            </a:r>
            <a:r>
              <a:rPr lang="en-US" dirty="0"/>
              <a:t> for </a:t>
            </a:r>
            <a:r>
              <a:rPr lang="en-US" dirty="0" err="1"/>
              <a:t>Voxtell</a:t>
            </a:r>
            <a:endParaRPr lang="en-IN" dirty="0"/>
          </a:p>
          <a:p>
            <a:endParaRPr lang="en-IN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E9846AC6-C562-1ADF-6850-88920633DE9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E9AB735-7176-084D-247A-7E17C4034F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899720"/>
              </p:ext>
            </p:extLst>
          </p:nvPr>
        </p:nvGraphicFramePr>
        <p:xfrm>
          <a:off x="518319" y="2243017"/>
          <a:ext cx="8595864" cy="3743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3211">
                  <a:extLst>
                    <a:ext uri="{9D8B030D-6E8A-4147-A177-3AD203B41FA5}">
                      <a16:colId xmlns:a16="http://schemas.microsoft.com/office/drawing/2014/main" val="234834347"/>
                    </a:ext>
                  </a:extLst>
                </a:gridCol>
                <a:gridCol w="1101124">
                  <a:extLst>
                    <a:ext uri="{9D8B030D-6E8A-4147-A177-3AD203B41FA5}">
                      <a16:colId xmlns:a16="http://schemas.microsoft.com/office/drawing/2014/main" val="2056590576"/>
                    </a:ext>
                  </a:extLst>
                </a:gridCol>
                <a:gridCol w="1310886">
                  <a:extLst>
                    <a:ext uri="{9D8B030D-6E8A-4147-A177-3AD203B41FA5}">
                      <a16:colId xmlns:a16="http://schemas.microsoft.com/office/drawing/2014/main" val="3330814310"/>
                    </a:ext>
                  </a:extLst>
                </a:gridCol>
                <a:gridCol w="1285073">
                  <a:extLst>
                    <a:ext uri="{9D8B030D-6E8A-4147-A177-3AD203B41FA5}">
                      <a16:colId xmlns:a16="http://schemas.microsoft.com/office/drawing/2014/main" val="2046389111"/>
                    </a:ext>
                  </a:extLst>
                </a:gridCol>
                <a:gridCol w="1147630">
                  <a:extLst>
                    <a:ext uri="{9D8B030D-6E8A-4147-A177-3AD203B41FA5}">
                      <a16:colId xmlns:a16="http://schemas.microsoft.com/office/drawing/2014/main" val="2787742289"/>
                    </a:ext>
                  </a:extLst>
                </a:gridCol>
                <a:gridCol w="1135797">
                  <a:extLst>
                    <a:ext uri="{9D8B030D-6E8A-4147-A177-3AD203B41FA5}">
                      <a16:colId xmlns:a16="http://schemas.microsoft.com/office/drawing/2014/main" val="2682989068"/>
                    </a:ext>
                  </a:extLst>
                </a:gridCol>
                <a:gridCol w="1172143">
                  <a:extLst>
                    <a:ext uri="{9D8B030D-6E8A-4147-A177-3AD203B41FA5}">
                      <a16:colId xmlns:a16="http://schemas.microsoft.com/office/drawing/2014/main" val="2717655805"/>
                    </a:ext>
                  </a:extLst>
                </a:gridCol>
              </a:tblGrid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Train </a:t>
                      </a: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sym typeface="Wingdings" panose="05000000000000000000" pitchFamily="2" charset="2"/>
                        </a:rPr>
                        <a:t>/ Test  </a:t>
                      </a: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Pretrained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Lateral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Medial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Femoral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Patellar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Medial Meniscus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0528004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Lateral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0.545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0.314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0.104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28910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Medial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0.254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0.544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0.151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438933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Femoral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0.684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0.596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0.247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0.740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246837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Patellar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0.978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221321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Medial Meniscus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0.032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0.030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0.086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047210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Aeropath (Retention)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0.979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0.952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0.572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0.928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0.221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39262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F3DC872F-B876-E0B2-CAB0-2D1F64A7565F}"/>
              </a:ext>
            </a:extLst>
          </p:cNvPr>
          <p:cNvSpPr txBox="1"/>
          <p:nvPr/>
        </p:nvSpPr>
        <p:spPr>
          <a:xfrm>
            <a:off x="518319" y="1455069"/>
            <a:ext cx="82821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/>
              <a:t>Full-dataset baseline results: Dice coefficient heatmap matrix for Shared </a:t>
            </a:r>
            <a:r>
              <a:rPr lang="en-IN" sz="1600" dirty="0" err="1"/>
              <a:t>LoRA</a:t>
            </a:r>
            <a:r>
              <a:rPr lang="en-IN" sz="1600" dirty="0"/>
              <a:t> (rank=64) across trained (rows) and tested (columns) tasks.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BA803B-ED95-917A-C45D-BACA95853E32}"/>
              </a:ext>
            </a:extLst>
          </p:cNvPr>
          <p:cNvSpPr txBox="1"/>
          <p:nvPr/>
        </p:nvSpPr>
        <p:spPr>
          <a:xfrm>
            <a:off x="9417378" y="3008174"/>
            <a:ext cx="2554664" cy="1948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IN" sz="1600" dirty="0" err="1"/>
              <a:t>A</a:t>
            </a:r>
            <a:r>
              <a:rPr lang="en-IN" sz="1600" baseline="-25000" dirty="0" err="1"/>
              <a:t>Medial</a:t>
            </a:r>
            <a:r>
              <a:rPr lang="en-IN" sz="1600" baseline="-25000" dirty="0"/>
              <a:t> Meniscus</a:t>
            </a:r>
            <a:r>
              <a:rPr lang="en-IN" sz="1600" dirty="0">
                <a:solidFill>
                  <a:prstClr val="black"/>
                </a:solidFill>
              </a:rPr>
              <a:t> = 0.0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IN" sz="1600" dirty="0" err="1"/>
              <a:t>F</a:t>
            </a:r>
            <a:r>
              <a:rPr lang="en-IN" sz="1600" baseline="-25000" dirty="0" err="1"/>
              <a:t>Medial</a:t>
            </a:r>
            <a:r>
              <a:rPr lang="en-IN" sz="1600" baseline="-25000" dirty="0"/>
              <a:t> Meniscus</a:t>
            </a:r>
            <a:r>
              <a:rPr lang="en-IN" sz="1600" baseline="-25000" dirty="0">
                <a:solidFill>
                  <a:prstClr val="black"/>
                </a:solidFill>
              </a:rPr>
              <a:t> </a:t>
            </a:r>
            <a:r>
              <a:rPr lang="en-IN" sz="1600" dirty="0">
                <a:solidFill>
                  <a:prstClr val="black"/>
                </a:solidFill>
              </a:rPr>
              <a:t>= 0.702</a:t>
            </a:r>
            <a:endParaRPr lang="en-IN" sz="1600" dirty="0">
              <a:solidFill>
                <a:prstClr val="black"/>
              </a:solidFill>
              <a:latin typeface="Arial"/>
            </a:endParaRP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Avg. Transfer = 0.178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IN" sz="1600" dirty="0" err="1">
                <a:solidFill>
                  <a:prstClr val="black"/>
                </a:solidFill>
                <a:latin typeface="Arial"/>
              </a:rPr>
              <a:t>Avg</a:t>
            </a:r>
            <a:r>
              <a:rPr lang="en-IN" sz="1600" dirty="0">
                <a:solidFill>
                  <a:prstClr val="black"/>
                </a:solidFill>
                <a:latin typeface="Arial"/>
              </a:rPr>
              <a:t> Retention Drop = 0.445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lang="en-IN" sz="1600" dirty="0">
              <a:solidFill>
                <a:prstClr val="black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64541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1273B4E-6B76-8CED-B709-CD06DB012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DE24043-0202-2E56-C4B9-891C1F858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7054057" cy="332399"/>
          </a:xfrm>
        </p:spPr>
        <p:txBody>
          <a:bodyPr/>
          <a:lstStyle/>
          <a:p>
            <a:r>
              <a:rPr lang="en-IN" dirty="0"/>
              <a:t>Class Incremental Shared </a:t>
            </a:r>
            <a:r>
              <a:rPr lang="en-IN" dirty="0" err="1"/>
              <a:t>LoRA</a:t>
            </a:r>
            <a:r>
              <a:rPr lang="en-IN" dirty="0"/>
              <a:t> CL Performance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C742911B-0FC6-FA90-6232-3DF034B4F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9E98-54A4-43F9-9249-7D6B5CD88EDB}" type="datetime4">
              <a:rPr lang="de-DE" smtClean="0"/>
              <a:pPr/>
              <a:t>17. Oktober 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EA3F458A-3A88-1049-EA23-ADECEBF6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1F18D0F-E3F4-9524-9429-6F874B58D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35</a:t>
            </a:fld>
            <a:endParaRPr lang="de-DE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7270FB94-12AB-C211-C1AC-1AF19277CF1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332399"/>
          </a:xfrm>
        </p:spPr>
        <p:txBody>
          <a:bodyPr/>
          <a:lstStyle/>
          <a:p>
            <a:r>
              <a:rPr lang="en-US" dirty="0"/>
              <a:t>Evaluation matrix and results for Task-specific </a:t>
            </a:r>
            <a:r>
              <a:rPr lang="en-US" dirty="0" err="1"/>
              <a:t>LoRA</a:t>
            </a:r>
            <a:r>
              <a:rPr lang="en-US" dirty="0"/>
              <a:t> for </a:t>
            </a:r>
            <a:r>
              <a:rPr lang="en-US" dirty="0" err="1"/>
              <a:t>Voxtell</a:t>
            </a:r>
            <a:endParaRPr lang="en-IN" dirty="0"/>
          </a:p>
          <a:p>
            <a:endParaRPr lang="en-IN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EBF191C9-404E-7DA2-B329-3B80AC11D6C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5D0EFC6-54EF-BE03-148C-80B0F0D622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74522"/>
              </p:ext>
            </p:extLst>
          </p:nvPr>
        </p:nvGraphicFramePr>
        <p:xfrm>
          <a:off x="518319" y="2243017"/>
          <a:ext cx="8595864" cy="3743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3211">
                  <a:extLst>
                    <a:ext uri="{9D8B030D-6E8A-4147-A177-3AD203B41FA5}">
                      <a16:colId xmlns:a16="http://schemas.microsoft.com/office/drawing/2014/main" val="234834347"/>
                    </a:ext>
                  </a:extLst>
                </a:gridCol>
                <a:gridCol w="1101124">
                  <a:extLst>
                    <a:ext uri="{9D8B030D-6E8A-4147-A177-3AD203B41FA5}">
                      <a16:colId xmlns:a16="http://schemas.microsoft.com/office/drawing/2014/main" val="2056590576"/>
                    </a:ext>
                  </a:extLst>
                </a:gridCol>
                <a:gridCol w="1310886">
                  <a:extLst>
                    <a:ext uri="{9D8B030D-6E8A-4147-A177-3AD203B41FA5}">
                      <a16:colId xmlns:a16="http://schemas.microsoft.com/office/drawing/2014/main" val="3330814310"/>
                    </a:ext>
                  </a:extLst>
                </a:gridCol>
                <a:gridCol w="1285073">
                  <a:extLst>
                    <a:ext uri="{9D8B030D-6E8A-4147-A177-3AD203B41FA5}">
                      <a16:colId xmlns:a16="http://schemas.microsoft.com/office/drawing/2014/main" val="2046389111"/>
                    </a:ext>
                  </a:extLst>
                </a:gridCol>
                <a:gridCol w="1147630">
                  <a:extLst>
                    <a:ext uri="{9D8B030D-6E8A-4147-A177-3AD203B41FA5}">
                      <a16:colId xmlns:a16="http://schemas.microsoft.com/office/drawing/2014/main" val="2787742289"/>
                    </a:ext>
                  </a:extLst>
                </a:gridCol>
                <a:gridCol w="1135797">
                  <a:extLst>
                    <a:ext uri="{9D8B030D-6E8A-4147-A177-3AD203B41FA5}">
                      <a16:colId xmlns:a16="http://schemas.microsoft.com/office/drawing/2014/main" val="2682989068"/>
                    </a:ext>
                  </a:extLst>
                </a:gridCol>
                <a:gridCol w="1172143">
                  <a:extLst>
                    <a:ext uri="{9D8B030D-6E8A-4147-A177-3AD203B41FA5}">
                      <a16:colId xmlns:a16="http://schemas.microsoft.com/office/drawing/2014/main" val="2717655805"/>
                    </a:ext>
                  </a:extLst>
                </a:gridCol>
              </a:tblGrid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Train </a:t>
                      </a: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sym typeface="Wingdings" panose="05000000000000000000" pitchFamily="2" charset="2"/>
                        </a:rPr>
                        <a:t>/ Test  </a:t>
                      </a: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Pretrained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Lateral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Medial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Femoral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Patellar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Medial Meniscus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0528004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Lateral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0.426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0.296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0.108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28910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Medial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0.240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0.537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0.175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438933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Femoral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0.684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0.638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0.410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0.734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246837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Patellar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0.984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221321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Medial Meniscus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0.041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0.043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0.082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047210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Aeropath (Retention)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0.979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0.974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0.881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0.957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0.219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39262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18AE3B9C-CEBE-0E07-7E10-FE34F9740224}"/>
              </a:ext>
            </a:extLst>
          </p:cNvPr>
          <p:cNvSpPr txBox="1"/>
          <p:nvPr/>
        </p:nvSpPr>
        <p:spPr>
          <a:xfrm>
            <a:off x="518319" y="1455069"/>
            <a:ext cx="82821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/>
              <a:t>Full-dataset baseline results: Dice coefficient heatmap matrix for Shared </a:t>
            </a:r>
            <a:r>
              <a:rPr lang="en-IN" sz="1600" dirty="0" err="1"/>
              <a:t>LoRA</a:t>
            </a:r>
            <a:r>
              <a:rPr lang="en-IN" sz="1600" dirty="0"/>
              <a:t> (rank=128) across trained (rows) and tested (columns) tasks.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367631-747F-1B29-11DD-F3AB45EE7FD5}"/>
              </a:ext>
            </a:extLst>
          </p:cNvPr>
          <p:cNvSpPr txBox="1"/>
          <p:nvPr/>
        </p:nvSpPr>
        <p:spPr>
          <a:xfrm>
            <a:off x="9417378" y="3008174"/>
            <a:ext cx="2554664" cy="1948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IN" sz="1600" dirty="0" err="1"/>
              <a:t>A</a:t>
            </a:r>
            <a:r>
              <a:rPr lang="en-IN" sz="1600" baseline="-25000" dirty="0" err="1"/>
              <a:t>Medial</a:t>
            </a:r>
            <a:r>
              <a:rPr lang="en-IN" sz="1600" baseline="-25000" dirty="0"/>
              <a:t> Meniscus</a:t>
            </a:r>
            <a:r>
              <a:rPr lang="en-IN" sz="1600" dirty="0">
                <a:solidFill>
                  <a:prstClr val="black"/>
                </a:solidFill>
              </a:rPr>
              <a:t> = 0.0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IN" sz="1600" dirty="0" err="1"/>
              <a:t>F</a:t>
            </a:r>
            <a:r>
              <a:rPr lang="en-IN" sz="1600" baseline="-25000" dirty="0" err="1"/>
              <a:t>Medial</a:t>
            </a:r>
            <a:r>
              <a:rPr lang="en-IN" sz="1600" baseline="-25000" dirty="0"/>
              <a:t> Meniscus</a:t>
            </a:r>
            <a:r>
              <a:rPr lang="en-IN" sz="1600" baseline="-25000" dirty="0">
                <a:solidFill>
                  <a:prstClr val="black"/>
                </a:solidFill>
              </a:rPr>
              <a:t> </a:t>
            </a:r>
            <a:r>
              <a:rPr lang="en-IN" sz="1600" dirty="0">
                <a:solidFill>
                  <a:prstClr val="black"/>
                </a:solidFill>
              </a:rPr>
              <a:t>= 0.670</a:t>
            </a:r>
            <a:endParaRPr lang="en-IN" sz="1600" dirty="0">
              <a:solidFill>
                <a:prstClr val="black"/>
              </a:solidFill>
              <a:latin typeface="Arial"/>
            </a:endParaRP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Avg. Transfer = 0.202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IN" sz="1600" dirty="0" err="1">
                <a:solidFill>
                  <a:prstClr val="black"/>
                </a:solidFill>
                <a:latin typeface="Arial"/>
              </a:rPr>
              <a:t>Avg</a:t>
            </a:r>
            <a:r>
              <a:rPr lang="en-IN" sz="1600" dirty="0">
                <a:solidFill>
                  <a:prstClr val="black"/>
                </a:solidFill>
                <a:latin typeface="Arial"/>
              </a:rPr>
              <a:t> Retention Drop = 0.373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lang="en-IN" sz="1600" dirty="0">
              <a:solidFill>
                <a:prstClr val="black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082087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4AC6903-08ED-DD04-B494-17D48A87D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7142AF5-5C3B-B23B-279D-B4BE6E641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7183381" cy="332399"/>
          </a:xfrm>
        </p:spPr>
        <p:txBody>
          <a:bodyPr/>
          <a:lstStyle/>
          <a:p>
            <a:r>
              <a:rPr lang="en-IN" dirty="0"/>
              <a:t>Class Incremental Prompt based CL Performance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CBFD7F3-4B5D-4DE0-3FB1-B0C21C2D9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9E98-54A4-43F9-9249-7D6B5CD88EDB}" type="datetime4">
              <a:rPr lang="de-DE" smtClean="0"/>
              <a:pPr/>
              <a:t>17. Oktober 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5AA3E4FE-2026-6FCF-ACF4-15A2A1299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52E75DF-3BBF-7DF5-48B8-D4E038487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36</a:t>
            </a:fld>
            <a:endParaRPr lang="de-DE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37D72627-8821-F777-A8C5-D661431561D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/>
          <a:lstStyle/>
          <a:p>
            <a:r>
              <a:rPr lang="en-US" dirty="0"/>
              <a:t>Evaluation matrix and results for prompt-based learning for </a:t>
            </a:r>
            <a:r>
              <a:rPr lang="en-US" dirty="0" err="1"/>
              <a:t>Voxtell</a:t>
            </a:r>
            <a:endParaRPr lang="en-IN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62B24939-ECEA-B765-D353-4F1CBD25144E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5F88499-62AA-0FE4-574D-A853BC23CE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973756"/>
              </p:ext>
            </p:extLst>
          </p:nvPr>
        </p:nvGraphicFramePr>
        <p:xfrm>
          <a:off x="518319" y="2243017"/>
          <a:ext cx="8595864" cy="3743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3211">
                  <a:extLst>
                    <a:ext uri="{9D8B030D-6E8A-4147-A177-3AD203B41FA5}">
                      <a16:colId xmlns:a16="http://schemas.microsoft.com/office/drawing/2014/main" val="234834347"/>
                    </a:ext>
                  </a:extLst>
                </a:gridCol>
                <a:gridCol w="1101124">
                  <a:extLst>
                    <a:ext uri="{9D8B030D-6E8A-4147-A177-3AD203B41FA5}">
                      <a16:colId xmlns:a16="http://schemas.microsoft.com/office/drawing/2014/main" val="2056590576"/>
                    </a:ext>
                  </a:extLst>
                </a:gridCol>
                <a:gridCol w="1310886">
                  <a:extLst>
                    <a:ext uri="{9D8B030D-6E8A-4147-A177-3AD203B41FA5}">
                      <a16:colId xmlns:a16="http://schemas.microsoft.com/office/drawing/2014/main" val="3330814310"/>
                    </a:ext>
                  </a:extLst>
                </a:gridCol>
                <a:gridCol w="1285073">
                  <a:extLst>
                    <a:ext uri="{9D8B030D-6E8A-4147-A177-3AD203B41FA5}">
                      <a16:colId xmlns:a16="http://schemas.microsoft.com/office/drawing/2014/main" val="2046389111"/>
                    </a:ext>
                  </a:extLst>
                </a:gridCol>
                <a:gridCol w="1147630">
                  <a:extLst>
                    <a:ext uri="{9D8B030D-6E8A-4147-A177-3AD203B41FA5}">
                      <a16:colId xmlns:a16="http://schemas.microsoft.com/office/drawing/2014/main" val="2787742289"/>
                    </a:ext>
                  </a:extLst>
                </a:gridCol>
                <a:gridCol w="1135797">
                  <a:extLst>
                    <a:ext uri="{9D8B030D-6E8A-4147-A177-3AD203B41FA5}">
                      <a16:colId xmlns:a16="http://schemas.microsoft.com/office/drawing/2014/main" val="2682989068"/>
                    </a:ext>
                  </a:extLst>
                </a:gridCol>
                <a:gridCol w="1172143">
                  <a:extLst>
                    <a:ext uri="{9D8B030D-6E8A-4147-A177-3AD203B41FA5}">
                      <a16:colId xmlns:a16="http://schemas.microsoft.com/office/drawing/2014/main" val="2717655805"/>
                    </a:ext>
                  </a:extLst>
                </a:gridCol>
              </a:tblGrid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Train </a:t>
                      </a: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  <a:sym typeface="Wingdings" panose="05000000000000000000" pitchFamily="2" charset="2"/>
                        </a:rPr>
                        <a:t>/ Test  </a:t>
                      </a: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Pretrained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Lateral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Femoral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Patellar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Medial Meniscus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0528004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Lateral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0.727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0.337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0.029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128910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0.096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0.564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0.118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438933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Femoral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0.684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0.105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0.029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0.774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5246837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Patellar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0.995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0221321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Medial Meniscus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0.525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047210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Aeropath</a:t>
                      </a: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(Retention)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0.979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0.261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0.028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0.036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0.243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339262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8775A6A0-4290-6FEB-0539-D71D50CE9D95}"/>
              </a:ext>
            </a:extLst>
          </p:cNvPr>
          <p:cNvSpPr txBox="1"/>
          <p:nvPr/>
        </p:nvSpPr>
        <p:spPr>
          <a:xfrm>
            <a:off x="518319" y="1455069"/>
            <a:ext cx="82821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/>
              <a:t>Dice coefficient heatmap matrix for Prompt based CL across trained (rows) and tested (columns) tasks.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6168A4-BE4F-D729-6836-A7CAC77ED85F}"/>
              </a:ext>
            </a:extLst>
          </p:cNvPr>
          <p:cNvSpPr txBox="1"/>
          <p:nvPr/>
        </p:nvSpPr>
        <p:spPr>
          <a:xfrm>
            <a:off x="9417378" y="3008174"/>
            <a:ext cx="2554664" cy="1948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IN" sz="1600" dirty="0" err="1"/>
              <a:t>A</a:t>
            </a:r>
            <a:r>
              <a:rPr lang="en-IN" sz="1600" baseline="-25000" dirty="0" err="1"/>
              <a:t>Medial</a:t>
            </a:r>
            <a:r>
              <a:rPr lang="en-IN" sz="1600" baseline="-25000" dirty="0"/>
              <a:t> Meniscus</a:t>
            </a:r>
            <a:r>
              <a:rPr lang="en-IN" sz="1600" dirty="0">
                <a:solidFill>
                  <a:prstClr val="black"/>
                </a:solidFill>
              </a:rPr>
              <a:t> = 0.114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IN" sz="1600" dirty="0" err="1"/>
              <a:t>F</a:t>
            </a:r>
            <a:r>
              <a:rPr lang="en-IN" sz="1600" baseline="-25000" dirty="0" err="1"/>
              <a:t>Medial</a:t>
            </a:r>
            <a:r>
              <a:rPr lang="en-IN" sz="1600" baseline="-25000" dirty="0"/>
              <a:t> Meniscus</a:t>
            </a:r>
            <a:r>
              <a:rPr lang="en-IN" sz="1600" baseline="-25000" dirty="0">
                <a:solidFill>
                  <a:prstClr val="black"/>
                </a:solidFill>
              </a:rPr>
              <a:t> </a:t>
            </a:r>
            <a:r>
              <a:rPr lang="en-IN" sz="1600" dirty="0">
                <a:solidFill>
                  <a:prstClr val="black"/>
                </a:solidFill>
              </a:rPr>
              <a:t>= 0.753</a:t>
            </a:r>
            <a:endParaRPr lang="en-IN" sz="1600" dirty="0">
              <a:solidFill>
                <a:prstClr val="black"/>
              </a:solidFill>
              <a:latin typeface="Arial"/>
            </a:endParaRP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Avg. Transfer = 0.043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IN" sz="1600" dirty="0" err="1">
                <a:solidFill>
                  <a:prstClr val="black"/>
                </a:solidFill>
                <a:latin typeface="Arial"/>
              </a:rPr>
              <a:t>Avg</a:t>
            </a:r>
            <a:r>
              <a:rPr lang="en-IN" sz="1600" dirty="0">
                <a:solidFill>
                  <a:prstClr val="black"/>
                </a:solidFill>
                <a:latin typeface="Arial"/>
              </a:rPr>
              <a:t> Retention Drop = 0.866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lang="en-IN" sz="1600" dirty="0">
              <a:solidFill>
                <a:prstClr val="black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46872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A4076A9-62B4-93DE-4420-B6B7BADDB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FD41BB2-5589-F478-8D52-ABB91ED24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7183381" cy="332399"/>
          </a:xfrm>
        </p:spPr>
        <p:txBody>
          <a:bodyPr/>
          <a:lstStyle/>
          <a:p>
            <a:r>
              <a:rPr lang="en-IN" dirty="0"/>
              <a:t>Class Incremental Prompt based CL Performance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908B4F-D898-0F34-2358-4FF22B390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9E98-54A4-43F9-9249-7D6B5CD88EDB}" type="datetime4">
              <a:rPr lang="de-DE" smtClean="0"/>
              <a:pPr/>
              <a:t>17. Oktober 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B5D93001-92FB-890F-8A0F-21B6F92FC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E6B24AA-18D2-FBF3-B618-ED15DA6C6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37</a:t>
            </a:fld>
            <a:endParaRPr lang="de-DE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81CC82E-A7B8-0827-74D5-D3B59E33E7D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/>
          <a:lstStyle/>
          <a:p>
            <a:r>
              <a:rPr lang="en-US" dirty="0"/>
              <a:t>Evaluation matrix and results for prompt-based learning for </a:t>
            </a:r>
            <a:r>
              <a:rPr lang="en-US" dirty="0" err="1"/>
              <a:t>Voxtell</a:t>
            </a:r>
            <a:endParaRPr lang="en-IN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A99CA9C7-6ACB-2DAF-9B65-341BB5917F6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8C7E9E0-1BD2-33B3-B71C-7C19614CF4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194641"/>
              </p:ext>
            </p:extLst>
          </p:nvPr>
        </p:nvGraphicFramePr>
        <p:xfrm>
          <a:off x="518319" y="2243017"/>
          <a:ext cx="8595864" cy="3743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3211">
                  <a:extLst>
                    <a:ext uri="{9D8B030D-6E8A-4147-A177-3AD203B41FA5}">
                      <a16:colId xmlns:a16="http://schemas.microsoft.com/office/drawing/2014/main" val="234834347"/>
                    </a:ext>
                  </a:extLst>
                </a:gridCol>
                <a:gridCol w="1101124">
                  <a:extLst>
                    <a:ext uri="{9D8B030D-6E8A-4147-A177-3AD203B41FA5}">
                      <a16:colId xmlns:a16="http://schemas.microsoft.com/office/drawing/2014/main" val="2056590576"/>
                    </a:ext>
                  </a:extLst>
                </a:gridCol>
                <a:gridCol w="1310886">
                  <a:extLst>
                    <a:ext uri="{9D8B030D-6E8A-4147-A177-3AD203B41FA5}">
                      <a16:colId xmlns:a16="http://schemas.microsoft.com/office/drawing/2014/main" val="3330814310"/>
                    </a:ext>
                  </a:extLst>
                </a:gridCol>
                <a:gridCol w="1285073">
                  <a:extLst>
                    <a:ext uri="{9D8B030D-6E8A-4147-A177-3AD203B41FA5}">
                      <a16:colId xmlns:a16="http://schemas.microsoft.com/office/drawing/2014/main" val="2046389111"/>
                    </a:ext>
                  </a:extLst>
                </a:gridCol>
                <a:gridCol w="1147630">
                  <a:extLst>
                    <a:ext uri="{9D8B030D-6E8A-4147-A177-3AD203B41FA5}">
                      <a16:colId xmlns:a16="http://schemas.microsoft.com/office/drawing/2014/main" val="2787742289"/>
                    </a:ext>
                  </a:extLst>
                </a:gridCol>
                <a:gridCol w="1135797">
                  <a:extLst>
                    <a:ext uri="{9D8B030D-6E8A-4147-A177-3AD203B41FA5}">
                      <a16:colId xmlns:a16="http://schemas.microsoft.com/office/drawing/2014/main" val="2682989068"/>
                    </a:ext>
                  </a:extLst>
                </a:gridCol>
                <a:gridCol w="1172143">
                  <a:extLst>
                    <a:ext uri="{9D8B030D-6E8A-4147-A177-3AD203B41FA5}">
                      <a16:colId xmlns:a16="http://schemas.microsoft.com/office/drawing/2014/main" val="2717655805"/>
                    </a:ext>
                  </a:extLst>
                </a:gridCol>
              </a:tblGrid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Train </a:t>
                      </a: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  <a:sym typeface="Wingdings" panose="05000000000000000000" pitchFamily="2" charset="2"/>
                        </a:rPr>
                        <a:t>/ Test  </a:t>
                      </a: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Pretrained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Medial Meniscus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Patellar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Femoral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Lateral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0528004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Medial Meniscus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0.621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128910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Patellar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0.995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438933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Femoral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0.684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0.350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0.754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0.062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5246837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0.021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0.027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0.289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0.341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221321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Lateral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0.265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0.468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047210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Aeropath</a:t>
                      </a: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(Retention)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0.979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0.069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0.249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339262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5F32F43F-E0E2-A57C-5B12-A9380C07A65E}"/>
              </a:ext>
            </a:extLst>
          </p:cNvPr>
          <p:cNvSpPr txBox="1"/>
          <p:nvPr/>
        </p:nvSpPr>
        <p:spPr>
          <a:xfrm>
            <a:off x="518319" y="1455069"/>
            <a:ext cx="82821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/>
              <a:t>Dice coefficient heatmap matrix for Prompt based CL across trained (rows) and tested (columns) tasks (Reversed)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EE7F6B-131F-90C9-E604-9E82880F9C19}"/>
              </a:ext>
            </a:extLst>
          </p:cNvPr>
          <p:cNvSpPr txBox="1"/>
          <p:nvPr/>
        </p:nvSpPr>
        <p:spPr>
          <a:xfrm>
            <a:off x="9417378" y="3008174"/>
            <a:ext cx="2554664" cy="1948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IN" sz="1600" dirty="0" err="1"/>
              <a:t>A</a:t>
            </a:r>
            <a:r>
              <a:rPr lang="en-IN" sz="1600" baseline="-25000" dirty="0" err="1"/>
              <a:t>Medial</a:t>
            </a:r>
            <a:r>
              <a:rPr lang="en-IN" sz="1600" baseline="-25000" dirty="0"/>
              <a:t> Meniscus</a:t>
            </a:r>
            <a:r>
              <a:rPr lang="en-IN" sz="1600" dirty="0">
                <a:solidFill>
                  <a:prstClr val="black"/>
                </a:solidFill>
              </a:rPr>
              <a:t> = 0.168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IN" sz="1600" dirty="0" err="1"/>
              <a:t>F</a:t>
            </a:r>
            <a:r>
              <a:rPr lang="en-IN" sz="1600" baseline="-25000" dirty="0" err="1"/>
              <a:t>Medial</a:t>
            </a:r>
            <a:r>
              <a:rPr lang="en-IN" sz="1600" baseline="-25000" dirty="0"/>
              <a:t> Meniscus</a:t>
            </a:r>
            <a:r>
              <a:rPr lang="en-IN" sz="1600" baseline="-25000" dirty="0">
                <a:solidFill>
                  <a:prstClr val="black"/>
                </a:solidFill>
              </a:rPr>
              <a:t> </a:t>
            </a:r>
            <a:r>
              <a:rPr lang="en-IN" sz="1600" dirty="0">
                <a:solidFill>
                  <a:prstClr val="black"/>
                </a:solidFill>
              </a:rPr>
              <a:t>= 0.571</a:t>
            </a:r>
            <a:endParaRPr lang="en-IN" sz="1600" dirty="0">
              <a:solidFill>
                <a:prstClr val="black"/>
              </a:solidFill>
              <a:latin typeface="Arial"/>
            </a:endParaRP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Avg. Transfer = 0.066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IN" sz="1600" dirty="0" err="1">
                <a:solidFill>
                  <a:prstClr val="black"/>
                </a:solidFill>
                <a:latin typeface="Arial"/>
              </a:rPr>
              <a:t>Avg</a:t>
            </a:r>
            <a:r>
              <a:rPr lang="en-IN" sz="1600" dirty="0">
                <a:solidFill>
                  <a:prstClr val="black"/>
                </a:solidFill>
                <a:latin typeface="Arial"/>
              </a:rPr>
              <a:t> Retention Drop = 0.916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lang="en-IN" sz="1600" dirty="0">
              <a:solidFill>
                <a:prstClr val="black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17900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5C7E8FA-B7D5-DD89-F85C-3368E4035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9F2B7B7-8FB0-B2F1-E850-3A9DE51D8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7183381" cy="332399"/>
          </a:xfrm>
        </p:spPr>
        <p:txBody>
          <a:bodyPr/>
          <a:lstStyle/>
          <a:p>
            <a:r>
              <a:rPr lang="en-IN" dirty="0"/>
              <a:t>Class Incremental Regularisation based CL 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CAA090D0-377E-A06E-F056-D067E41F9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9E98-54A4-43F9-9249-7D6B5CD88EDB}" type="datetime4">
              <a:rPr lang="de-DE" smtClean="0"/>
              <a:pPr/>
              <a:t>17. Oktober 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6F472E59-8245-FFA9-F1A0-908DF379C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6332396B-BD34-01CE-90F1-225D4037C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38</a:t>
            </a:fld>
            <a:endParaRPr lang="de-DE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19F45DDC-63B8-8911-4816-B9006E5AD1D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7183381" cy="520655"/>
          </a:xfrm>
        </p:spPr>
        <p:txBody>
          <a:bodyPr/>
          <a:lstStyle/>
          <a:p>
            <a:r>
              <a:rPr lang="en-US" dirty="0"/>
              <a:t>Evaluation matrix and results for </a:t>
            </a:r>
            <a:r>
              <a:rPr lang="en-US" dirty="0" err="1"/>
              <a:t>regularisation</a:t>
            </a:r>
            <a:r>
              <a:rPr lang="en-US" dirty="0"/>
              <a:t>-based learning for </a:t>
            </a:r>
            <a:r>
              <a:rPr lang="en-US" dirty="0" err="1"/>
              <a:t>Voxtell</a:t>
            </a:r>
            <a:endParaRPr lang="en-IN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4C0E2C5C-F10C-C685-8B47-72B8B5B3D50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19D6E02-1D21-E94F-F4C9-01D2987E4C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5373317"/>
              </p:ext>
            </p:extLst>
          </p:nvPr>
        </p:nvGraphicFramePr>
        <p:xfrm>
          <a:off x="518319" y="2243017"/>
          <a:ext cx="8595864" cy="3743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3211">
                  <a:extLst>
                    <a:ext uri="{9D8B030D-6E8A-4147-A177-3AD203B41FA5}">
                      <a16:colId xmlns:a16="http://schemas.microsoft.com/office/drawing/2014/main" val="234834347"/>
                    </a:ext>
                  </a:extLst>
                </a:gridCol>
                <a:gridCol w="1101124">
                  <a:extLst>
                    <a:ext uri="{9D8B030D-6E8A-4147-A177-3AD203B41FA5}">
                      <a16:colId xmlns:a16="http://schemas.microsoft.com/office/drawing/2014/main" val="2056590576"/>
                    </a:ext>
                  </a:extLst>
                </a:gridCol>
                <a:gridCol w="1310886">
                  <a:extLst>
                    <a:ext uri="{9D8B030D-6E8A-4147-A177-3AD203B41FA5}">
                      <a16:colId xmlns:a16="http://schemas.microsoft.com/office/drawing/2014/main" val="3330814310"/>
                    </a:ext>
                  </a:extLst>
                </a:gridCol>
                <a:gridCol w="1285073">
                  <a:extLst>
                    <a:ext uri="{9D8B030D-6E8A-4147-A177-3AD203B41FA5}">
                      <a16:colId xmlns:a16="http://schemas.microsoft.com/office/drawing/2014/main" val="2046389111"/>
                    </a:ext>
                  </a:extLst>
                </a:gridCol>
                <a:gridCol w="1147630">
                  <a:extLst>
                    <a:ext uri="{9D8B030D-6E8A-4147-A177-3AD203B41FA5}">
                      <a16:colId xmlns:a16="http://schemas.microsoft.com/office/drawing/2014/main" val="2787742289"/>
                    </a:ext>
                  </a:extLst>
                </a:gridCol>
                <a:gridCol w="1135797">
                  <a:extLst>
                    <a:ext uri="{9D8B030D-6E8A-4147-A177-3AD203B41FA5}">
                      <a16:colId xmlns:a16="http://schemas.microsoft.com/office/drawing/2014/main" val="2682989068"/>
                    </a:ext>
                  </a:extLst>
                </a:gridCol>
                <a:gridCol w="1172143">
                  <a:extLst>
                    <a:ext uri="{9D8B030D-6E8A-4147-A177-3AD203B41FA5}">
                      <a16:colId xmlns:a16="http://schemas.microsoft.com/office/drawing/2014/main" val="2717655805"/>
                    </a:ext>
                  </a:extLst>
                </a:gridCol>
              </a:tblGrid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Train </a:t>
                      </a: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  <a:sym typeface="Wingdings" panose="05000000000000000000" pitchFamily="2" charset="2"/>
                        </a:rPr>
                        <a:t>/ Test  </a:t>
                      </a: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Pretrained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Lateral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Femoral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Patellar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Medial Meniscus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0528004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Lateral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0.771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0.019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128910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Medial Tibial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0.045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0.780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0.005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438933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Femoral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0.684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0.810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5246837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Patellar Cartilage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0.996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0221321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Medial Meniscus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0.012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0.540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047210"/>
                  </a:ext>
                </a:extLst>
              </a:tr>
              <a:tr h="5347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Aeropath</a:t>
                      </a: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(Retention)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0.979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0.253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339262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4E8AFAAA-AB2B-65C4-5E1A-EFA17E9DCB98}"/>
              </a:ext>
            </a:extLst>
          </p:cNvPr>
          <p:cNvSpPr txBox="1"/>
          <p:nvPr/>
        </p:nvSpPr>
        <p:spPr>
          <a:xfrm>
            <a:off x="518319" y="1455069"/>
            <a:ext cx="82821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/>
              <a:t>Dice coefficient heatmap matrix for Regularisation based CL across trained (rows) and tested (columns) tasks.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AFF3F9-2952-2934-3D96-02CE0F0B4141}"/>
              </a:ext>
            </a:extLst>
          </p:cNvPr>
          <p:cNvSpPr txBox="1"/>
          <p:nvPr/>
        </p:nvSpPr>
        <p:spPr>
          <a:xfrm>
            <a:off x="9417378" y="3008174"/>
            <a:ext cx="2554664" cy="1948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IN" sz="1600" dirty="0" err="1"/>
              <a:t>A</a:t>
            </a:r>
            <a:r>
              <a:rPr lang="en-IN" sz="1600" baseline="-25000" dirty="0" err="1"/>
              <a:t>Medial</a:t>
            </a:r>
            <a:r>
              <a:rPr lang="en-IN" sz="1600" baseline="-25000" dirty="0"/>
              <a:t> Meniscus</a:t>
            </a:r>
            <a:r>
              <a:rPr lang="en-IN" sz="1600" dirty="0">
                <a:solidFill>
                  <a:prstClr val="black"/>
                </a:solidFill>
              </a:rPr>
              <a:t> = 0.110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IN" sz="1600" dirty="0" err="1"/>
              <a:t>F</a:t>
            </a:r>
            <a:r>
              <a:rPr lang="en-IN" sz="1600" baseline="-25000" dirty="0" err="1"/>
              <a:t>Medial</a:t>
            </a:r>
            <a:r>
              <a:rPr lang="en-IN" sz="1600" baseline="-25000" dirty="0"/>
              <a:t> Meniscus</a:t>
            </a:r>
            <a:r>
              <a:rPr lang="en-IN" sz="1600" baseline="-25000" dirty="0">
                <a:solidFill>
                  <a:prstClr val="black"/>
                </a:solidFill>
              </a:rPr>
              <a:t> </a:t>
            </a:r>
            <a:r>
              <a:rPr lang="en-IN" sz="1600" dirty="0">
                <a:solidFill>
                  <a:prstClr val="black"/>
                </a:solidFill>
              </a:rPr>
              <a:t>= 0.837</a:t>
            </a:r>
            <a:endParaRPr lang="en-IN" sz="1600" dirty="0">
              <a:solidFill>
                <a:prstClr val="black"/>
              </a:solidFill>
              <a:latin typeface="Arial"/>
            </a:endParaRP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Avg. Transfer = 0.014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IN" sz="1600" dirty="0" err="1">
                <a:solidFill>
                  <a:prstClr val="black"/>
                </a:solidFill>
                <a:latin typeface="Arial"/>
              </a:rPr>
              <a:t>Avg</a:t>
            </a:r>
            <a:r>
              <a:rPr lang="en-IN" sz="1600" dirty="0">
                <a:solidFill>
                  <a:prstClr val="black"/>
                </a:solidFill>
                <a:latin typeface="Arial"/>
              </a:rPr>
              <a:t> Retention Drop = 0.928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lang="en-IN" sz="1600" dirty="0">
              <a:solidFill>
                <a:prstClr val="black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107470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D6785F3-C978-57E1-FA50-4DA370BB2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7B7B1B06-4F78-54E0-B00C-E80304108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7054057" cy="332399"/>
          </a:xfrm>
        </p:spPr>
        <p:txBody>
          <a:bodyPr/>
          <a:lstStyle/>
          <a:p>
            <a:r>
              <a:rPr lang="en-IN" dirty="0"/>
              <a:t>Next Steps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D8FF7EB8-A514-48C4-1F68-5721A5A2D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9E98-54A4-43F9-9249-7D6B5CD88EDB}" type="datetime4">
              <a:rPr lang="de-DE" smtClean="0"/>
              <a:pPr/>
              <a:t>17. Oktober 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3A096D3-1BAC-26A7-C68E-6DB8A5AD6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2049111-F2EB-5B21-4694-3B5EA1250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39</a:t>
            </a:fld>
            <a:endParaRPr lang="de-DE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5F0A3CD7-2569-A7F6-AFCB-826286C0E5DC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6E2BCF-8C73-0D72-DB6A-72889A5640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2C42E5-B05B-E883-E594-1C01BCF52DCA}"/>
              </a:ext>
            </a:extLst>
          </p:cNvPr>
          <p:cNvSpPr txBox="1"/>
          <p:nvPr/>
        </p:nvSpPr>
        <p:spPr>
          <a:xfrm>
            <a:off x="8528178" y="2085302"/>
            <a:ext cx="336213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Reliable implementations</a:t>
            </a:r>
            <a:br>
              <a:rPr lang="en-IN" dirty="0"/>
            </a:br>
            <a:r>
              <a:rPr lang="en-IN" dirty="0"/>
              <a:t>	↓</a:t>
            </a:r>
            <a:br>
              <a:rPr lang="en-IN" dirty="0"/>
            </a:br>
            <a:r>
              <a:rPr lang="en-IN" dirty="0"/>
              <a:t>Hyperparameter ablations</a:t>
            </a:r>
            <a:br>
              <a:rPr lang="en-IN" dirty="0"/>
            </a:br>
            <a:r>
              <a:rPr lang="en-IN" dirty="0"/>
              <a:t>	↓</a:t>
            </a:r>
            <a:br>
              <a:rPr lang="en-IN" dirty="0"/>
            </a:br>
            <a:r>
              <a:rPr lang="en-IN" dirty="0"/>
              <a:t>Select best configuration</a:t>
            </a:r>
            <a:br>
              <a:rPr lang="en-IN" dirty="0"/>
            </a:br>
            <a:r>
              <a:rPr lang="en-IN" dirty="0"/>
              <a:t>	↓</a:t>
            </a:r>
            <a:br>
              <a:rPr lang="en-IN" dirty="0"/>
            </a:br>
            <a:r>
              <a:rPr lang="en-IN" dirty="0"/>
              <a:t>Few-shot evaluation</a:t>
            </a:r>
            <a:br>
              <a:rPr lang="en-IN" dirty="0"/>
            </a:br>
            <a:r>
              <a:rPr lang="en-IN" dirty="0"/>
              <a:t>	↓</a:t>
            </a:r>
            <a:br>
              <a:rPr lang="en-IN" dirty="0"/>
            </a:br>
            <a:r>
              <a:rPr lang="en-IN" dirty="0"/>
              <a:t>Analysis and discussion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D7EB8F-E969-BE22-17DD-7E1C8AF54DD2}"/>
              </a:ext>
            </a:extLst>
          </p:cNvPr>
          <p:cNvSpPr txBox="1"/>
          <p:nvPr/>
        </p:nvSpPr>
        <p:spPr>
          <a:xfrm>
            <a:off x="826434" y="1978862"/>
            <a:ext cx="7351429" cy="27982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</a:pPr>
            <a:r>
              <a:rPr lang="en-IN" sz="1600" dirty="0">
                <a:solidFill>
                  <a:prstClr val="black"/>
                </a:solidFill>
                <a:latin typeface="Arial"/>
              </a:rPr>
              <a:t>Set the correct focus – Task-Incremental or Class-Incremental or both</a:t>
            </a:r>
          </a:p>
          <a:p>
            <a:pPr marL="3429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Ensure we do not need any further change in the method implementation</a:t>
            </a:r>
          </a:p>
          <a:p>
            <a:pPr marL="3429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</a:pPr>
            <a:r>
              <a:rPr lang="en-IN" sz="1600" dirty="0">
                <a:solidFill>
                  <a:prstClr val="black"/>
                </a:solidFill>
                <a:latin typeface="Arial"/>
              </a:rPr>
              <a:t>Hyperparameter Ablations</a:t>
            </a:r>
          </a:p>
          <a:p>
            <a:pPr marL="3429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</a:pPr>
            <a:r>
              <a:rPr lang="en-IN" sz="1600" dirty="0">
                <a:solidFill>
                  <a:prstClr val="black"/>
                </a:solidFill>
                <a:latin typeface="Arial"/>
              </a:rPr>
              <a:t>Task order Ablations</a:t>
            </a:r>
          </a:p>
          <a:p>
            <a:pPr marL="3429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Selecting the best configuration</a:t>
            </a:r>
          </a:p>
          <a:p>
            <a:pPr marL="3429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Few-shot evaluation (1 / 5 / 10 training samples)</a:t>
            </a:r>
          </a:p>
          <a:p>
            <a:pPr marL="3429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</a:pPr>
            <a:r>
              <a:rPr lang="en-IN" sz="1600" dirty="0">
                <a:solidFill>
                  <a:prstClr val="black"/>
                </a:solidFill>
                <a:latin typeface="Arial"/>
              </a:rPr>
              <a:t>Analysis and Discussion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4042269"/>
      </p:ext>
    </p:extLst>
  </p:cSld>
  <p:clrMapOvr>
    <a:masterClrMapping/>
  </p:clrMapOvr>
</p:sld>
</file>

<file path=ppt/theme/theme1.xml><?xml version="1.0" encoding="utf-8"?>
<a:theme xmlns:a="http://schemas.openxmlformats.org/drawingml/2006/main" name="FAU - Technische Fakultät">
  <a:themeElements>
    <a:clrScheme name="FAU - Grau">
      <a:dk1>
        <a:sysClr val="windowText" lastClr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ctr"/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C64748B88E4F4A81E78C320064AA18" ma:contentTypeVersion="13" ma:contentTypeDescription="Ein neues Dokument erstellen." ma:contentTypeScope="" ma:versionID="7d7fe78eff81fbacf66dc0ff6aeec5a3">
  <xsd:schema xmlns:xsd="http://www.w3.org/2001/XMLSchema" xmlns:xs="http://www.w3.org/2001/XMLSchema" xmlns:p="http://schemas.microsoft.com/office/2006/metadata/properties" xmlns:ns2="e1a9e197-d112-4abb-aa0c-4ed035d690a3" xmlns:ns3="5d4c14f1-5e26-4315-944b-e10ebb29e5be" targetNamespace="http://schemas.microsoft.com/office/2006/metadata/properties" ma:root="true" ma:fieldsID="798e591f6d3205a21a5c8f3fdff7cfef" ns2:_="" ns3:_="">
    <xsd:import namespace="e1a9e197-d112-4abb-aa0c-4ed035d690a3"/>
    <xsd:import namespace="5d4c14f1-5e26-4315-944b-e10ebb29e5b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a9e197-d112-4abb-aa0c-4ed035d690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4c14f1-5e26-4315-944b-e10ebb29e5b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1A7FE3-81F7-4596-A188-3EE8D4188E1F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e1a9e197-d112-4abb-aa0c-4ed035d690a3"/>
    <ds:schemaRef ds:uri="http://schemas.microsoft.com/office/infopath/2007/PartnerControls"/>
    <ds:schemaRef ds:uri="5d4c14f1-5e26-4315-944b-e10ebb29e5be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DFBE955-EBBF-441B-94AE-DC551CE167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a9e197-d112-4abb-aa0c-4ed035d690a3"/>
    <ds:schemaRef ds:uri="5d4c14f1-5e26-4315-944b-e10ebb29e5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457329C-FB5F-4A4D-B331-82D30E9A74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43131</TotalTime>
  <Words>3091</Words>
  <Application>Microsoft Office PowerPoint</Application>
  <PresentationFormat>Widescreen</PresentationFormat>
  <Paragraphs>1129</Paragraphs>
  <Slides>39</Slides>
  <Notes>0</Notes>
  <HiddenSlides>23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avenirnextltpro</vt:lpstr>
      <vt:lpstr>Calibri</vt:lpstr>
      <vt:lpstr>Cambria Math</vt:lpstr>
      <vt:lpstr>Symbol</vt:lpstr>
      <vt:lpstr>Wingdings</vt:lpstr>
      <vt:lpstr>FAU - Technische Fakultät</vt:lpstr>
      <vt:lpstr>Few-Shot Continual Learning for Free-Text  Promptable 3D Medical Image Segmentation </vt:lpstr>
      <vt:lpstr>Agenda</vt:lpstr>
      <vt:lpstr>Evolution of Medical Image Segmentation</vt:lpstr>
      <vt:lpstr>Real-World Adaptation Challenges</vt:lpstr>
      <vt:lpstr>Thesis Scope and Research Question</vt:lpstr>
      <vt:lpstr>Continual Learning Settings</vt:lpstr>
      <vt:lpstr>Multimodal Continual Learning Strategies</vt:lpstr>
      <vt:lpstr>Evolution of Multimodal Continual Learning</vt:lpstr>
      <vt:lpstr>VoxTell Foundation Model</vt:lpstr>
      <vt:lpstr>LoRA-based Continual Adaptation</vt:lpstr>
      <vt:lpstr>Prompt-based Continual Adaptation</vt:lpstr>
      <vt:lpstr>Regularisation-based Continual Adaptation</vt:lpstr>
      <vt:lpstr>Datasets</vt:lpstr>
      <vt:lpstr>Experimental Protocol</vt:lpstr>
      <vt:lpstr>Evaluation Metrics</vt:lpstr>
      <vt:lpstr>Baseline Performance: Sequential Fine-Tuning</vt:lpstr>
      <vt:lpstr>Task Incremental LoRA</vt:lpstr>
      <vt:lpstr>Class-Incremental LoRA</vt:lpstr>
      <vt:lpstr>CIL-LoRA Failure Analysis</vt:lpstr>
      <vt:lpstr>Replay-based Mitigation of CIL LoRA Interference</vt:lpstr>
      <vt:lpstr>Evaluation of Alternative Continual Learning Strategies</vt:lpstr>
      <vt:lpstr>Few-Shot Adaptation: Evaluating the Best Trade-off</vt:lpstr>
      <vt:lpstr>Overall Comparison of Continual Learning Approaches</vt:lpstr>
      <vt:lpstr>Limitations &amp; Future Work</vt:lpstr>
      <vt:lpstr>Conclusion</vt:lpstr>
      <vt:lpstr>PowerPoint Presentation</vt:lpstr>
      <vt:lpstr>Baseline Performance: Sequential Fine-Tuning</vt:lpstr>
      <vt:lpstr>Baseline Performance: Sequential Fine-Tuning</vt:lpstr>
      <vt:lpstr>Task Incremental LoRA CL Performance</vt:lpstr>
      <vt:lpstr>Task Incremental LoRA CL Performance</vt:lpstr>
      <vt:lpstr>Task Incremental LoRA CL Performance</vt:lpstr>
      <vt:lpstr>Class Incremental Shared LoRA CL Performance</vt:lpstr>
      <vt:lpstr>Class Incremental Shared LoRA CL Performance</vt:lpstr>
      <vt:lpstr>Class Incremental Shared LoRA CL Performance</vt:lpstr>
      <vt:lpstr>Class Incremental Shared LoRA CL Performance</vt:lpstr>
      <vt:lpstr>Class Incremental Prompt based CL Performance</vt:lpstr>
      <vt:lpstr>Class Incremental Prompt based CL Performance</vt:lpstr>
      <vt:lpstr>Class Incremental Regularisation based CL </vt:lpstr>
      <vt:lpstr>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Willkommen</dc:title>
  <dc:creator>Julia Gutschmidt</dc:creator>
  <cp:lastModifiedBy>Shashank verma</cp:lastModifiedBy>
  <cp:revision>121</cp:revision>
  <dcterms:created xsi:type="dcterms:W3CDTF">2021-11-18T07:49:57Z</dcterms:created>
  <dcterms:modified xsi:type="dcterms:W3CDTF">2026-10-17T11:05:04Z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0x010100B7C64748B88E4F4A81E78C320064AA18</vt:lpwstr>
  </property>
</Properties>
</file>